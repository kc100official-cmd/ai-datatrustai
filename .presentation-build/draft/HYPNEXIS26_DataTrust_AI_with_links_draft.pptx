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3a47a6f1c44c9d" /><Relationship Type="http://schemas.openxmlformats.org/officeDocument/2006/relationships/extended-properties" Target="/docProps/app.xml" Id="R656e05fbf83b4346" /><Relationship Type="http://schemas.openxmlformats.org/officeDocument/2006/relationships/officeDocument" Target="/ppt/presentation.xml" Id="R2afd881c12304e1a" /></Relationships>
</file>

<file path=ppt/presentation.xml><?xml version="1.0" encoding="utf-8"?>
<p:presentation xmlns:p="http://schemas.openxmlformats.org/presentationml/2006/main">
  <p:sldMasterIdLst>
    <p:sldMasterId xmlns:r="http://schemas.openxmlformats.org/officeDocument/2006/relationships" id="2147483648" r:id="R5d81994b21584041"/>
  </p:sldMasterIdLst>
  <p:notesMasterIdLst>
    <p:notesMasterId xmlns:r="http://schemas.openxmlformats.org/officeDocument/2006/relationships" r:id="R7125fab796ac4fc7"/>
  </p:notesMasterIdLst>
  <p:sldIdLst>
    <p:sldId xmlns:r="http://schemas.openxmlformats.org/officeDocument/2006/relationships" id="256" r:id="Ra5831e1079e44f4a"/>
    <p:sldId xmlns:r="http://schemas.openxmlformats.org/officeDocument/2006/relationships" id="257" r:id="R3e077fa2a6294323"/>
    <p:sldId xmlns:r="http://schemas.openxmlformats.org/officeDocument/2006/relationships" id="258" r:id="R5aa0e9622f6d4cb6"/>
    <p:sldId xmlns:r="http://schemas.openxmlformats.org/officeDocument/2006/relationships" id="259" r:id="R4c12fcc11cc84397"/>
    <p:sldId xmlns:r="http://schemas.openxmlformats.org/officeDocument/2006/relationships" id="260" r:id="R37268658d94c477e"/>
    <p:sldId xmlns:r="http://schemas.openxmlformats.org/officeDocument/2006/relationships" id="261" r:id="R8c4334be40e24e80"/>
    <p:sldId xmlns:r="http://schemas.openxmlformats.org/officeDocument/2006/relationships" id="262" r:id="Rc01b8b0e49e64adb"/>
    <p:sldId xmlns:r="http://schemas.openxmlformats.org/officeDocument/2006/relationships" id="263" r:id="Rd1c913ca35034ef7"/>
    <p:sldId xmlns:r="http://schemas.openxmlformats.org/officeDocument/2006/relationships" id="264" r:id="Rf35c18a8d2744ed3"/>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d75a342865146f5" /><Relationship Type="http://schemas.openxmlformats.org/officeDocument/2006/relationships/slideMaster" Target="/ppt/slideMasters/slideMaster1.xml" Id="R5d81994b21584041" /><Relationship Type="http://schemas.openxmlformats.org/officeDocument/2006/relationships/notesMaster" Target="/ppt/notesMasters/notesMaster1.xml" Id="R7125fab796ac4fc7" /><Relationship Type="http://schemas.openxmlformats.org/officeDocument/2006/relationships/presProps" Target="/ppt/presProps.xml" Id="R080a41acf3034026" /><Relationship Type="http://schemas.openxmlformats.org/officeDocument/2006/relationships/viewProps" Target="/ppt/viewProps.xml" Id="R595425a2938040aa" /><Relationship Type="http://schemas.openxmlformats.org/officeDocument/2006/relationships/tableStyles" Target="/ppt/tableStyles.xml" Id="R5a3500ddc2aa46d8" /><Relationship Type="http://schemas.openxmlformats.org/officeDocument/2006/relationships/slide" Target="/ppt/slides/slide1.xml" Id="Ra5831e1079e44f4a" /><Relationship Type="http://schemas.openxmlformats.org/officeDocument/2006/relationships/slide" Target="/ppt/slides/slide2.xml" Id="R3e077fa2a6294323" /><Relationship Type="http://schemas.openxmlformats.org/officeDocument/2006/relationships/slide" Target="/ppt/slides/slide3.xml" Id="R5aa0e9622f6d4cb6" /><Relationship Type="http://schemas.openxmlformats.org/officeDocument/2006/relationships/slide" Target="/ppt/slides/slide4.xml" Id="R4c12fcc11cc84397" /><Relationship Type="http://schemas.openxmlformats.org/officeDocument/2006/relationships/slide" Target="/ppt/slides/slide5.xml" Id="R37268658d94c477e" /><Relationship Type="http://schemas.openxmlformats.org/officeDocument/2006/relationships/slide" Target="/ppt/slides/slide6.xml" Id="R8c4334be40e24e80" /><Relationship Type="http://schemas.openxmlformats.org/officeDocument/2006/relationships/slide" Target="/ppt/slides/slide7.xml" Id="Rc01b8b0e49e64adb" /><Relationship Type="http://schemas.openxmlformats.org/officeDocument/2006/relationships/slide" Target="/ppt/slides/slide8.xml" Id="Rd1c913ca35034ef7" /><Relationship Type="http://schemas.openxmlformats.org/officeDocument/2006/relationships/slide" Target="/ppt/slides/slide9.xml" Id="Rf35c18a8d2744e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b204dcd8e743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Hypnexis">
  <a:themeElements>
    <a:clrScheme name="Hypnexis">
      <a:dk1>
        <a:srgbClr val="040A20"/>
      </a:dk1>
      <a:lt1>
        <a:srgbClr val="FFFFFF"/>
      </a:lt1>
      <a:dk2>
        <a:srgbClr val="0B1A4A"/>
      </a:dk2>
      <a:lt2>
        <a:srgbClr val="CFE0FF"/>
      </a:lt2>
      <a:accent1>
        <a:srgbClr val="1E5BFF"/>
      </a:accent1>
      <a:accent2>
        <a:srgbClr val="4DA3FF"/>
      </a:accent2>
      <a:accent3>
        <a:srgbClr val="0A2A8F"/>
      </a:accent3>
      <a:accent4>
        <a:srgbClr val="9CC4FF"/>
      </a:accent4>
      <a:accent5>
        <a:srgbClr val="6C8CFF"/>
      </a:accent5>
      <a:accent6>
        <a:srgbClr val="00C2FF"/>
      </a:accent6>
      <a:hlink>
        <a:srgbClr val="4DA3FF"/>
      </a:hlink>
      <a:folHlink>
        <a:srgbClr val="9CC4FF"/>
      </a:folHlink>
    </a:clrScheme>
    <a:fontScheme name="Hypnex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Hypnexi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2a8f3331c741b7" /><Relationship Type="http://schemas.openxmlformats.org/officeDocument/2006/relationships/notesMaster" Target="/ppt/notesMasters/notesMaster1.xml" Id="R4cfa4c188a6c44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9bf57a8a5441bf" /><Relationship Type="http://schemas.openxmlformats.org/officeDocument/2006/relationships/notesMaster" Target="/ppt/notesMasters/notesMaster1.xml" Id="R9cd4a1731dc342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209a03f1704991" /><Relationship Type="http://schemas.openxmlformats.org/officeDocument/2006/relationships/notesMaster" Target="/ppt/notesMasters/notesMaster1.xml" Id="Re2e17f6d8d2e4a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ff279a042e47b4" /><Relationship Type="http://schemas.openxmlformats.org/officeDocument/2006/relationships/notesMaster" Target="/ppt/notesMasters/notesMaster1.xml" Id="R278126228a854c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c7530f40a64137" /><Relationship Type="http://schemas.openxmlformats.org/officeDocument/2006/relationships/notesMaster" Target="/ppt/notesMasters/notesMaster1.xml" Id="R57e48ec059ea4f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73e52af1c442b1" /><Relationship Type="http://schemas.openxmlformats.org/officeDocument/2006/relationships/notesMaster" Target="/ppt/notesMasters/notesMaster1.xml" Id="Ra7fd767e626945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59f4bb85134aa7" /><Relationship Type="http://schemas.openxmlformats.org/officeDocument/2006/relationships/notesMaster" Target="/ppt/notesMasters/notesMaster1.xml" Id="R5f489d9c183d47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8ef2a22346416c" /><Relationship Type="http://schemas.openxmlformats.org/officeDocument/2006/relationships/notesMaster" Target="/ppt/notesMasters/notesMaster1.xml" Id="Rea001ea57fb545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01f1b845394416" /><Relationship Type="http://schemas.openxmlformats.org/officeDocument/2006/relationships/notesMaster" Target="/ppt/notesMasters/notesMaster1.xml" Id="R864e3a62be104d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title is a concise description of the user-supplied Phase 2 extension. Team ID, official problem statement ID, and contact details were not included in the source materials.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(Phase 2 section); backend/app/document_store.py; backend/app/graph_engine.py; backend/tests/test_phase2_documents.py. The 7.7-second result is from an isolated local test database with 500 generated input documents. The graph total includes four seeded sample documents.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(Architecture Overview and Phase 2); backend/app/document_safety.py; backend/app/document_store.py; backend/app/graph_engine.py; backend/app/retrieval_engine.py; backend/app/validation_engine.py.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frontend/src/App.tsx and frontend/src/components/DataStudioView.tsx. The user flow summarizes the current local application behavior.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(Quick Start and Phase 2); backend/app/main.py; backend/app/models.py. This deck describes the local prototype; operational constraints are identified as implementation limits.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result: 500 generated documents ingested in 7,675.74 ms in an isolated local test run; resulting graph size was 504 documents, 539 entities, and 40 relationships. The 504 document total includes four sample documents. Injection filtering was exercised with 21 planted instruction strings. No energy or carbon measurements were made. Source: backend/tests/test_phase2_documents.py and local benchmark response.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deployment and revenue model on this slide is a proposal for future pilots, not current revenue or a confirmed commercial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references are project source files; no external research claims were added. The benchmark is synthetic and should not be presented as a production-corpus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ID and contact information were not supplied and are marked accordingly.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69968b0463416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fa5fdf165d4045" /><Relationship Type="http://schemas.openxmlformats.org/officeDocument/2006/relationships/image" Target="/ppt/media/image.png" Id="R04fdc87707614a7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986fbe6e83b4707" /><Relationship Type="http://schemas.openxmlformats.org/officeDocument/2006/relationships/image" Target="/ppt/media/image2.png" Id="Rf513cf7788684fcf" /><Relationship Type="http://schemas.openxmlformats.org/officeDocument/2006/relationships/image" Target="/ppt/media/image3.png" Id="R366ba4337aaf44f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f37d99f2ad48db" /><Relationship Type="http://schemas.openxmlformats.org/officeDocument/2006/relationships/image" Target="/ppt/media/image4.png" Id="R813ddd548d4f40f0" /><Relationship Type="http://schemas.openxmlformats.org/officeDocument/2006/relationships/image" Target="/ppt/media/image5.png" Id="R84340202f7ba48b5"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HYPNEXIS_TITLE">
    <p:bg>
      <p:bgPr>
        <a:blipFill xmlns:a="http://schemas.openxmlformats.org/drawingml/2006/main" rotWithShape="1">
          <a:blip xmlns:r="http://schemas.openxmlformats.org/officeDocument/2006/relationships" r:embed="R04fdc87707614a7d">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reserve="1">
  <p:cSld name="HYPNEXIS_CONTENT">
    <p:bg>
      <p:bgPr>
        <a:blipFill xmlns:a="http://schemas.openxmlformats.org/drawingml/2006/main" rotWithShape="1">
          <a:blip xmlns:r="http://schemas.openxmlformats.org/officeDocument/2006/relationships" r:embed="Rf513cf7788684fcf">
            <a:lum/>
          </a:blip>
          <a:srcRect l="0" t="0" r="0" b="0"/>
          <a:stretch>
            <a:fillRect l="0" t="0" r="0" b="0"/>
          </a:stretch>
        </a:blip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8605FAB9-6D63-4C5F-B211-FB7D1B4F3659}"/>
              </a:ext>
            </a:extLst>
          </p:cNvPr>
          <p:cNvPicPr>
            <a:picLocks xmlns:a="http://schemas.openxmlformats.org/drawingml/2006/main" noChangeAspect="1"/>
          </p:cNvPicPr>
          <p:nvPr/>
        </p:nvPicPr>
        <p:blipFill>
          <a:blip xmlns:r="http://schemas.openxmlformats.org/officeDocument/2006/relationships" xmlns:a="http://schemas.openxmlformats.org/drawingml/2006/main" r:embed="R366ba4337aaf44f0"/>
          <a:stretch xmlns:a="http://schemas.openxmlformats.org/drawingml/2006/main">
            <a:fillRect l="0" t="0" r="0" b="0"/>
          </a:stretch>
        </p:blipFill>
        <p:spPr>
          <a:xfrm xmlns:a="http://schemas.openxmlformats.org/drawingml/2006/main">
            <a:off x="457200" y="292608"/>
            <a:ext cx="1105163"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3C7982D-3483-4FAA-A050-451DFF207BC2}"/>
              </a:ext>
            </a:extLst>
          </p:cNvPr>
          <p:cNvSpPr>
            <a:spLocks xmlns:a="http://schemas.openxmlformats.org/drawingml/2006/main" noGrp="1"/>
          </p:cNvSpPr>
          <p:nvPr/>
        </p:nvSpPr>
        <p:spPr>
          <a:xfrm xmlns:a="http://schemas.openxmlformats.org/drawingml/2006/main">
            <a:off x="2926080" y="365760"/>
            <a:ext cx="8778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spc="300">
                <a:solidFill>
                  <a:srgbClr val="9CC4FF"/>
                </a:solidFill>
                <a:latin typeface="Arial"/>
                <a:ea typeface="Arial"/>
                <a:cs typeface="Arial"/>
              </a:rPr>
              <a:t>36-HOUR HACKATHON  |  24–25 OCTOBER 2026  |  MANIPAL UNIVERSITY JAIPUR</a:t>
            </a:r>
            <a:endParaRPr sz="1100"/>
          </a:p>
        </p:txBody>
      </p:sp>
      <p:sp>
        <p:nvSpPr>
          <p:cNvPr id="4" name="Shape 1">
            <a:extLst xmlns:a="http://schemas.openxmlformats.org/drawingml/2006/main">
              <a:ext uri="{FF2B5EF4-FFF2-40B4-BE49-F238E27FC236}">
                <a16:creationId xmlns:a16="http://schemas.microsoft.com/office/drawing/2014/main" id="{1CD84AFF-29BA-4F49-B24B-61A567CBA20D}"/>
              </a:ext>
            </a:extLst>
          </p:cNvPr>
          <p:cNvSpPr>
            <a:spLocks xmlns:a="http://schemas.openxmlformats.org/drawingml/2006/main" noGrp="1"/>
          </p:cNvSpPr>
          <p:nvPr/>
        </p:nvSpPr>
        <p:spPr>
          <a:xfrm xmlns:a="http://schemas.openxmlformats.org/drawingml/2006/main">
            <a:off x="457200" y="6355080"/>
            <a:ext cx="11274552" cy="9144"/>
          </a:xfrm>
          <a:prstGeom xmlns:a="http://schemas.openxmlformats.org/drawingml/2006/main" prst="rect">
            <a:avLst/>
          </a:prstGeom>
          <a:solidFill xmlns:a="http://schemas.openxmlformats.org/drawingml/2006/main">
            <a:srgbClr val="1E5BFF">
              <a:alpha val="50000"/>
            </a:srgbClr>
          </a:solidFill>
        </p:spPr>
      </p:sp>
      <p:sp>
        <p:nvSpPr>
          <p:cNvPr id="5" name="Text 2">
            <a:extLst xmlns:a="http://schemas.openxmlformats.org/drawingml/2006/main">
              <a:ext uri="{FF2B5EF4-FFF2-40B4-BE49-F238E27FC236}">
                <a16:creationId xmlns:a16="http://schemas.microsoft.com/office/drawing/2014/main" id="{7E4BE5D0-489E-4CD5-974B-C8975701175A}"/>
              </a:ext>
            </a:extLst>
          </p:cNvPr>
          <p:cNvSpPr>
            <a:spLocks xmlns:a="http://schemas.openxmlformats.org/drawingml/2006/main" noGrp="1"/>
          </p:cNvSpPr>
          <p:nvPr/>
        </p:nvSpPr>
        <p:spPr>
          <a:xfrm xmlns:a="http://schemas.openxmlformats.org/drawingml/2006/main">
            <a:off x="457200" y="6428232"/>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9CC4FF"/>
                </a:solidFill>
                <a:latin typeface="Calibri"/>
                <a:ea typeface="Calibri"/>
                <a:cs typeface="Calibri"/>
              </a:rPr>
              <a:t>Department of Computer and Communications Engineering  •  Manipal University Jaipur</a:t>
            </a:r>
            <a:endParaRPr sz="1000"/>
          </a:p>
        </p:txBody>
      </p:sp>
      <p:sp>
        <p:nvSpPr>
          <p:cNvPr id="25" name="Slide Number Placeholder 0">
            <a:extLst xmlns:a="http://schemas.openxmlformats.org/drawingml/2006/main">
              <a:ext uri="{FF2B5EF4-FFF2-40B4-BE49-F238E27FC236}">
                <a16:creationId xmlns:a16="http://schemas.microsoft.com/office/drawing/2014/main" id="{51DB9800-8A78-4D8F-BEDE-4F8240E59459}"/>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1003</a:t>
            </a:fld>
            <a:endParaRPr/>
          </a:p>
        </p:txBody>
      </p:sp>
    </p:spTree>
  </p:cSld>
</p:sldLayout>
</file>

<file path=ppt/slideLayouts/slideLayout4.xml><?xml version="1.0" encoding="utf-8"?>
<p:sldLayout xmlns:p="http://schemas.openxmlformats.org/presentationml/2006/main" preserve="1">
  <p:cSld name="HYPNEXIS_SECTION">
    <p:bg>
      <p:bgPr>
        <a:blipFill xmlns:a="http://schemas.openxmlformats.org/drawingml/2006/main" rotWithShape="1">
          <a:blip xmlns:r="http://schemas.openxmlformats.org/officeDocument/2006/relationships" r:embed="R813ddd548d4f40f0">
            <a:lum/>
          </a:blip>
          <a:srcRect l="0" t="0" r="0" b="0"/>
          <a:stretch>
            <a:fillRect l="0" t="0" r="0" b="0"/>
          </a:stretch>
        </a:blip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AE134A6D-DABF-4022-B164-C69F3AB7C9C2}"/>
              </a:ext>
            </a:extLst>
          </p:cNvPr>
          <p:cNvPicPr>
            <a:picLocks xmlns:a="http://schemas.openxmlformats.org/drawingml/2006/main" noChangeAspect="1"/>
          </p:cNvPicPr>
          <p:nvPr/>
        </p:nvPicPr>
        <p:blipFill>
          <a:blip xmlns:r="http://schemas.openxmlformats.org/officeDocument/2006/relationships" xmlns:a="http://schemas.openxmlformats.org/drawingml/2006/main" r:embed="R84340202f7ba48b5"/>
          <a:stretch xmlns:a="http://schemas.openxmlformats.org/drawingml/2006/main">
            <a:fillRect l="0" t="0" r="0" b="0"/>
          </a:stretch>
        </p:blipFill>
        <p:spPr>
          <a:xfrm xmlns:a="http://schemas.openxmlformats.org/drawingml/2006/main">
            <a:off x="457200" y="292608"/>
            <a:ext cx="1005840" cy="457200"/>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d0b1ef132141c3" /><Relationship Type="http://schemas.openxmlformats.org/officeDocument/2006/relationships/slideLayout" Target="/ppt/slideLayouts/slideLayout1.xml" Id="Rf1ab355e8d8f462d" /><Relationship Type="http://schemas.openxmlformats.org/officeDocument/2006/relationships/slideLayout" Target="/ppt/slideLayouts/slideLayout2.xml" Id="R04baf4cbc0074cde" /><Relationship Type="http://schemas.openxmlformats.org/officeDocument/2006/relationships/slideLayout" Target="/ppt/slideLayouts/slideLayout3.xml" Id="R7dcab611a69a40c4" /><Relationship Type="http://schemas.openxmlformats.org/officeDocument/2006/relationships/slideLayout" Target="/ppt/slideLayouts/slideLayout4.xml" Id="Raa33a1486b10494b"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D0DBC955-8C1C-4A06-AE5B-250E81D1B601}"/>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ab355e8d8f462d"/>
    <p:sldLayoutId xmlns:r="http://schemas.openxmlformats.org/officeDocument/2006/relationships" id="2147483650" r:id="R04baf4cbc0074cde"/>
    <p:sldLayoutId xmlns:r="http://schemas.openxmlformats.org/officeDocument/2006/relationships" id="2147483651" r:id="R7dcab611a69a40c4"/>
    <p:sldLayoutId xmlns:r="http://schemas.openxmlformats.org/officeDocument/2006/relationships" id="2147483652" r:id="Raa33a1486b10494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Hypnexis">
  <a:themeElements>
    <a:clrScheme name="Hypnexis">
      <a:dk1>
        <a:srgbClr val="040A20"/>
      </a:dk1>
      <a:lt1>
        <a:srgbClr val="FFFFFF"/>
      </a:lt1>
      <a:dk2>
        <a:srgbClr val="0B1A4A"/>
      </a:dk2>
      <a:lt2>
        <a:srgbClr val="CFE0FF"/>
      </a:lt2>
      <a:accent1>
        <a:srgbClr val="1E5BFF"/>
      </a:accent1>
      <a:accent2>
        <a:srgbClr val="4DA3FF"/>
      </a:accent2>
      <a:accent3>
        <a:srgbClr val="0A2A8F"/>
      </a:accent3>
      <a:accent4>
        <a:srgbClr val="9CC4FF"/>
      </a:accent4>
      <a:accent5>
        <a:srgbClr val="6C8CFF"/>
      </a:accent5>
      <a:accent6>
        <a:srgbClr val="00C2FF"/>
      </a:accent6>
      <a:hlink>
        <a:srgbClr val="4DA3FF"/>
      </a:hlink>
      <a:folHlink>
        <a:srgbClr val="9CC4FF"/>
      </a:folHlink>
    </a:clrScheme>
    <a:fontScheme name="Hypnex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Hypnexi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d3d9bb7a60334e78" /><Relationship Type="http://schemas.openxmlformats.org/officeDocument/2006/relationships/image" Target="/ppt/media/image6.png" Id="Ra0d6afc3025e4ea0" /><Relationship Type="http://schemas.openxmlformats.org/officeDocument/2006/relationships/notesSlide" Target="/ppt/notesSlides/notesSlide1.xml" Id="Ra16727e246904b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838a005e70044235" /><Relationship Type="http://schemas.openxmlformats.org/officeDocument/2006/relationships/notesSlide" Target="/ppt/notesSlides/notesSlide2.xml" Id="Rb7ffbf8cdf1544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b6b7b2cca5144874" /><Relationship Type="http://schemas.openxmlformats.org/officeDocument/2006/relationships/notesSlide" Target="/ppt/notesSlides/notesSlide3.xml" Id="R557fd15f490e40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ade773bcb22d4df2" /><Relationship Type="http://schemas.openxmlformats.org/officeDocument/2006/relationships/notesSlide" Target="/ppt/notesSlides/notesSlide4.xml" Id="R81a451a2447142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a698c23b004e4674" /><Relationship Type="http://schemas.openxmlformats.org/officeDocument/2006/relationships/notesSlide" Target="/ppt/notesSlides/notesSlide5.xml" Id="Rb6ae12ef925c46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11e9b113c9064576" /><Relationship Type="http://schemas.openxmlformats.org/officeDocument/2006/relationships/notesSlide" Target="/ppt/notesSlides/notesSlide6.xml" Id="Raeac557ff2ae48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f705da03acab4851" /><Relationship Type="http://schemas.openxmlformats.org/officeDocument/2006/relationships/notesSlide" Target="/ppt/notesSlides/notesSlide7.xml" Id="Raf7d0cf4b2924e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56d25aacf83042b3" /><Relationship Type="http://schemas.openxmlformats.org/officeDocument/2006/relationships/hyperlink" Target="https://data-trust-ai-26.vercel.app/" TargetMode="External" Id="Rc285f021440748cd" /><Relationship Type="http://schemas.openxmlformats.org/officeDocument/2006/relationships/hyperlink" Target="https://vercel.com/kc100official-cmds-projects/data-trust-ai-26" TargetMode="External" Id="Rd030ec586761432e" /><Relationship Type="http://schemas.openxmlformats.org/officeDocument/2006/relationships/notesSlide" Target="/ppt/notesSlides/notesSlide8.xml" Id="R572230edb13d4a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04d0de88aef4215" /><Relationship Type="http://schemas.openxmlformats.org/officeDocument/2006/relationships/image" Target="/ppt/media/image7.png" Id="R6891a80776614e44" /><Relationship Type="http://schemas.openxmlformats.org/officeDocument/2006/relationships/notesSlide" Target="/ppt/notesSlides/notesSlide9.xml" Id="R77a93adc873d498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EB06D67-1A21-445D-9D7A-097CDE9B041D}"/>
              </a:ext>
            </a:extLst>
          </p:cNvPr>
          <p:cNvSpPr>
            <a:spLocks xmlns:a="http://schemas.openxmlformats.org/drawingml/2006/main" noGrp="1"/>
          </p:cNvSpPr>
          <p:nvPr/>
        </p:nvSpPr>
        <p:spPr>
          <a:xfrm xmlns:a="http://schemas.openxmlformats.org/drawingml/2006/main">
            <a:off x="548640" y="365760"/>
            <a:ext cx="6400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spc="400">
                <a:solidFill>
                  <a:srgbClr val="FFFFFF"/>
                </a:solidFill>
                <a:latin typeface="Arial"/>
                <a:ea typeface="Arial"/>
                <a:cs typeface="Arial"/>
              </a:rPr>
              <a:t>MANIPAL UNIVERSITY JAIPUR</a:t>
            </a:r>
            <a:endParaRPr sz="1400"/>
          </a:p>
        </p:txBody>
      </p:sp>
      <p:sp>
        <p:nvSpPr>
          <p:cNvPr id="3" name="Text 1">
            <a:extLst xmlns:a="http://schemas.openxmlformats.org/drawingml/2006/main">
              <a:ext uri="{FF2B5EF4-FFF2-40B4-BE49-F238E27FC236}">
                <a16:creationId xmlns:a16="http://schemas.microsoft.com/office/drawing/2014/main" id="{D4D26A88-170B-4C26-BD5D-DE5D6C44ABCF}"/>
              </a:ext>
            </a:extLst>
          </p:cNvPr>
          <p:cNvSpPr>
            <a:spLocks xmlns:a="http://schemas.openxmlformats.org/drawingml/2006/main" noGrp="1"/>
          </p:cNvSpPr>
          <p:nvPr/>
        </p:nvSpPr>
        <p:spPr>
          <a:xfrm xmlns:a="http://schemas.openxmlformats.org/drawingml/2006/main">
            <a:off x="548640" y="6858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9CC4FF"/>
                </a:solidFill>
                <a:latin typeface="Calibri"/>
                <a:ea typeface="Calibri"/>
                <a:cs typeface="Calibri"/>
              </a:rPr>
              <a:t>Department of Computer and Communications Engineering</a:t>
            </a:r>
            <a:endParaRPr sz="1200"/>
          </a:p>
        </p:txBody>
      </p:sp>
      <p:pic>
        <p:nvPicPr>
          <p:cNvPr id="4" name="Image 0">
            <a:extLst xmlns:a="http://schemas.openxmlformats.org/drawingml/2006/main">
              <a:ext uri="{FF2B5EF4-FFF2-40B4-BE49-F238E27FC236}">
                <a16:creationId xmlns:a16="http://schemas.microsoft.com/office/drawing/2014/main" id="{8B3B7E8C-FAD5-42D5-BEDE-90257EE3AD2C}"/>
              </a:ext>
            </a:extLst>
          </p:cNvPr>
          <p:cNvPicPr>
            <a:picLocks xmlns:a="http://schemas.openxmlformats.org/drawingml/2006/main" noChangeAspect="1"/>
          </p:cNvPicPr>
          <p:nvPr/>
        </p:nvPicPr>
        <p:blipFill>
          <a:blip xmlns:r="http://schemas.openxmlformats.org/officeDocument/2006/relationships" xmlns:a="http://schemas.openxmlformats.org/drawingml/2006/main" r:embed="Ra0d6afc3025e4ea0"/>
          <a:stretch xmlns:a="http://schemas.openxmlformats.org/drawingml/2006/main">
            <a:fillRect l="0" t="0" r="0" b="0"/>
          </a:stretch>
        </p:blipFill>
        <p:spPr>
          <a:xfrm xmlns:a="http://schemas.openxmlformats.org/drawingml/2006/main">
            <a:off x="548640" y="1600200"/>
            <a:ext cx="5120640" cy="2330220"/>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AC732F80-81C3-4058-9903-F962FAF0752B}"/>
              </a:ext>
            </a:extLst>
          </p:cNvPr>
          <p:cNvSpPr>
            <a:spLocks xmlns:a="http://schemas.openxmlformats.org/drawingml/2006/main" noGrp="1"/>
          </p:cNvSpPr>
          <p:nvPr/>
        </p:nvSpPr>
        <p:spPr>
          <a:xfrm xmlns:a="http://schemas.openxmlformats.org/drawingml/2006/main">
            <a:off x="548640" y="4526280"/>
            <a:ext cx="6400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spc="300">
                <a:solidFill>
                  <a:srgbClr val="4DA3FF"/>
                </a:solidFill>
                <a:latin typeface="Arial"/>
                <a:ea typeface="Arial"/>
                <a:cs typeface="Arial"/>
              </a:rPr>
              <a:t>36-HOUR HACKATHON  •  24–25 OCTOBER 2026</a:t>
            </a:r>
            <a:endParaRPr sz="1400"/>
          </a:p>
        </p:txBody>
      </p:sp>
      <p:sp>
        <p:nvSpPr>
          <p:cNvPr id="6" name="Text 3">
            <a:extLst xmlns:a="http://schemas.openxmlformats.org/drawingml/2006/main">
              <a:ext uri="{FF2B5EF4-FFF2-40B4-BE49-F238E27FC236}">
                <a16:creationId xmlns:a16="http://schemas.microsoft.com/office/drawing/2014/main" id="{71644C5F-6F57-44BA-B2F0-7A74E654C387}"/>
              </a:ext>
            </a:extLst>
          </p:cNvPr>
          <p:cNvSpPr>
            <a:spLocks xmlns:a="http://schemas.openxmlformats.org/drawingml/2006/main" noGrp="1"/>
          </p:cNvSpPr>
          <p:nvPr/>
        </p:nvSpPr>
        <p:spPr>
          <a:xfrm xmlns:a="http://schemas.openxmlformats.org/drawingml/2006/main">
            <a:off x="548640" y="4892040"/>
            <a:ext cx="6400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400">
                <a:solidFill>
                  <a:srgbClr val="FFFFFF"/>
                </a:solidFill>
                <a:latin typeface="Arial"/>
                <a:ea typeface="Arial"/>
                <a:cs typeface="Arial"/>
              </a:rPr>
              <a:t>BUILD / INNOVATE / CREATE</a:t>
            </a:r>
            <a:endParaRPr sz="1200"/>
          </a:p>
        </p:txBody>
      </p:sp>
      <p:sp>
        <p:nvSpPr>
          <p:cNvPr id="7" name="Team details card">
            <a:extLst xmlns:a="http://schemas.openxmlformats.org/drawingml/2006/main">
              <a:ext uri="{FF2B5EF4-FFF2-40B4-BE49-F238E27FC236}">
                <a16:creationId xmlns:a16="http://schemas.microsoft.com/office/drawing/2014/main" id="{804B443D-8478-4E8D-9C9B-296680864FA9}"/>
              </a:ext>
            </a:extLst>
          </p:cNvPr>
          <p:cNvSpPr>
            <a:spLocks xmlns:a="http://schemas.openxmlformats.org/drawingml/2006/main" noGrp="1"/>
          </p:cNvSpPr>
          <p:nvPr/>
        </p:nvSpPr>
        <p:spPr>
          <a:xfrm xmlns:a="http://schemas.openxmlformats.org/drawingml/2006/main">
            <a:off x="6949440" y="1371600"/>
            <a:ext cx="4754880" cy="4480560"/>
          </a:xfrm>
          <a:prstGeom xmlns:a="http://schemas.openxmlformats.org/drawingml/2006/main" prst="roundRect">
            <a:avLst>
              <a:gd name="adj" fmla="val 2449"/>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Text 5">
            <a:extLst xmlns:a="http://schemas.openxmlformats.org/drawingml/2006/main">
              <a:ext uri="{FF2B5EF4-FFF2-40B4-BE49-F238E27FC236}">
                <a16:creationId xmlns:a16="http://schemas.microsoft.com/office/drawing/2014/main" id="{8852F30D-068E-44F8-AD5F-9E1E64F28C74}"/>
              </a:ext>
            </a:extLst>
          </p:cNvPr>
          <p:cNvSpPr>
            <a:spLocks xmlns:a="http://schemas.openxmlformats.org/drawingml/2006/main" noGrp="1"/>
          </p:cNvSpPr>
          <p:nvPr/>
        </p:nvSpPr>
        <p:spPr>
          <a:xfrm xmlns:a="http://schemas.openxmlformats.org/drawingml/2006/main">
            <a:off x="7223760" y="1554480"/>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TEAM NAME</a:t>
            </a:r>
            <a:endParaRPr sz="1100"/>
          </a:p>
        </p:txBody>
      </p:sp>
      <p:sp>
        <p:nvSpPr>
          <p:cNvPr id="9" name="Text 6">
            <a:extLst xmlns:a="http://schemas.openxmlformats.org/drawingml/2006/main">
              <a:ext uri="{FF2B5EF4-FFF2-40B4-BE49-F238E27FC236}">
                <a16:creationId xmlns:a16="http://schemas.microsoft.com/office/drawing/2014/main" id="{84D6079E-40FF-4892-B878-704BA73014E5}"/>
              </a:ext>
            </a:extLst>
          </p:cNvPr>
          <p:cNvSpPr>
            <a:spLocks xmlns:a="http://schemas.openxmlformats.org/drawingml/2006/main" noGrp="1"/>
          </p:cNvSpPr>
          <p:nvPr/>
        </p:nvSpPr>
        <p:spPr>
          <a:xfrm xmlns:a="http://schemas.openxmlformats.org/drawingml/2006/main">
            <a:off x="7223760" y="1801368"/>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DataTrust AI</a:t>
            </a:r>
            <a:endParaRPr sz="1600"/>
          </a:p>
        </p:txBody>
      </p:sp>
      <p:sp>
        <p:nvSpPr>
          <p:cNvPr id="10" name="Text 7">
            <a:extLst xmlns:a="http://schemas.openxmlformats.org/drawingml/2006/main">
              <a:ext uri="{FF2B5EF4-FFF2-40B4-BE49-F238E27FC236}">
                <a16:creationId xmlns:a16="http://schemas.microsoft.com/office/drawing/2014/main" id="{B0C528E0-94DE-43F1-A7F9-61434F80B540}"/>
              </a:ext>
            </a:extLst>
          </p:cNvPr>
          <p:cNvSpPr>
            <a:spLocks xmlns:a="http://schemas.openxmlformats.org/drawingml/2006/main" noGrp="1"/>
          </p:cNvSpPr>
          <p:nvPr/>
        </p:nvSpPr>
        <p:spPr>
          <a:xfrm xmlns:a="http://schemas.openxmlformats.org/drawingml/2006/main">
            <a:off x="7223760" y="2249424"/>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TEAM ID</a:t>
            </a:r>
            <a:endParaRPr sz="1100"/>
          </a:p>
        </p:txBody>
      </p:sp>
      <p:sp>
        <p:nvSpPr>
          <p:cNvPr id="11" name="Text 8">
            <a:extLst xmlns:a="http://schemas.openxmlformats.org/drawingml/2006/main">
              <a:ext uri="{FF2B5EF4-FFF2-40B4-BE49-F238E27FC236}">
                <a16:creationId xmlns:a16="http://schemas.microsoft.com/office/drawing/2014/main" id="{72674527-C9B5-424A-AAC3-90163EAD80BA}"/>
              </a:ext>
            </a:extLst>
          </p:cNvPr>
          <p:cNvSpPr>
            <a:spLocks xmlns:a="http://schemas.openxmlformats.org/drawingml/2006/main" noGrp="1"/>
          </p:cNvSpPr>
          <p:nvPr/>
        </p:nvSpPr>
        <p:spPr>
          <a:xfrm xmlns:a="http://schemas.openxmlformats.org/drawingml/2006/main">
            <a:off x="7223760" y="2496312"/>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Not provided</a:t>
            </a:r>
            <a:endParaRPr sz="1600"/>
          </a:p>
        </p:txBody>
      </p:sp>
      <p:sp>
        <p:nvSpPr>
          <p:cNvPr id="12" name="Text 9">
            <a:extLst xmlns:a="http://schemas.openxmlformats.org/drawingml/2006/main">
              <a:ext uri="{FF2B5EF4-FFF2-40B4-BE49-F238E27FC236}">
                <a16:creationId xmlns:a16="http://schemas.microsoft.com/office/drawing/2014/main" id="{172169E3-1D03-486C-87E4-FBC7061B2FF3}"/>
              </a:ext>
            </a:extLst>
          </p:cNvPr>
          <p:cNvSpPr>
            <a:spLocks xmlns:a="http://schemas.openxmlformats.org/drawingml/2006/main" noGrp="1"/>
          </p:cNvSpPr>
          <p:nvPr/>
        </p:nvSpPr>
        <p:spPr>
          <a:xfrm xmlns:a="http://schemas.openxmlformats.org/drawingml/2006/main">
            <a:off x="7223760" y="2944368"/>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PROBLEM STATEMENT ID</a:t>
            </a:r>
            <a:endParaRPr sz="1100"/>
          </a:p>
        </p:txBody>
      </p:sp>
      <p:sp>
        <p:nvSpPr>
          <p:cNvPr id="13" name="Text 10">
            <a:extLst xmlns:a="http://schemas.openxmlformats.org/drawingml/2006/main">
              <a:ext uri="{FF2B5EF4-FFF2-40B4-BE49-F238E27FC236}">
                <a16:creationId xmlns:a16="http://schemas.microsoft.com/office/drawing/2014/main" id="{8C685641-14E8-4B47-AF80-C2C07BDFB7E0}"/>
              </a:ext>
            </a:extLst>
          </p:cNvPr>
          <p:cNvSpPr>
            <a:spLocks xmlns:a="http://schemas.openxmlformats.org/drawingml/2006/main" noGrp="1"/>
          </p:cNvSpPr>
          <p:nvPr/>
        </p:nvSpPr>
        <p:spPr>
          <a:xfrm xmlns:a="http://schemas.openxmlformats.org/drawingml/2006/main">
            <a:off x="7223760" y="3191256"/>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Not provided</a:t>
            </a:r>
            <a:endParaRPr sz="1600"/>
          </a:p>
        </p:txBody>
      </p:sp>
      <p:sp>
        <p:nvSpPr>
          <p:cNvPr id="14" name="Text 11">
            <a:extLst xmlns:a="http://schemas.openxmlformats.org/drawingml/2006/main">
              <a:ext uri="{FF2B5EF4-FFF2-40B4-BE49-F238E27FC236}">
                <a16:creationId xmlns:a16="http://schemas.microsoft.com/office/drawing/2014/main" id="{F084796D-E9F4-485E-A32A-ACD399788F25}"/>
              </a:ext>
            </a:extLst>
          </p:cNvPr>
          <p:cNvSpPr>
            <a:spLocks xmlns:a="http://schemas.openxmlformats.org/drawingml/2006/main" noGrp="1"/>
          </p:cNvSpPr>
          <p:nvPr/>
        </p:nvSpPr>
        <p:spPr>
          <a:xfrm xmlns:a="http://schemas.openxmlformats.org/drawingml/2006/main">
            <a:off x="7223760" y="3639312"/>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PROBLEM STATEMENT TITLE</a:t>
            </a:r>
            <a:endParaRPr sz="1100"/>
          </a:p>
        </p:txBody>
      </p:sp>
      <p:sp>
        <p:nvSpPr>
          <p:cNvPr id="15" name="Text 12">
            <a:extLst xmlns:a="http://schemas.openxmlformats.org/drawingml/2006/main">
              <a:ext uri="{FF2B5EF4-FFF2-40B4-BE49-F238E27FC236}">
                <a16:creationId xmlns:a16="http://schemas.microsoft.com/office/drawing/2014/main" id="{9234747F-79CA-49B9-B74F-DF8991F3A063}"/>
              </a:ext>
            </a:extLst>
          </p:cNvPr>
          <p:cNvSpPr>
            <a:spLocks xmlns:a="http://schemas.openxmlformats.org/drawingml/2006/main" noGrp="1"/>
          </p:cNvSpPr>
          <p:nvPr/>
        </p:nvSpPr>
        <p:spPr>
          <a:xfrm xmlns:a="http://schemas.openxmlformats.org/drawingml/2006/main">
            <a:off x="7223760" y="3886200"/>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Trustworthy Knowledge Base</a:t>
            </a:r>
            <a:endParaRPr sz="1600"/>
          </a:p>
        </p:txBody>
      </p:sp>
      <p:sp>
        <p:nvSpPr>
          <p:cNvPr id="16" name="Text 13">
            <a:extLst xmlns:a="http://schemas.openxmlformats.org/drawingml/2006/main">
              <a:ext uri="{FF2B5EF4-FFF2-40B4-BE49-F238E27FC236}">
                <a16:creationId xmlns:a16="http://schemas.microsoft.com/office/drawing/2014/main" id="{8CA84D9E-40BB-46D4-986A-98F0BC5CDFD6}"/>
              </a:ext>
            </a:extLst>
          </p:cNvPr>
          <p:cNvSpPr>
            <a:spLocks xmlns:a="http://schemas.openxmlformats.org/drawingml/2006/main" noGrp="1"/>
          </p:cNvSpPr>
          <p:nvPr/>
        </p:nvSpPr>
        <p:spPr>
          <a:xfrm xmlns:a="http://schemas.openxmlformats.org/drawingml/2006/main">
            <a:off x="7223760" y="4334256"/>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THEME / DOMAIN</a:t>
            </a:r>
            <a:endParaRPr sz="1100"/>
          </a:p>
        </p:txBody>
      </p:sp>
      <p:sp>
        <p:nvSpPr>
          <p:cNvPr id="17" name="Text 14">
            <a:extLst xmlns:a="http://schemas.openxmlformats.org/drawingml/2006/main">
              <a:ext uri="{FF2B5EF4-FFF2-40B4-BE49-F238E27FC236}">
                <a16:creationId xmlns:a16="http://schemas.microsoft.com/office/drawing/2014/main" id="{1F52FE81-9616-40C5-A9CC-B7ACCAA46CA3}"/>
              </a:ext>
            </a:extLst>
          </p:cNvPr>
          <p:cNvSpPr>
            <a:spLocks xmlns:a="http://schemas.openxmlformats.org/drawingml/2006/main" noGrp="1"/>
          </p:cNvSpPr>
          <p:nvPr/>
        </p:nvSpPr>
        <p:spPr>
          <a:xfrm xmlns:a="http://schemas.openxmlformats.org/drawingml/2006/main">
            <a:off x="7223760" y="4581144"/>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AI &amp; Data Engineering</a:t>
            </a:r>
            <a:endParaRPr sz="1600"/>
          </a:p>
        </p:txBody>
      </p:sp>
      <p:sp>
        <p:nvSpPr>
          <p:cNvPr id="18" name="Text 15">
            <a:extLst xmlns:a="http://schemas.openxmlformats.org/drawingml/2006/main">
              <a:ext uri="{FF2B5EF4-FFF2-40B4-BE49-F238E27FC236}">
                <a16:creationId xmlns:a16="http://schemas.microsoft.com/office/drawing/2014/main" id="{20253905-8201-408E-9CFA-E53A47C3FCDD}"/>
              </a:ext>
            </a:extLst>
          </p:cNvPr>
          <p:cNvSpPr>
            <a:spLocks xmlns:a="http://schemas.openxmlformats.org/drawingml/2006/main" noGrp="1"/>
          </p:cNvSpPr>
          <p:nvPr/>
        </p:nvSpPr>
        <p:spPr>
          <a:xfrm xmlns:a="http://schemas.openxmlformats.org/drawingml/2006/main">
            <a:off x="7223760" y="5029200"/>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CATEGORY</a:t>
            </a:r>
            <a:endParaRPr sz="1100"/>
          </a:p>
        </p:txBody>
      </p:sp>
      <p:sp>
        <p:nvSpPr>
          <p:cNvPr id="19" name="Text 16">
            <a:extLst xmlns:a="http://schemas.openxmlformats.org/drawingml/2006/main">
              <a:ext uri="{FF2B5EF4-FFF2-40B4-BE49-F238E27FC236}">
                <a16:creationId xmlns:a16="http://schemas.microsoft.com/office/drawing/2014/main" id="{BAC84DB8-D7FD-457F-9C78-2E0F780FB5CC}"/>
              </a:ext>
            </a:extLst>
          </p:cNvPr>
          <p:cNvSpPr>
            <a:spLocks xmlns:a="http://schemas.openxmlformats.org/drawingml/2006/main" noGrp="1"/>
          </p:cNvSpPr>
          <p:nvPr/>
        </p:nvSpPr>
        <p:spPr>
          <a:xfrm xmlns:a="http://schemas.openxmlformats.org/drawingml/2006/main">
            <a:off x="7223760" y="5276088"/>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Software</a:t>
            </a:r>
            <a:endParaRPr sz="1600"/>
          </a:p>
        </p:txBody>
      </p:sp>
      <p:sp>
        <p:nvSpPr>
          <p:cNvPr id="20" name="Text 17">
            <a:extLst xmlns:a="http://schemas.openxmlformats.org/drawingml/2006/main">
              <a:ext uri="{FF2B5EF4-FFF2-40B4-BE49-F238E27FC236}">
                <a16:creationId xmlns:a16="http://schemas.microsoft.com/office/drawing/2014/main" id="{F8DEB9C2-BD8F-438F-B9AB-D090C7BF9863}"/>
              </a:ext>
            </a:extLst>
          </p:cNvPr>
          <p:cNvSpPr>
            <a:spLocks xmlns:a="http://schemas.openxmlformats.org/drawingml/2006/main" noGrp="1"/>
          </p:cNvSpPr>
          <p:nvPr/>
        </p:nvSpPr>
        <p:spPr>
          <a:xfrm xmlns:a="http://schemas.openxmlformats.org/drawingml/2006/main">
            <a:off x="548640" y="635508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9CC4FF"/>
                </a:solidFill>
                <a:latin typeface="Calibri"/>
                <a:ea typeface="Calibri"/>
                <a:cs typeface="Calibri"/>
              </a:rPr>
              <a:t>hypnexismuj.com   |   @hypnexis.muj   |   hypnexis2026@muj.manipal.edu</a:t>
            </a:r>
            <a:endParaRPr sz="1100"/>
          </a:p>
        </p:txBody>
      </p:sp>
    </p:spTree>
    <p:extLst>
      <p:ext uri="{BB962C8B-B14F-4D97-AF65-F5344CB8AC3E}">
        <p14:creationId xmlns:p14="http://schemas.microsoft.com/office/powerpoint/2010/main" val="146482305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B928BE-0B02-4F1D-82C9-C314CA855DF4}"/>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DATATRUST AI</a:t>
            </a:r>
            <a:endParaRPr sz="3600"/>
          </a:p>
        </p:txBody>
      </p:sp>
      <p:sp>
        <p:nvSpPr>
          <p:cNvPr id="3" name="Team tag">
            <a:extLst xmlns:a="http://schemas.openxmlformats.org/drawingml/2006/main">
              <a:ext uri="{FF2B5EF4-FFF2-40B4-BE49-F238E27FC236}">
                <a16:creationId xmlns:a16="http://schemas.microsoft.com/office/drawing/2014/main" id="{3A0094AC-1A8F-4DDC-8C19-1ED642196279}"/>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Problem card">
            <a:extLst xmlns:a="http://schemas.openxmlformats.org/drawingml/2006/main">
              <a:ext uri="{FF2B5EF4-FFF2-40B4-BE49-F238E27FC236}">
                <a16:creationId xmlns:a16="http://schemas.microsoft.com/office/drawing/2014/main" id="{E6FD2254-DAEE-4243-822B-B39DC44ED9A1}"/>
              </a:ext>
            </a:extLst>
          </p:cNvPr>
          <p:cNvSpPr>
            <a:spLocks xmlns:a="http://schemas.openxmlformats.org/drawingml/2006/main" noGrp="1"/>
          </p:cNvSpPr>
          <p:nvPr/>
        </p:nvSpPr>
        <p:spPr>
          <a:xfrm xmlns:a="http://schemas.openxmlformats.org/drawingml/2006/main">
            <a:off x="457200" y="1691640"/>
            <a:ext cx="5486400" cy="4434840"/>
          </a:xfrm>
          <a:prstGeom xmlns:a="http://schemas.openxmlformats.org/drawingml/2006/main" prst="roundRect">
            <a:avLst>
              <a:gd name="adj" fmla="val 2474"/>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Problem head">
            <a:extLst xmlns:a="http://schemas.openxmlformats.org/drawingml/2006/main">
              <a:ext uri="{FF2B5EF4-FFF2-40B4-BE49-F238E27FC236}">
                <a16:creationId xmlns:a16="http://schemas.microsoft.com/office/drawing/2014/main" id="{690D0E3F-A0A1-4604-BBEE-A33BA98168A0}"/>
              </a:ext>
            </a:extLst>
          </p:cNvPr>
          <p:cNvSpPr>
            <a:spLocks xmlns:a="http://schemas.openxmlformats.org/drawingml/2006/main" noGrp="1"/>
          </p:cNvSpPr>
          <p:nvPr/>
        </p:nvSpPr>
        <p:spPr>
          <a:xfrm xmlns:a="http://schemas.openxmlformats.org/drawingml/2006/main">
            <a:off x="731520" y="18745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PROBLEM STATEMENT</a:t>
            </a:r>
            <a:endParaRPr sz="1500"/>
          </a:p>
        </p:txBody>
      </p:sp>
      <p:sp>
        <p:nvSpPr>
          <p:cNvPr id="6" name="Problem body">
            <a:extLst xmlns:a="http://schemas.openxmlformats.org/drawingml/2006/main">
              <a:ext uri="{FF2B5EF4-FFF2-40B4-BE49-F238E27FC236}">
                <a16:creationId xmlns:a16="http://schemas.microsoft.com/office/drawing/2014/main" id="{44491090-5A3B-4EFB-873A-976C629AE6E4}"/>
              </a:ext>
            </a:extLst>
          </p:cNvPr>
          <p:cNvSpPr>
            <a:spLocks xmlns:a="http://schemas.openxmlformats.org/drawingml/2006/main" noGrp="1"/>
          </p:cNvSpPr>
          <p:nvPr/>
        </p:nvSpPr>
        <p:spPr>
          <a:xfrm xmlns:a="http://schemas.openxmlformats.org/drawingml/2006/main">
            <a:off x="731520" y="228600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Files change but indexes can go stale.</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Conflicting sources need both claims shown.</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Prompt injections and language gaps erode trust.</a:t>
            </a:r>
            <a:endParaRPr sz="1400"/>
          </a:p>
        </p:txBody>
      </p:sp>
      <p:sp>
        <p:nvSpPr>
          <p:cNvPr id="7" name="Solution card">
            <a:extLst xmlns:a="http://schemas.openxmlformats.org/drawingml/2006/main">
              <a:ext uri="{FF2B5EF4-FFF2-40B4-BE49-F238E27FC236}">
                <a16:creationId xmlns:a16="http://schemas.microsoft.com/office/drawing/2014/main" id="{B9179F29-2F02-45DA-9D09-CB735845190B}"/>
              </a:ext>
            </a:extLst>
          </p:cNvPr>
          <p:cNvSpPr>
            <a:spLocks xmlns:a="http://schemas.openxmlformats.org/drawingml/2006/main" noGrp="1"/>
          </p:cNvSpPr>
          <p:nvPr/>
        </p:nvSpPr>
        <p:spPr>
          <a:xfrm xmlns:a="http://schemas.openxmlformats.org/drawingml/2006/main">
            <a:off x="6245352" y="1691640"/>
            <a:ext cx="5486400" cy="2743200"/>
          </a:xfrm>
          <a:prstGeom xmlns:a="http://schemas.openxmlformats.org/drawingml/2006/main" prst="roundRect">
            <a:avLst>
              <a:gd name="adj" fmla="val 4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Solution head">
            <a:extLst xmlns:a="http://schemas.openxmlformats.org/drawingml/2006/main">
              <a:ext uri="{FF2B5EF4-FFF2-40B4-BE49-F238E27FC236}">
                <a16:creationId xmlns:a16="http://schemas.microsoft.com/office/drawing/2014/main" id="{85A324C7-CF03-4039-99A6-64D81ABCF7BB}"/>
              </a:ext>
            </a:extLst>
          </p:cNvPr>
          <p:cNvSpPr>
            <a:spLocks xmlns:a="http://schemas.openxmlformats.org/drawingml/2006/main" noGrp="1"/>
          </p:cNvSpPr>
          <p:nvPr/>
        </p:nvSpPr>
        <p:spPr>
          <a:xfrm xmlns:a="http://schemas.openxmlformats.org/drawingml/2006/main">
            <a:off x="6519672" y="18745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OUR SOLUTION</a:t>
            </a:r>
            <a:endParaRPr sz="1500"/>
          </a:p>
        </p:txBody>
      </p:sp>
      <p:sp>
        <p:nvSpPr>
          <p:cNvPr id="9" name="Solution body">
            <a:extLst xmlns:a="http://schemas.openxmlformats.org/drawingml/2006/main">
              <a:ext uri="{FF2B5EF4-FFF2-40B4-BE49-F238E27FC236}">
                <a16:creationId xmlns:a16="http://schemas.microsoft.com/office/drawing/2014/main" id="{00938271-0837-458B-85A2-4B8B1B012934}"/>
              </a:ext>
            </a:extLst>
          </p:cNvPr>
          <p:cNvSpPr>
            <a:spLocks xmlns:a="http://schemas.openxmlformats.org/drawingml/2006/main" noGrp="1"/>
          </p:cNvSpPr>
          <p:nvPr/>
        </p:nvSpPr>
        <p:spPr>
          <a:xfrm xmlns:a="http://schemas.openxmlformats.org/drawingml/2006/main">
            <a:off x="6519672" y="2286000"/>
            <a:ext cx="493776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Incremental add, edit and delete.</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Keep both claims with their source records.</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Answer Hindi questions over English documents.</a:t>
            </a:r>
            <a:endParaRPr sz="1400"/>
          </a:p>
        </p:txBody>
      </p:sp>
      <p:sp>
        <p:nvSpPr>
          <p:cNvPr id="10" name="Visual card">
            <a:extLst xmlns:a="http://schemas.openxmlformats.org/drawingml/2006/main">
              <a:ext uri="{FF2B5EF4-FFF2-40B4-BE49-F238E27FC236}">
                <a16:creationId xmlns:a16="http://schemas.microsoft.com/office/drawing/2014/main" id="{79769746-62D1-4116-A972-F8266C7C3B55}"/>
              </a:ext>
            </a:extLst>
          </p:cNvPr>
          <p:cNvSpPr>
            <a:spLocks xmlns:a="http://schemas.openxmlformats.org/drawingml/2006/main" noGrp="1"/>
          </p:cNvSpPr>
          <p:nvPr/>
        </p:nvSpPr>
        <p:spPr>
          <a:xfrm xmlns:a="http://schemas.openxmlformats.org/drawingml/2006/main">
            <a:off x="6245352" y="4617720"/>
            <a:ext cx="5486400" cy="1508760"/>
          </a:xfrm>
          <a:prstGeom xmlns:a="http://schemas.openxmlformats.org/drawingml/2006/main" prst="roundRect">
            <a:avLst>
              <a:gd name="adj" fmla="val 7273"/>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1" name="Image placeholder text">
            <a:extLst xmlns:a="http://schemas.openxmlformats.org/drawingml/2006/main">
              <a:ext uri="{FF2B5EF4-FFF2-40B4-BE49-F238E27FC236}">
                <a16:creationId xmlns:a16="http://schemas.microsoft.com/office/drawing/2014/main" id="{E7EF1465-EAAB-4A16-A020-85708C678F04}"/>
              </a:ext>
            </a:extLst>
          </p:cNvPr>
          <p:cNvSpPr>
            <a:spLocks xmlns:a="http://schemas.openxmlformats.org/drawingml/2006/main" noGrp="1"/>
          </p:cNvSpPr>
          <p:nvPr/>
        </p:nvSpPr>
        <p:spPr>
          <a:xfrm xmlns:a="http://schemas.openxmlformats.org/drawingml/2006/main">
            <a:off x="6245352" y="4617720"/>
            <a:ext cx="5486400" cy="1508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defPPr algn="ctr">
              <a:defRPr sz="1500" b="1" i="0">
                <a:solidFill>
                  <a:srgbClr val="FFFFFF"/>
                </a:solidFill>
                <a:latin typeface="Arial"/>
                <a:ea typeface="Arial"/>
                <a:cs typeface="Arial"/>
              </a:defRPr>
            </a:defPPr>
            <a:lvl1pPr algn="ctr">
              <a:buNone/>
              <a:defRPr sz="1500" b="1" i="0">
                <a:solidFill>
                  <a:srgbClr val="FFFFFF"/>
                </a:solidFill>
                <a:latin typeface="Arial"/>
                <a:ea typeface="Arial"/>
                <a:cs typeface="Arial"/>
              </a:defRPr>
            </a:lvl1pPr>
            <a:lvl2pPr algn="ctr">
              <a:buNone/>
              <a:defRPr sz="1500" b="1" i="0">
                <a:solidFill>
                  <a:srgbClr val="FFFFFF"/>
                </a:solidFill>
                <a:latin typeface="Arial"/>
                <a:ea typeface="Arial"/>
                <a:cs typeface="Arial"/>
              </a:defRPr>
            </a:lvl2pPr>
            <a:lvl3pPr algn="ctr">
              <a:buNone/>
              <a:defRPr sz="1500" b="1" i="0">
                <a:solidFill>
                  <a:srgbClr val="FFFFFF"/>
                </a:solidFill>
                <a:latin typeface="Arial"/>
                <a:ea typeface="Arial"/>
                <a:cs typeface="Arial"/>
              </a:defRPr>
            </a:lvl3pPr>
            <a:lvl4pPr algn="ctr">
              <a:buNone/>
              <a:defRPr sz="1500" b="1" i="0">
                <a:solidFill>
                  <a:srgbClr val="FFFFFF"/>
                </a:solidFill>
                <a:latin typeface="Arial"/>
                <a:ea typeface="Arial"/>
                <a:cs typeface="Arial"/>
              </a:defRPr>
            </a:lvl4pPr>
            <a:lvl5pPr algn="ctr">
              <a:buNone/>
              <a:defRPr sz="1500" b="1" i="0">
                <a:solidFill>
                  <a:srgbClr val="FFFFFF"/>
                </a:solidFill>
                <a:latin typeface="Arial"/>
                <a:ea typeface="Arial"/>
                <a:cs typeface="Arial"/>
              </a:defRPr>
            </a:lvl5pPr>
            <a:lvl6pPr algn="ctr">
              <a:buNone/>
              <a:defRPr sz="1500" b="1" i="0">
                <a:solidFill>
                  <a:srgbClr val="FFFFFF"/>
                </a:solidFill>
                <a:latin typeface="Arial"/>
                <a:ea typeface="Arial"/>
                <a:cs typeface="Arial"/>
              </a:defRPr>
            </a:lvl6pPr>
            <a:lvl7pPr algn="ctr">
              <a:buNone/>
              <a:defRPr sz="1500" b="1" i="0">
                <a:solidFill>
                  <a:srgbClr val="FFFFFF"/>
                </a:solidFill>
                <a:latin typeface="Arial"/>
                <a:ea typeface="Arial"/>
                <a:cs typeface="Arial"/>
              </a:defRPr>
            </a:lvl7pPr>
            <a:lvl8pPr algn="ctr">
              <a:buNone/>
              <a:defRPr sz="1500" b="1" i="0">
                <a:solidFill>
                  <a:srgbClr val="FFFFFF"/>
                </a:solidFill>
                <a:latin typeface="Arial"/>
                <a:ea typeface="Arial"/>
                <a:cs typeface="Arial"/>
              </a:defRPr>
            </a:lvl8pPr>
            <a:lvl9pPr algn="ctr">
              <a:buNone/>
              <a:defRPr sz="1500" b="1" i="0">
                <a:solidFill>
                  <a:srgbClr val="FFFFFF"/>
                </a:solidFill>
                <a:latin typeface="Arial"/>
                <a:ea typeface="Arial"/>
                <a:cs typeface="Arial"/>
              </a:defRPr>
            </a:lvl9pPr>
          </a:lstStyle>
          <a:p xmlns:a="http://schemas.openxmlformats.org/drawingml/2006/main">
            <a:pPr marL="0" indent="0" algn="ctr">
              <a:buNone/>
              <a:defRPr sz="1500" b="1" i="0">
                <a:solidFill>
                  <a:srgbClr val="FFFFFF"/>
                </a:solidFill>
                <a:latin typeface="Arial"/>
                <a:ea typeface="Arial"/>
                <a:cs typeface="Arial"/>
              </a:defRPr>
            </a:pPr>
            <a:r>
              <a:rPr sz="1500" b="1" i="0">
                <a:solidFill>
                  <a:srgbClr val="FFFFFF"/>
                </a:solidFill>
                <a:latin typeface="Arial"/>
                <a:ea typeface="Arial"/>
                <a:cs typeface="Arial"/>
              </a:rPr>
              <a:t>500 documents in 7.7 seconds</a:t>
            </a:r>
            <a:endParaRPr sz="1400"/>
          </a:p>
          <a:p xmlns:a="http://schemas.openxmlformats.org/drawingml/2006/main">
            <a:pPr marL="0" indent="0" algn="ctr">
              <a:buNone/>
              <a:defRPr sz="1500" b="1" i="0">
                <a:solidFill>
                  <a:srgbClr val="FFFFFF"/>
                </a:solidFill>
                <a:latin typeface="Arial"/>
                <a:ea typeface="Arial"/>
                <a:cs typeface="Arial"/>
              </a:defRPr>
            </a:pPr>
            <a:r>
              <a:rPr sz="1500" b="1" i="0">
                <a:solidFill>
                  <a:srgbClr val="FFFFFF"/>
                </a:solidFill>
                <a:latin typeface="Arial"/>
                <a:ea typeface="Arial"/>
                <a:cs typeface="Arial"/>
              </a:rPr>
              <a:t>504 docs · 539 entities · 40 edges</a:t>
            </a:r>
            <a:endParaRPr sz="1400"/>
          </a:p>
          <a:p xmlns:a="http://schemas.openxmlformats.org/drawingml/2006/main">
            <a:pPr marL="0" indent="0" algn="ctr">
              <a:buNone/>
              <a:defRPr sz="1500" b="1" i="0">
                <a:solidFill>
                  <a:srgbClr val="FFFFFF"/>
                </a:solidFill>
                <a:latin typeface="Arial"/>
                <a:ea typeface="Arial"/>
                <a:cs typeface="Arial"/>
              </a:defRPr>
            </a:pPr>
            <a:r>
              <a:rPr sz="1500" b="1" i="0">
                <a:solidFill>
                  <a:srgbClr val="FFFFFF"/>
                </a:solidFill>
                <a:latin typeface="Arial"/>
                <a:ea typeface="Arial"/>
                <a:cs typeface="Arial"/>
              </a:rPr>
              <a:t>Isolated local benchmark</a:t>
            </a:r>
            <a:endParaRPr sz="1400"/>
          </a:p>
        </p:txBody>
      </p:sp>
      <p:sp>
        <p:nvSpPr>
          <p:cNvPr id="25" name="Slide Number Placeholder 0">
            <a:extLst xmlns:a="http://schemas.openxmlformats.org/drawingml/2006/main">
              <a:ext uri="{FF2B5EF4-FFF2-40B4-BE49-F238E27FC236}">
                <a16:creationId xmlns:a16="http://schemas.microsoft.com/office/drawing/2014/main" id="{FD038C33-4A8E-4BF3-B3B4-27969BF93B5E}"/>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2</a:t>
            </a:fld>
            <a:endParaRPr/>
          </a:p>
        </p:txBody>
      </p:sp>
    </p:spTree>
    <p:extLst>
      <p:ext uri="{BB962C8B-B14F-4D97-AF65-F5344CB8AC3E}">
        <p14:creationId xmlns:p14="http://schemas.microsoft.com/office/powerpoint/2010/main" val="52561976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FA75ADD-4D6E-434F-8393-FFFBC3356BA4}"/>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TECHNICAL APPROACH</a:t>
            </a:r>
            <a:endParaRPr sz="3600"/>
          </a:p>
        </p:txBody>
      </p:sp>
      <p:sp>
        <p:nvSpPr>
          <p:cNvPr id="3" name="Team tag">
            <a:extLst xmlns:a="http://schemas.openxmlformats.org/drawingml/2006/main">
              <a:ext uri="{FF2B5EF4-FFF2-40B4-BE49-F238E27FC236}">
                <a16:creationId xmlns:a16="http://schemas.microsoft.com/office/drawing/2014/main" id="{C1EA5B08-FE3C-4939-BEC1-392DCAD87C85}"/>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Architecture card">
            <a:extLst xmlns:a="http://schemas.openxmlformats.org/drawingml/2006/main">
              <a:ext uri="{FF2B5EF4-FFF2-40B4-BE49-F238E27FC236}">
                <a16:creationId xmlns:a16="http://schemas.microsoft.com/office/drawing/2014/main" id="{6C7972C3-55CA-4383-BAD6-A507F91DC820}"/>
              </a:ext>
            </a:extLst>
          </p:cNvPr>
          <p:cNvSpPr>
            <a:spLocks xmlns:a="http://schemas.openxmlformats.org/drawingml/2006/main" noGrp="1"/>
          </p:cNvSpPr>
          <p:nvPr/>
        </p:nvSpPr>
        <p:spPr>
          <a:xfrm xmlns:a="http://schemas.openxmlformats.org/drawingml/2006/main">
            <a:off x="457200" y="1691640"/>
            <a:ext cx="5486400" cy="4434840"/>
          </a:xfrm>
          <a:prstGeom xmlns:a="http://schemas.openxmlformats.org/drawingml/2006/main" prst="roundRect">
            <a:avLst>
              <a:gd name="adj" fmla="val 2474"/>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Arch head">
            <a:extLst xmlns:a="http://schemas.openxmlformats.org/drawingml/2006/main">
              <a:ext uri="{FF2B5EF4-FFF2-40B4-BE49-F238E27FC236}">
                <a16:creationId xmlns:a16="http://schemas.microsoft.com/office/drawing/2014/main" id="{4B2A7553-B886-4F02-B6D3-2CB488691A5A}"/>
              </a:ext>
            </a:extLst>
          </p:cNvPr>
          <p:cNvSpPr>
            <a:spLocks xmlns:a="http://schemas.openxmlformats.org/drawingml/2006/main" noGrp="1"/>
          </p:cNvSpPr>
          <p:nvPr/>
        </p:nvSpPr>
        <p:spPr>
          <a:xfrm xmlns:a="http://schemas.openxmlformats.org/drawingml/2006/main">
            <a:off x="731520" y="18745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SYSTEM ARCHITECTURE</a:t>
            </a:r>
            <a:endParaRPr sz="1500"/>
          </a:p>
        </p:txBody>
      </p:sp>
      <p:sp>
        <p:nvSpPr>
          <p:cNvPr id="6" name="Arch body">
            <a:extLst xmlns:a="http://schemas.openxmlformats.org/drawingml/2006/main">
              <a:ext uri="{FF2B5EF4-FFF2-40B4-BE49-F238E27FC236}">
                <a16:creationId xmlns:a16="http://schemas.microsoft.com/office/drawing/2014/main" id="{55B52155-67A4-4574-9FAC-2A9F7A3AEC1A}"/>
              </a:ext>
            </a:extLst>
          </p:cNvPr>
          <p:cNvSpPr>
            <a:spLocks xmlns:a="http://schemas.openxmlformats.org/drawingml/2006/main" noGrp="1"/>
          </p:cNvSpPr>
          <p:nvPr/>
        </p:nvSpPr>
        <p:spPr>
          <a:xfrm xmlns:a="http://schemas.openxmlformats.org/drawingml/2006/main">
            <a:off x="731520" y="228600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Documents enter through FastAPI and pass a safety filter. SQLite indexes terms, claims and graph links. Hindi/English retrieval finds evidence paths and returns source-backed answers.</a:t>
            </a:r>
            <a:endParaRPr sz="1400"/>
          </a:p>
        </p:txBody>
      </p:sp>
      <p:sp>
        <p:nvSpPr>
          <p:cNvPr id="7" name="Tech card">
            <a:extLst xmlns:a="http://schemas.openxmlformats.org/drawingml/2006/main">
              <a:ext uri="{FF2B5EF4-FFF2-40B4-BE49-F238E27FC236}">
                <a16:creationId xmlns:a16="http://schemas.microsoft.com/office/drawing/2014/main" id="{DB185296-33B6-46DE-A0F7-95BD16C87BB0}"/>
              </a:ext>
            </a:extLst>
          </p:cNvPr>
          <p:cNvSpPr>
            <a:spLocks xmlns:a="http://schemas.openxmlformats.org/drawingml/2006/main" noGrp="1"/>
          </p:cNvSpPr>
          <p:nvPr/>
        </p:nvSpPr>
        <p:spPr>
          <a:xfrm xmlns:a="http://schemas.openxmlformats.org/drawingml/2006/main">
            <a:off x="6245352" y="1691640"/>
            <a:ext cx="5486400" cy="2148840"/>
          </a:xfrm>
          <a:prstGeom xmlns:a="http://schemas.openxmlformats.org/drawingml/2006/main" prst="roundRect">
            <a:avLst>
              <a:gd name="adj" fmla="val 5106"/>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Tech head">
            <a:extLst xmlns:a="http://schemas.openxmlformats.org/drawingml/2006/main">
              <a:ext uri="{FF2B5EF4-FFF2-40B4-BE49-F238E27FC236}">
                <a16:creationId xmlns:a16="http://schemas.microsoft.com/office/drawing/2014/main" id="{8F5DB58A-8B59-436A-A212-6A67B6903198}"/>
              </a:ext>
            </a:extLst>
          </p:cNvPr>
          <p:cNvSpPr>
            <a:spLocks xmlns:a="http://schemas.openxmlformats.org/drawingml/2006/main" noGrp="1"/>
          </p:cNvSpPr>
          <p:nvPr/>
        </p:nvSpPr>
        <p:spPr>
          <a:xfrm xmlns:a="http://schemas.openxmlformats.org/drawingml/2006/main">
            <a:off x="6519672" y="18745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CORE TECHNOLOGIES</a:t>
            </a:r>
            <a:endParaRPr sz="1500"/>
          </a:p>
        </p:txBody>
      </p:sp>
      <p:sp>
        <p:nvSpPr>
          <p:cNvPr id="9" name="Tech body">
            <a:extLst xmlns:a="http://schemas.openxmlformats.org/drawingml/2006/main">
              <a:ext uri="{FF2B5EF4-FFF2-40B4-BE49-F238E27FC236}">
                <a16:creationId xmlns:a16="http://schemas.microsoft.com/office/drawing/2014/main" id="{75518A5F-EBAB-420F-B744-7D84ADD92F1F}"/>
              </a:ext>
            </a:extLst>
          </p:cNvPr>
          <p:cNvSpPr>
            <a:spLocks xmlns:a="http://schemas.openxmlformats.org/drawingml/2006/main" noGrp="1"/>
          </p:cNvSpPr>
          <p:nvPr/>
        </p:nvSpPr>
        <p:spPr>
          <a:xfrm xmlns:a="http://schemas.openxmlformats.org/drawingml/2006/main">
            <a:off x="6519672" y="2286000"/>
            <a:ext cx="493776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Python + FastAPI backend</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SQLite document and graph stores</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React + TypeScript + Vite frontend</a:t>
            </a:r>
            <a:endParaRPr sz="1400"/>
          </a:p>
        </p:txBody>
      </p:sp>
      <p:sp>
        <p:nvSpPr>
          <p:cNvPr id="10" name="Unique card">
            <a:extLst xmlns:a="http://schemas.openxmlformats.org/drawingml/2006/main">
              <a:ext uri="{FF2B5EF4-FFF2-40B4-BE49-F238E27FC236}">
                <a16:creationId xmlns:a16="http://schemas.microsoft.com/office/drawing/2014/main" id="{119570D4-010A-4676-A07E-20B7C27D5CD3}"/>
              </a:ext>
            </a:extLst>
          </p:cNvPr>
          <p:cNvSpPr>
            <a:spLocks xmlns:a="http://schemas.openxmlformats.org/drawingml/2006/main" noGrp="1"/>
          </p:cNvSpPr>
          <p:nvPr/>
        </p:nvSpPr>
        <p:spPr>
          <a:xfrm xmlns:a="http://schemas.openxmlformats.org/drawingml/2006/main">
            <a:off x="6245352" y="402336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1" name="Unique head">
            <a:extLst xmlns:a="http://schemas.openxmlformats.org/drawingml/2006/main">
              <a:ext uri="{FF2B5EF4-FFF2-40B4-BE49-F238E27FC236}">
                <a16:creationId xmlns:a16="http://schemas.microsoft.com/office/drawing/2014/main" id="{366309E2-2E33-47D8-889B-348306AECE79}"/>
              </a:ext>
            </a:extLst>
          </p:cNvPr>
          <p:cNvSpPr>
            <a:spLocks xmlns:a="http://schemas.openxmlformats.org/drawingml/2006/main" noGrp="1"/>
          </p:cNvSpPr>
          <p:nvPr/>
        </p:nvSpPr>
        <p:spPr>
          <a:xfrm xmlns:a="http://schemas.openxmlformats.org/drawingml/2006/main">
            <a:off x="6519672" y="420624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UNIQUE POINTS</a:t>
            </a:r>
            <a:endParaRPr sz="1500"/>
          </a:p>
        </p:txBody>
      </p:sp>
      <p:sp>
        <p:nvSpPr>
          <p:cNvPr id="12" name="Unique body">
            <a:extLst xmlns:a="http://schemas.openxmlformats.org/drawingml/2006/main">
              <a:ext uri="{FF2B5EF4-FFF2-40B4-BE49-F238E27FC236}">
                <a16:creationId xmlns:a16="http://schemas.microsoft.com/office/drawing/2014/main" id="{F708072A-57CF-4526-BB7A-9C3EBD8E26BD}"/>
              </a:ext>
            </a:extLst>
          </p:cNvPr>
          <p:cNvSpPr>
            <a:spLocks xmlns:a="http://schemas.openxmlformats.org/drawingml/2006/main" noGrp="1"/>
          </p:cNvSpPr>
          <p:nvPr/>
        </p:nvSpPr>
        <p:spPr>
          <a:xfrm xmlns:a="http://schemas.openxmlformats.org/drawingml/2006/main">
            <a:off x="6519672" y="4617720"/>
            <a:ext cx="49377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Each document updates without a full rebuild.</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Conflicts remain visible with source paths.</a:t>
            </a:r>
            <a:endParaRPr sz="1400"/>
          </a:p>
        </p:txBody>
      </p:sp>
      <p:sp>
        <p:nvSpPr>
          <p:cNvPr id="25" name="Slide Number Placeholder 0">
            <a:extLst xmlns:a="http://schemas.openxmlformats.org/drawingml/2006/main">
              <a:ext uri="{FF2B5EF4-FFF2-40B4-BE49-F238E27FC236}">
                <a16:creationId xmlns:a16="http://schemas.microsoft.com/office/drawing/2014/main" id="{7DC208FD-50B4-4737-A539-D41C018E9AB2}"/>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3</a:t>
            </a:fld>
            <a:endParaRPr/>
          </a:p>
        </p:txBody>
      </p:sp>
    </p:spTree>
    <p:extLst>
      <p:ext uri="{BB962C8B-B14F-4D97-AF65-F5344CB8AC3E}">
        <p14:creationId xmlns:p14="http://schemas.microsoft.com/office/powerpoint/2010/main" val="151517341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7A7651-D794-4689-A1CF-0A89E19DD4B9}"/>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USER EXPERIENCE &amp; DESIGN</a:t>
            </a:r>
            <a:endParaRPr sz="3600"/>
          </a:p>
        </p:txBody>
      </p:sp>
      <p:sp>
        <p:nvSpPr>
          <p:cNvPr id="3" name="Team tag">
            <a:extLst xmlns:a="http://schemas.openxmlformats.org/drawingml/2006/main">
              <a:ext uri="{FF2B5EF4-FFF2-40B4-BE49-F238E27FC236}">
                <a16:creationId xmlns:a16="http://schemas.microsoft.com/office/drawing/2014/main" id="{C14B8D7F-7864-4A41-8C40-80AF0B50E91F}"/>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UI card">
            <a:extLst xmlns:a="http://schemas.openxmlformats.org/drawingml/2006/main">
              <a:ext uri="{FF2B5EF4-FFF2-40B4-BE49-F238E27FC236}">
                <a16:creationId xmlns:a16="http://schemas.microsoft.com/office/drawing/2014/main" id="{68B4CBFD-25E4-4BD9-B969-4079D12F10F0}"/>
              </a:ext>
            </a:extLst>
          </p:cNvPr>
          <p:cNvSpPr>
            <a:spLocks xmlns:a="http://schemas.openxmlformats.org/drawingml/2006/main" noGrp="1"/>
          </p:cNvSpPr>
          <p:nvPr/>
        </p:nvSpPr>
        <p:spPr>
          <a:xfrm xmlns:a="http://schemas.openxmlformats.org/drawingml/2006/main">
            <a:off x="457200"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UI head">
            <a:extLst xmlns:a="http://schemas.openxmlformats.org/drawingml/2006/main">
              <a:ext uri="{FF2B5EF4-FFF2-40B4-BE49-F238E27FC236}">
                <a16:creationId xmlns:a16="http://schemas.microsoft.com/office/drawing/2014/main" id="{51494179-AEC6-41B4-8AA7-741891029A6A}"/>
              </a:ext>
            </a:extLst>
          </p:cNvPr>
          <p:cNvSpPr>
            <a:spLocks xmlns:a="http://schemas.openxmlformats.org/drawingml/2006/main" noGrp="1"/>
          </p:cNvSpPr>
          <p:nvPr/>
        </p:nvSpPr>
        <p:spPr>
          <a:xfrm xmlns:a="http://schemas.openxmlformats.org/drawingml/2006/main">
            <a:off x="731520"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USER INTERFACE</a:t>
            </a:r>
            <a:endParaRPr sz="1500"/>
          </a:p>
        </p:txBody>
      </p:sp>
      <p:sp>
        <p:nvSpPr>
          <p:cNvPr id="6" name="UI body">
            <a:extLst xmlns:a="http://schemas.openxmlformats.org/drawingml/2006/main">
              <a:ext uri="{FF2B5EF4-FFF2-40B4-BE49-F238E27FC236}">
                <a16:creationId xmlns:a16="http://schemas.microsoft.com/office/drawing/2014/main" id="{E4E0A486-FE0C-4F48-9FB5-84781AAB55DB}"/>
              </a:ext>
            </a:extLst>
          </p:cNvPr>
          <p:cNvSpPr>
            <a:spLocks xmlns:a="http://schemas.openxmlformats.org/drawingml/2006/main" noGrp="1"/>
          </p:cNvSpPr>
          <p:nvPr/>
        </p:nvSpPr>
        <p:spPr>
          <a:xfrm xmlns:a="http://schemas.openxmlformats.org/drawingml/2006/main">
            <a:off x="731520" y="2286000"/>
            <a:ext cx="31089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Ask in Hindi or English. Edit documents in Data Studio. Review source conflicts and graph paths.</a:t>
            </a:r>
            <a:endParaRPr sz="1400"/>
          </a:p>
        </p:txBody>
      </p:sp>
      <p:sp>
        <p:nvSpPr>
          <p:cNvPr id="7" name="Flow card">
            <a:extLst xmlns:a="http://schemas.openxmlformats.org/drawingml/2006/main">
              <a:ext uri="{FF2B5EF4-FFF2-40B4-BE49-F238E27FC236}">
                <a16:creationId xmlns:a16="http://schemas.microsoft.com/office/drawing/2014/main" id="{2055541C-16A9-46A8-9806-FE62CA595318}"/>
              </a:ext>
            </a:extLst>
          </p:cNvPr>
          <p:cNvSpPr>
            <a:spLocks xmlns:a="http://schemas.openxmlformats.org/drawingml/2006/main" noGrp="1"/>
          </p:cNvSpPr>
          <p:nvPr/>
        </p:nvSpPr>
        <p:spPr>
          <a:xfrm xmlns:a="http://schemas.openxmlformats.org/drawingml/2006/main">
            <a:off x="4270248"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Flow head">
            <a:extLst xmlns:a="http://schemas.openxmlformats.org/drawingml/2006/main">
              <a:ext uri="{FF2B5EF4-FFF2-40B4-BE49-F238E27FC236}">
                <a16:creationId xmlns:a16="http://schemas.microsoft.com/office/drawing/2014/main" id="{F0CF6D4E-570F-441E-8552-9FDCF4DBECFE}"/>
              </a:ext>
            </a:extLst>
          </p:cNvPr>
          <p:cNvSpPr>
            <a:spLocks xmlns:a="http://schemas.openxmlformats.org/drawingml/2006/main" noGrp="1"/>
          </p:cNvSpPr>
          <p:nvPr/>
        </p:nvSpPr>
        <p:spPr>
          <a:xfrm xmlns:a="http://schemas.openxmlformats.org/drawingml/2006/main">
            <a:off x="4544568"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USER FLOW</a:t>
            </a:r>
            <a:endParaRPr sz="1500"/>
          </a:p>
        </p:txBody>
      </p:sp>
      <p:sp>
        <p:nvSpPr>
          <p:cNvPr id="9" name="Flow dot 1">
            <a:extLst xmlns:a="http://schemas.openxmlformats.org/drawingml/2006/main">
              <a:ext uri="{FF2B5EF4-FFF2-40B4-BE49-F238E27FC236}">
                <a16:creationId xmlns:a16="http://schemas.microsoft.com/office/drawing/2014/main" id="{DF091EA1-E644-4915-BFD4-9C82C1DC46CC}"/>
              </a:ext>
            </a:extLst>
          </p:cNvPr>
          <p:cNvSpPr>
            <a:spLocks xmlns:a="http://schemas.openxmlformats.org/drawingml/2006/main" noGrp="1"/>
          </p:cNvSpPr>
          <p:nvPr/>
        </p:nvSpPr>
        <p:spPr>
          <a:xfrm xmlns:a="http://schemas.openxmlformats.org/drawingml/2006/main">
            <a:off x="4544568" y="2331720"/>
            <a:ext cx="502920" cy="50292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0" name="Text 8">
            <a:extLst xmlns:a="http://schemas.openxmlformats.org/drawingml/2006/main">
              <a:ext uri="{FF2B5EF4-FFF2-40B4-BE49-F238E27FC236}">
                <a16:creationId xmlns:a16="http://schemas.microsoft.com/office/drawing/2014/main" id="{E6167F41-2C0A-499A-B1F2-B40A63646502}"/>
              </a:ext>
            </a:extLst>
          </p:cNvPr>
          <p:cNvSpPr>
            <a:spLocks xmlns:a="http://schemas.openxmlformats.org/drawingml/2006/main" noGrp="1"/>
          </p:cNvSpPr>
          <p:nvPr/>
        </p:nvSpPr>
        <p:spPr>
          <a:xfrm xmlns:a="http://schemas.openxmlformats.org/drawingml/2006/main">
            <a:off x="4544568" y="23317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1</a:t>
            </a:r>
            <a:endParaRPr sz="1600"/>
          </a:p>
        </p:txBody>
      </p:sp>
      <p:sp>
        <p:nvSpPr>
          <p:cNvPr id="11" name="Text 9">
            <a:extLst xmlns:a="http://schemas.openxmlformats.org/drawingml/2006/main">
              <a:ext uri="{FF2B5EF4-FFF2-40B4-BE49-F238E27FC236}">
                <a16:creationId xmlns:a16="http://schemas.microsoft.com/office/drawing/2014/main" id="{7BCDF33F-394C-4D20-8B54-5F78FE74A186}"/>
              </a:ext>
            </a:extLst>
          </p:cNvPr>
          <p:cNvSpPr>
            <a:spLocks xmlns:a="http://schemas.openxmlformats.org/drawingml/2006/main" noGrp="1"/>
          </p:cNvSpPr>
          <p:nvPr/>
        </p:nvSpPr>
        <p:spPr>
          <a:xfrm xmlns:a="http://schemas.openxmlformats.org/drawingml/2006/main">
            <a:off x="5212080" y="2286000"/>
            <a:ext cx="25603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FFFFF"/>
                </a:solidFill>
                <a:latin typeface="Calibri"/>
                <a:ea typeface="Calibri"/>
                <a:cs typeface="Calibri"/>
              </a:rPr>
              <a:t>Ask a question</a:t>
            </a:r>
            <a:endParaRPr sz="1400"/>
          </a:p>
          <a:p xmlns:a="http://schemas.openxmlformats.org/drawingml/2006/main">
            <a:pPr marL="0" indent="0">
              <a:buNone/>
            </a:pPr>
            <a:r>
              <a:rPr sz="1400">
                <a:solidFill>
                  <a:srgbClr val="FFFFFF"/>
                </a:solidFill>
                <a:latin typeface="Calibri"/>
                <a:ea typeface="Calibri"/>
                <a:cs typeface="Calibri"/>
              </a:rPr>
              <a:t>or ingest documents</a:t>
            </a:r>
            <a:endParaRPr sz="1400"/>
          </a:p>
        </p:txBody>
      </p:sp>
      <p:sp>
        <p:nvSpPr>
          <p:cNvPr id="12" name="Flow dot 2">
            <a:extLst xmlns:a="http://schemas.openxmlformats.org/drawingml/2006/main">
              <a:ext uri="{FF2B5EF4-FFF2-40B4-BE49-F238E27FC236}">
                <a16:creationId xmlns:a16="http://schemas.microsoft.com/office/drawing/2014/main" id="{FAA436ED-A327-4FF1-8FA5-E2538271583A}"/>
              </a:ext>
            </a:extLst>
          </p:cNvPr>
          <p:cNvSpPr>
            <a:spLocks xmlns:a="http://schemas.openxmlformats.org/drawingml/2006/main" noGrp="1"/>
          </p:cNvSpPr>
          <p:nvPr/>
        </p:nvSpPr>
        <p:spPr>
          <a:xfrm xmlns:a="http://schemas.openxmlformats.org/drawingml/2006/main">
            <a:off x="4544568" y="3520440"/>
            <a:ext cx="502920" cy="50292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3" name="Text 11">
            <a:extLst xmlns:a="http://schemas.openxmlformats.org/drawingml/2006/main">
              <a:ext uri="{FF2B5EF4-FFF2-40B4-BE49-F238E27FC236}">
                <a16:creationId xmlns:a16="http://schemas.microsoft.com/office/drawing/2014/main" id="{6D921AA6-C6C9-4AD0-91B8-15E2E1609F43}"/>
              </a:ext>
            </a:extLst>
          </p:cNvPr>
          <p:cNvSpPr>
            <a:spLocks xmlns:a="http://schemas.openxmlformats.org/drawingml/2006/main" noGrp="1"/>
          </p:cNvSpPr>
          <p:nvPr/>
        </p:nvSpPr>
        <p:spPr>
          <a:xfrm xmlns:a="http://schemas.openxmlformats.org/drawingml/2006/main">
            <a:off x="4544568" y="35204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2</a:t>
            </a:r>
            <a:endParaRPr sz="1600"/>
          </a:p>
        </p:txBody>
      </p:sp>
      <p:sp>
        <p:nvSpPr>
          <p:cNvPr id="14" name="Text 12">
            <a:extLst xmlns:a="http://schemas.openxmlformats.org/drawingml/2006/main">
              <a:ext uri="{FF2B5EF4-FFF2-40B4-BE49-F238E27FC236}">
                <a16:creationId xmlns:a16="http://schemas.microsoft.com/office/drawing/2014/main" id="{0D605CE5-3F26-4737-8C50-7FC26AEDC448}"/>
              </a:ext>
            </a:extLst>
          </p:cNvPr>
          <p:cNvSpPr>
            <a:spLocks xmlns:a="http://schemas.openxmlformats.org/drawingml/2006/main" noGrp="1"/>
          </p:cNvSpPr>
          <p:nvPr/>
        </p:nvSpPr>
        <p:spPr>
          <a:xfrm xmlns:a="http://schemas.openxmlformats.org/drawingml/2006/main">
            <a:off x="5212080" y="3474720"/>
            <a:ext cx="25603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FFFFF"/>
                </a:solidFill>
                <a:latin typeface="Calibri"/>
                <a:ea typeface="Calibri"/>
                <a:cs typeface="Calibri"/>
              </a:rPr>
              <a:t>Retrieve claims</a:t>
            </a:r>
            <a:endParaRPr sz="1400"/>
          </a:p>
          <a:p xmlns:a="http://schemas.openxmlformats.org/drawingml/2006/main">
            <a:pPr marL="0" indent="0">
              <a:buNone/>
            </a:pPr>
            <a:r>
              <a:rPr sz="1400">
                <a:solidFill>
                  <a:srgbClr val="FFFFFF"/>
                </a:solidFill>
                <a:latin typeface="Calibri"/>
                <a:ea typeface="Calibri"/>
                <a:cs typeface="Calibri"/>
              </a:rPr>
              <a:t>and graph links</a:t>
            </a:r>
            <a:endParaRPr sz="1400"/>
          </a:p>
        </p:txBody>
      </p:sp>
      <p:sp>
        <p:nvSpPr>
          <p:cNvPr id="15" name="Flow dot 3">
            <a:extLst xmlns:a="http://schemas.openxmlformats.org/drawingml/2006/main">
              <a:ext uri="{FF2B5EF4-FFF2-40B4-BE49-F238E27FC236}">
                <a16:creationId xmlns:a16="http://schemas.microsoft.com/office/drawing/2014/main" id="{B31A7553-83BC-4E50-BEFF-9B76D78C36A5}"/>
              </a:ext>
            </a:extLst>
          </p:cNvPr>
          <p:cNvSpPr>
            <a:spLocks xmlns:a="http://schemas.openxmlformats.org/drawingml/2006/main" noGrp="1"/>
          </p:cNvSpPr>
          <p:nvPr/>
        </p:nvSpPr>
        <p:spPr>
          <a:xfrm xmlns:a="http://schemas.openxmlformats.org/drawingml/2006/main">
            <a:off x="4544568" y="4709160"/>
            <a:ext cx="502920" cy="50292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6" name="Text 14">
            <a:extLst xmlns:a="http://schemas.openxmlformats.org/drawingml/2006/main">
              <a:ext uri="{FF2B5EF4-FFF2-40B4-BE49-F238E27FC236}">
                <a16:creationId xmlns:a16="http://schemas.microsoft.com/office/drawing/2014/main" id="{8577198F-53EF-40CE-9B9C-35398E5E6B3B}"/>
              </a:ext>
            </a:extLst>
          </p:cNvPr>
          <p:cNvSpPr>
            <a:spLocks xmlns:a="http://schemas.openxmlformats.org/drawingml/2006/main" noGrp="1"/>
          </p:cNvSpPr>
          <p:nvPr/>
        </p:nvSpPr>
        <p:spPr>
          <a:xfrm xmlns:a="http://schemas.openxmlformats.org/drawingml/2006/main">
            <a:off x="4544568" y="470916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3</a:t>
            </a:r>
            <a:endParaRPr sz="1600"/>
          </a:p>
        </p:txBody>
      </p:sp>
      <p:sp>
        <p:nvSpPr>
          <p:cNvPr id="17" name="Text 15">
            <a:extLst xmlns:a="http://schemas.openxmlformats.org/drawingml/2006/main">
              <a:ext uri="{FF2B5EF4-FFF2-40B4-BE49-F238E27FC236}">
                <a16:creationId xmlns:a16="http://schemas.microsoft.com/office/drawing/2014/main" id="{6260D5A3-BFE1-4DA4-9058-9D067922FF3B}"/>
              </a:ext>
            </a:extLst>
          </p:cNvPr>
          <p:cNvSpPr>
            <a:spLocks xmlns:a="http://schemas.openxmlformats.org/drawingml/2006/main" noGrp="1"/>
          </p:cNvSpPr>
          <p:nvPr/>
        </p:nvSpPr>
        <p:spPr>
          <a:xfrm xmlns:a="http://schemas.openxmlformats.org/drawingml/2006/main">
            <a:off x="5212080" y="4663440"/>
            <a:ext cx="25603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FFFFF"/>
                </a:solidFill>
                <a:latin typeface="Calibri"/>
                <a:ea typeface="Calibri"/>
                <a:cs typeface="Calibri"/>
              </a:rPr>
              <a:t>Review sourced</a:t>
            </a:r>
            <a:endParaRPr sz="1400"/>
          </a:p>
          <a:p xmlns:a="http://schemas.openxmlformats.org/drawingml/2006/main">
            <a:pPr marL="0" indent="0">
              <a:buNone/>
            </a:pPr>
            <a:r>
              <a:rPr sz="1400">
                <a:solidFill>
                  <a:srgbClr val="FFFFFF"/>
                </a:solidFill>
                <a:latin typeface="Calibri"/>
                <a:ea typeface="Calibri"/>
                <a:cs typeface="Calibri"/>
              </a:rPr>
              <a:t>answer or conflict</a:t>
            </a:r>
            <a:endParaRPr sz="1400"/>
          </a:p>
        </p:txBody>
      </p:sp>
      <p:sp>
        <p:nvSpPr>
          <p:cNvPr id="18" name="Goal card">
            <a:extLst xmlns:a="http://schemas.openxmlformats.org/drawingml/2006/main">
              <a:ext uri="{FF2B5EF4-FFF2-40B4-BE49-F238E27FC236}">
                <a16:creationId xmlns:a16="http://schemas.microsoft.com/office/drawing/2014/main" id="{6DBCFF46-202D-4056-ABA6-225F0213A29C}"/>
              </a:ext>
            </a:extLst>
          </p:cNvPr>
          <p:cNvSpPr>
            <a:spLocks xmlns:a="http://schemas.openxmlformats.org/drawingml/2006/main" noGrp="1"/>
          </p:cNvSpPr>
          <p:nvPr/>
        </p:nvSpPr>
        <p:spPr>
          <a:xfrm xmlns:a="http://schemas.openxmlformats.org/drawingml/2006/main">
            <a:off x="8074152"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9" name="Goal head">
            <a:extLst xmlns:a="http://schemas.openxmlformats.org/drawingml/2006/main">
              <a:ext uri="{FF2B5EF4-FFF2-40B4-BE49-F238E27FC236}">
                <a16:creationId xmlns:a16="http://schemas.microsoft.com/office/drawing/2014/main" id="{F5ADC8EE-55AE-4045-9FA9-82A8B761ACA5}"/>
              </a:ext>
            </a:extLst>
          </p:cNvPr>
          <p:cNvSpPr>
            <a:spLocks xmlns:a="http://schemas.openxmlformats.org/drawingml/2006/main" noGrp="1"/>
          </p:cNvSpPr>
          <p:nvPr/>
        </p:nvSpPr>
        <p:spPr>
          <a:xfrm xmlns:a="http://schemas.openxmlformats.org/drawingml/2006/main">
            <a:off x="8348472"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DESIGN GOAL</a:t>
            </a:r>
            <a:endParaRPr sz="1500"/>
          </a:p>
        </p:txBody>
      </p:sp>
      <p:sp>
        <p:nvSpPr>
          <p:cNvPr id="20" name="Goal body">
            <a:extLst xmlns:a="http://schemas.openxmlformats.org/drawingml/2006/main">
              <a:ext uri="{FF2B5EF4-FFF2-40B4-BE49-F238E27FC236}">
                <a16:creationId xmlns:a16="http://schemas.microsoft.com/office/drawing/2014/main" id="{1F48EFD7-9B86-4C8F-BED4-E1D59B18847B}"/>
              </a:ext>
            </a:extLst>
          </p:cNvPr>
          <p:cNvSpPr>
            <a:spLocks xmlns:a="http://schemas.openxmlformats.org/drawingml/2006/main" noGrp="1"/>
          </p:cNvSpPr>
          <p:nvPr/>
        </p:nvSpPr>
        <p:spPr>
          <a:xfrm xmlns:a="http://schemas.openxmlformats.org/drawingml/2006/main">
            <a:off x="8348472" y="2286000"/>
            <a:ext cx="310896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Trace each answer to its source documents and graph paths.</a:t>
            </a:r>
            <a:endParaRPr sz="1400"/>
          </a:p>
        </p:txBody>
      </p:sp>
      <p:sp>
        <p:nvSpPr>
          <p:cNvPr id="21" name="Wireframe placeholder">
            <a:extLst xmlns:a="http://schemas.openxmlformats.org/drawingml/2006/main">
              <a:ext uri="{FF2B5EF4-FFF2-40B4-BE49-F238E27FC236}">
                <a16:creationId xmlns:a16="http://schemas.microsoft.com/office/drawing/2014/main" id="{F1427D5C-8E20-47D1-B890-3D0BFE2E447E}"/>
              </a:ext>
            </a:extLst>
          </p:cNvPr>
          <p:cNvSpPr>
            <a:spLocks xmlns:a="http://schemas.openxmlformats.org/drawingml/2006/main" noGrp="1"/>
          </p:cNvSpPr>
          <p:nvPr/>
        </p:nvSpPr>
        <p:spPr>
          <a:xfrm xmlns:a="http://schemas.openxmlformats.org/drawingml/2006/main">
            <a:off x="8348472" y="4206240"/>
            <a:ext cx="3108960" cy="1645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i="1">
                <a:solidFill>
                  <a:srgbClr val="9CC4FF"/>
                </a:solidFill>
                <a:latin typeface="Calibri"/>
                <a:ea typeface="Calibri"/>
                <a:cs typeface="Calibri"/>
              </a:rPr>
              <a:t>Question → claim → source document</a:t>
            </a:r>
            <a:endParaRPr sz="1300"/>
          </a:p>
        </p:txBody>
      </p:sp>
      <p:sp>
        <p:nvSpPr>
          <p:cNvPr id="25" name="Slide Number Placeholder 0">
            <a:extLst xmlns:a="http://schemas.openxmlformats.org/drawingml/2006/main">
              <a:ext uri="{FF2B5EF4-FFF2-40B4-BE49-F238E27FC236}">
                <a16:creationId xmlns:a16="http://schemas.microsoft.com/office/drawing/2014/main" id="{F133C4AF-F8E3-4F4E-B6DB-3868DCBD8213}"/>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4</a:t>
            </a:fld>
            <a:endParaRPr/>
          </a:p>
        </p:txBody>
      </p:sp>
    </p:spTree>
    <p:extLst>
      <p:ext uri="{BB962C8B-B14F-4D97-AF65-F5344CB8AC3E}">
        <p14:creationId xmlns:p14="http://schemas.microsoft.com/office/powerpoint/2010/main" val="126562562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C8B109D-F983-49F5-BF3B-94D3D2328EBE}"/>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FEASIBILITY AND VIABILITY</a:t>
            </a:r>
            <a:endParaRPr sz="3600"/>
          </a:p>
        </p:txBody>
      </p:sp>
      <p:sp>
        <p:nvSpPr>
          <p:cNvPr id="3" name="Team tag">
            <a:extLst xmlns:a="http://schemas.openxmlformats.org/drawingml/2006/main">
              <a:ext uri="{FF2B5EF4-FFF2-40B4-BE49-F238E27FC236}">
                <a16:creationId xmlns:a16="http://schemas.microsoft.com/office/drawing/2014/main" id="{A9D6734E-1CC5-41F0-8509-1CFEA4791C8C}"/>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Technical Feasibility card">
            <a:extLst xmlns:a="http://schemas.openxmlformats.org/drawingml/2006/main">
              <a:ext uri="{FF2B5EF4-FFF2-40B4-BE49-F238E27FC236}">
                <a16:creationId xmlns:a16="http://schemas.microsoft.com/office/drawing/2014/main" id="{1BAC6998-7A03-4B89-AFCC-05C34C148E14}"/>
              </a:ext>
            </a:extLst>
          </p:cNvPr>
          <p:cNvSpPr>
            <a:spLocks xmlns:a="http://schemas.openxmlformats.org/drawingml/2006/main" noGrp="1"/>
          </p:cNvSpPr>
          <p:nvPr/>
        </p:nvSpPr>
        <p:spPr>
          <a:xfrm xmlns:a="http://schemas.openxmlformats.org/drawingml/2006/main">
            <a:off x="457200"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Technical Feasibility head">
            <a:extLst xmlns:a="http://schemas.openxmlformats.org/drawingml/2006/main">
              <a:ext uri="{FF2B5EF4-FFF2-40B4-BE49-F238E27FC236}">
                <a16:creationId xmlns:a16="http://schemas.microsoft.com/office/drawing/2014/main" id="{9067B5D4-D149-465D-8D5D-567BCCE1E24B}"/>
              </a:ext>
            </a:extLst>
          </p:cNvPr>
          <p:cNvSpPr>
            <a:spLocks xmlns:a="http://schemas.openxmlformats.org/drawingml/2006/main" noGrp="1"/>
          </p:cNvSpPr>
          <p:nvPr/>
        </p:nvSpPr>
        <p:spPr>
          <a:xfrm xmlns:a="http://schemas.openxmlformats.org/drawingml/2006/main">
            <a:off x="731520"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TECHNICAL FEASIBILITY</a:t>
            </a:r>
            <a:endParaRPr sz="1500"/>
          </a:p>
        </p:txBody>
      </p:sp>
      <p:sp>
        <p:nvSpPr>
          <p:cNvPr id="6" name="Technical Feasibility body">
            <a:extLst xmlns:a="http://schemas.openxmlformats.org/drawingml/2006/main">
              <a:ext uri="{FF2B5EF4-FFF2-40B4-BE49-F238E27FC236}">
                <a16:creationId xmlns:a16="http://schemas.microsoft.com/office/drawing/2014/main" id="{881F0955-00CA-4185-A707-555AC67065B9}"/>
              </a:ext>
            </a:extLst>
          </p:cNvPr>
          <p:cNvSpPr>
            <a:spLocks xmlns:a="http://schemas.openxmlformats.org/drawingml/2006/main" noGrp="1"/>
          </p:cNvSpPr>
          <p:nvPr/>
        </p:nvSpPr>
        <p:spPr>
          <a:xfrm xmlns:a="http://schemas.openxmlformats.org/drawingml/2006/main">
            <a:off x="731520"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Python/FastAPI and SQLite run locally.</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Batch API accepts up to 2,000 docs/request.</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No external model is needed for the test flow.</a:t>
            </a:r>
            <a:endParaRPr sz="1400"/>
          </a:p>
        </p:txBody>
      </p:sp>
      <p:sp>
        <p:nvSpPr>
          <p:cNvPr id="7" name="Economic Feasibility card">
            <a:extLst xmlns:a="http://schemas.openxmlformats.org/drawingml/2006/main">
              <a:ext uri="{FF2B5EF4-FFF2-40B4-BE49-F238E27FC236}">
                <a16:creationId xmlns:a16="http://schemas.microsoft.com/office/drawing/2014/main" id="{A7A75D63-DF7D-427D-8FD8-0933F1F0985F}"/>
              </a:ext>
            </a:extLst>
          </p:cNvPr>
          <p:cNvSpPr>
            <a:spLocks xmlns:a="http://schemas.openxmlformats.org/drawingml/2006/main" noGrp="1"/>
          </p:cNvSpPr>
          <p:nvPr/>
        </p:nvSpPr>
        <p:spPr>
          <a:xfrm xmlns:a="http://schemas.openxmlformats.org/drawingml/2006/main">
            <a:off x="4270248"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Economic Feasibility head">
            <a:extLst xmlns:a="http://schemas.openxmlformats.org/drawingml/2006/main">
              <a:ext uri="{FF2B5EF4-FFF2-40B4-BE49-F238E27FC236}">
                <a16:creationId xmlns:a16="http://schemas.microsoft.com/office/drawing/2014/main" id="{3333672E-7C7F-475C-B0F4-EA39C06A3490}"/>
              </a:ext>
            </a:extLst>
          </p:cNvPr>
          <p:cNvSpPr>
            <a:spLocks xmlns:a="http://schemas.openxmlformats.org/drawingml/2006/main" noGrp="1"/>
          </p:cNvSpPr>
          <p:nvPr/>
        </p:nvSpPr>
        <p:spPr>
          <a:xfrm xmlns:a="http://schemas.openxmlformats.org/drawingml/2006/main">
            <a:off x="4544568"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ECONOMIC FEASIBILITY</a:t>
            </a:r>
            <a:endParaRPr sz="1500"/>
          </a:p>
        </p:txBody>
      </p:sp>
      <p:sp>
        <p:nvSpPr>
          <p:cNvPr id="9" name="Economic Feasibility body">
            <a:extLst xmlns:a="http://schemas.openxmlformats.org/drawingml/2006/main">
              <a:ext uri="{FF2B5EF4-FFF2-40B4-BE49-F238E27FC236}">
                <a16:creationId xmlns:a16="http://schemas.microsoft.com/office/drawing/2014/main" id="{AE81AC13-FFED-427C-AD02-E1CEDCCCF22F}"/>
              </a:ext>
            </a:extLst>
          </p:cNvPr>
          <p:cNvSpPr>
            <a:spLocks xmlns:a="http://schemas.openxmlformats.org/drawingml/2006/main" noGrp="1"/>
          </p:cNvSpPr>
          <p:nvPr/>
        </p:nvSpPr>
        <p:spPr>
          <a:xfrm xmlns:a="http://schemas.openxmlformats.org/drawingml/2006/main">
            <a:off x="4544568"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Prototype uses the installed local stack.</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Test flow requires no paid API key.</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Hosting and integration costs are unmeasured.</a:t>
            </a:r>
            <a:endParaRPr sz="1400"/>
          </a:p>
        </p:txBody>
      </p:sp>
      <p:sp>
        <p:nvSpPr>
          <p:cNvPr id="10" name="Operational Viability card">
            <a:extLst xmlns:a="http://schemas.openxmlformats.org/drawingml/2006/main">
              <a:ext uri="{FF2B5EF4-FFF2-40B4-BE49-F238E27FC236}">
                <a16:creationId xmlns:a16="http://schemas.microsoft.com/office/drawing/2014/main" id="{B5759BA6-FE8F-4F7D-A38E-6C5E0AF235DD}"/>
              </a:ext>
            </a:extLst>
          </p:cNvPr>
          <p:cNvSpPr>
            <a:spLocks xmlns:a="http://schemas.openxmlformats.org/drawingml/2006/main" noGrp="1"/>
          </p:cNvSpPr>
          <p:nvPr/>
        </p:nvSpPr>
        <p:spPr>
          <a:xfrm xmlns:a="http://schemas.openxmlformats.org/drawingml/2006/main">
            <a:off x="8083296"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1" name="Operational Viability head">
            <a:extLst xmlns:a="http://schemas.openxmlformats.org/drawingml/2006/main">
              <a:ext uri="{FF2B5EF4-FFF2-40B4-BE49-F238E27FC236}">
                <a16:creationId xmlns:a16="http://schemas.microsoft.com/office/drawing/2014/main" id="{F278E489-FE61-4DF6-90BF-A2184B4CED01}"/>
              </a:ext>
            </a:extLst>
          </p:cNvPr>
          <p:cNvSpPr>
            <a:spLocks xmlns:a="http://schemas.openxmlformats.org/drawingml/2006/main" noGrp="1"/>
          </p:cNvSpPr>
          <p:nvPr/>
        </p:nvSpPr>
        <p:spPr>
          <a:xfrm xmlns:a="http://schemas.openxmlformats.org/drawingml/2006/main">
            <a:off x="8357616"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OPERATIONAL VIABILITY</a:t>
            </a:r>
            <a:endParaRPr sz="1500"/>
          </a:p>
        </p:txBody>
      </p:sp>
      <p:sp>
        <p:nvSpPr>
          <p:cNvPr id="12" name="Operational Viability body">
            <a:extLst xmlns:a="http://schemas.openxmlformats.org/drawingml/2006/main">
              <a:ext uri="{FF2B5EF4-FFF2-40B4-BE49-F238E27FC236}">
                <a16:creationId xmlns:a16="http://schemas.microsoft.com/office/drawing/2014/main" id="{73EAD07D-1697-43B4-89CC-5FCD50FB5832}"/>
              </a:ext>
            </a:extLst>
          </p:cNvPr>
          <p:cNvSpPr>
            <a:spLocks xmlns:a="http://schemas.openxmlformats.org/drawingml/2006/main" noGrp="1"/>
          </p:cNvSpPr>
          <p:nvPr/>
        </p:nvSpPr>
        <p:spPr>
          <a:xfrm xmlns:a="http://schemas.openxmlformats.org/drawingml/2006/main">
            <a:off x="8357616"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Local app runs on ports 5173 and 8001.</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Extraction rules need broader corpus checks.</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Conflicts remain visible for human review.</a:t>
            </a:r>
            <a:endParaRPr sz="1400"/>
          </a:p>
        </p:txBody>
      </p:sp>
      <p:sp>
        <p:nvSpPr>
          <p:cNvPr id="25" name="Slide Number Placeholder 0">
            <a:extLst xmlns:a="http://schemas.openxmlformats.org/drawingml/2006/main">
              <a:ext uri="{FF2B5EF4-FFF2-40B4-BE49-F238E27FC236}">
                <a16:creationId xmlns:a16="http://schemas.microsoft.com/office/drawing/2014/main" id="{8107E5C4-5414-4027-86D6-8FE5EAD1A816}"/>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5</a:t>
            </a:fld>
            <a:endParaRPr/>
          </a:p>
        </p:txBody>
      </p:sp>
    </p:spTree>
    <p:extLst>
      <p:ext uri="{BB962C8B-B14F-4D97-AF65-F5344CB8AC3E}">
        <p14:creationId xmlns:p14="http://schemas.microsoft.com/office/powerpoint/2010/main" val="201638881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976D94-CDF9-4B2E-9107-53723F2670B1}"/>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IMPACT AND BENEFITS</a:t>
            </a:r>
            <a:endParaRPr sz="3600"/>
          </a:p>
        </p:txBody>
      </p:sp>
      <p:sp>
        <p:nvSpPr>
          <p:cNvPr id="3" name="Team tag">
            <a:extLst xmlns:a="http://schemas.openxmlformats.org/drawingml/2006/main">
              <a:ext uri="{FF2B5EF4-FFF2-40B4-BE49-F238E27FC236}">
                <a16:creationId xmlns:a16="http://schemas.microsoft.com/office/drawing/2014/main" id="{D513DB1C-2F83-4220-A533-7474E89D6D8A}"/>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Social Impact card">
            <a:extLst xmlns:a="http://schemas.openxmlformats.org/drawingml/2006/main">
              <a:ext uri="{FF2B5EF4-FFF2-40B4-BE49-F238E27FC236}">
                <a16:creationId xmlns:a16="http://schemas.microsoft.com/office/drawing/2014/main" id="{C192C4B7-72F7-4389-A573-175365065134}"/>
              </a:ext>
            </a:extLst>
          </p:cNvPr>
          <p:cNvSpPr>
            <a:spLocks xmlns:a="http://schemas.openxmlformats.org/drawingml/2006/main" noGrp="1"/>
          </p:cNvSpPr>
          <p:nvPr/>
        </p:nvSpPr>
        <p:spPr>
          <a:xfrm xmlns:a="http://schemas.openxmlformats.org/drawingml/2006/main">
            <a:off x="457200" y="169164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Social Impact badge">
            <a:extLst xmlns:a="http://schemas.openxmlformats.org/drawingml/2006/main">
              <a:ext uri="{FF2B5EF4-FFF2-40B4-BE49-F238E27FC236}">
                <a16:creationId xmlns:a16="http://schemas.microsoft.com/office/drawing/2014/main" id="{C5566014-5924-45A0-8383-9FFF71125875}"/>
              </a:ext>
            </a:extLst>
          </p:cNvPr>
          <p:cNvSpPr>
            <a:spLocks xmlns:a="http://schemas.openxmlformats.org/drawingml/2006/main" noGrp="1"/>
          </p:cNvSpPr>
          <p:nvPr/>
        </p:nvSpPr>
        <p:spPr>
          <a:xfrm xmlns:a="http://schemas.openxmlformats.org/drawingml/2006/main">
            <a:off x="731520" y="1965960"/>
            <a:ext cx="548640" cy="54864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6" name="Text 4">
            <a:extLst xmlns:a="http://schemas.openxmlformats.org/drawingml/2006/main">
              <a:ext uri="{FF2B5EF4-FFF2-40B4-BE49-F238E27FC236}">
                <a16:creationId xmlns:a16="http://schemas.microsoft.com/office/drawing/2014/main" id="{7B284CBA-4B94-41EC-BB97-501CB7E9F40F}"/>
              </a:ext>
            </a:extLst>
          </p:cNvPr>
          <p:cNvSpPr>
            <a:spLocks xmlns:a="http://schemas.openxmlformats.org/drawingml/2006/main" noGrp="1"/>
          </p:cNvSpPr>
          <p:nvPr/>
        </p:nvSpPr>
        <p:spPr>
          <a:xfrm xmlns:a="http://schemas.openxmlformats.org/drawingml/2006/main">
            <a:off x="731520" y="1965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1</a:t>
            </a:r>
            <a:endParaRPr sz="1800"/>
          </a:p>
        </p:txBody>
      </p:sp>
      <p:sp>
        <p:nvSpPr>
          <p:cNvPr id="7" name="Social Impact head">
            <a:extLst xmlns:a="http://schemas.openxmlformats.org/drawingml/2006/main">
              <a:ext uri="{FF2B5EF4-FFF2-40B4-BE49-F238E27FC236}">
                <a16:creationId xmlns:a16="http://schemas.microsoft.com/office/drawing/2014/main" id="{13DBEE0A-6B27-44CC-B1FD-C08CD8EB5500}"/>
              </a:ext>
            </a:extLst>
          </p:cNvPr>
          <p:cNvSpPr>
            <a:spLocks xmlns:a="http://schemas.openxmlformats.org/drawingml/2006/main" noGrp="1"/>
          </p:cNvSpPr>
          <p:nvPr/>
        </p:nvSpPr>
        <p:spPr>
          <a:xfrm xmlns:a="http://schemas.openxmlformats.org/drawingml/2006/main">
            <a:off x="1554480" y="205740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SOCIAL IMPACT</a:t>
            </a:r>
            <a:endParaRPr sz="1500"/>
          </a:p>
        </p:txBody>
      </p:sp>
      <p:sp>
        <p:nvSpPr>
          <p:cNvPr id="8" name="Social Impact body">
            <a:extLst xmlns:a="http://schemas.openxmlformats.org/drawingml/2006/main">
              <a:ext uri="{FF2B5EF4-FFF2-40B4-BE49-F238E27FC236}">
                <a16:creationId xmlns:a16="http://schemas.microsoft.com/office/drawing/2014/main" id="{6F7AC066-E267-444A-B3BB-3D6B81979588}"/>
              </a:ext>
            </a:extLst>
          </p:cNvPr>
          <p:cNvSpPr>
            <a:spLocks xmlns:a="http://schemas.openxmlformats.org/drawingml/2006/main" noGrp="1"/>
          </p:cNvSpPr>
          <p:nvPr/>
        </p:nvSpPr>
        <p:spPr>
          <a:xfrm xmlns:a="http://schemas.openxmlformats.org/drawingml/2006/main">
            <a:off x="1554480" y="2514600"/>
            <a:ext cx="41148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Hindi users can query English documents.</a:t>
            </a:r>
            <a:endParaRPr sz="1400"/>
          </a:p>
          <a:p xmlns:a="http://schemas.openxmlformats.org/drawingml/2006/main">
            <a:pPr marL="0" indent="0">
              <a:buNone/>
            </a:pPr>
            <a:r>
              <a:rPr sz="1400">
                <a:solidFill>
                  <a:srgbClr val="FFFFFF"/>
                </a:solidFill>
                <a:latin typeface="Calibri"/>
                <a:ea typeface="Calibri"/>
                <a:cs typeface="Calibri"/>
              </a:rPr>
              <a:t>Conflicts show both claims and sources.</a:t>
            </a:r>
            <a:endParaRPr sz="1400"/>
          </a:p>
        </p:txBody>
      </p:sp>
      <p:sp>
        <p:nvSpPr>
          <p:cNvPr id="9" name="Environmental Impact card">
            <a:extLst xmlns:a="http://schemas.openxmlformats.org/drawingml/2006/main">
              <a:ext uri="{FF2B5EF4-FFF2-40B4-BE49-F238E27FC236}">
                <a16:creationId xmlns:a16="http://schemas.microsoft.com/office/drawing/2014/main" id="{7207B70D-F021-4860-AE3A-217851525400}"/>
              </a:ext>
            </a:extLst>
          </p:cNvPr>
          <p:cNvSpPr>
            <a:spLocks xmlns:a="http://schemas.openxmlformats.org/drawingml/2006/main" noGrp="1"/>
          </p:cNvSpPr>
          <p:nvPr/>
        </p:nvSpPr>
        <p:spPr>
          <a:xfrm xmlns:a="http://schemas.openxmlformats.org/drawingml/2006/main">
            <a:off x="6099048" y="169164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0" name="Environmental Impact badge">
            <a:extLst xmlns:a="http://schemas.openxmlformats.org/drawingml/2006/main">
              <a:ext uri="{FF2B5EF4-FFF2-40B4-BE49-F238E27FC236}">
                <a16:creationId xmlns:a16="http://schemas.microsoft.com/office/drawing/2014/main" id="{9FB68E70-8E96-41C6-BD28-959D8DD4B491}"/>
              </a:ext>
            </a:extLst>
          </p:cNvPr>
          <p:cNvSpPr>
            <a:spLocks xmlns:a="http://schemas.openxmlformats.org/drawingml/2006/main" noGrp="1"/>
          </p:cNvSpPr>
          <p:nvPr/>
        </p:nvSpPr>
        <p:spPr>
          <a:xfrm xmlns:a="http://schemas.openxmlformats.org/drawingml/2006/main">
            <a:off x="6373368" y="1965960"/>
            <a:ext cx="548640" cy="54864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1" name="Text 9">
            <a:extLst xmlns:a="http://schemas.openxmlformats.org/drawingml/2006/main">
              <a:ext uri="{FF2B5EF4-FFF2-40B4-BE49-F238E27FC236}">
                <a16:creationId xmlns:a16="http://schemas.microsoft.com/office/drawing/2014/main" id="{D96E2EEE-96DD-4183-9A05-778FC7788000}"/>
              </a:ext>
            </a:extLst>
          </p:cNvPr>
          <p:cNvSpPr>
            <a:spLocks xmlns:a="http://schemas.openxmlformats.org/drawingml/2006/main" noGrp="1"/>
          </p:cNvSpPr>
          <p:nvPr/>
        </p:nvSpPr>
        <p:spPr>
          <a:xfrm xmlns:a="http://schemas.openxmlformats.org/drawingml/2006/main">
            <a:off x="6373368" y="1965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2</a:t>
            </a:r>
            <a:endParaRPr sz="1800"/>
          </a:p>
        </p:txBody>
      </p:sp>
      <p:sp>
        <p:nvSpPr>
          <p:cNvPr id="12" name="Environmental Impact head">
            <a:extLst xmlns:a="http://schemas.openxmlformats.org/drawingml/2006/main">
              <a:ext uri="{FF2B5EF4-FFF2-40B4-BE49-F238E27FC236}">
                <a16:creationId xmlns:a16="http://schemas.microsoft.com/office/drawing/2014/main" id="{CD71DD86-6980-4F7A-A04A-11589859CEBE}"/>
              </a:ext>
            </a:extLst>
          </p:cNvPr>
          <p:cNvSpPr>
            <a:spLocks xmlns:a="http://schemas.openxmlformats.org/drawingml/2006/main" noGrp="1"/>
          </p:cNvSpPr>
          <p:nvPr/>
        </p:nvSpPr>
        <p:spPr>
          <a:xfrm xmlns:a="http://schemas.openxmlformats.org/drawingml/2006/main">
            <a:off x="7196328" y="205740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ENVIRONMENTAL IMPACT</a:t>
            </a:r>
            <a:endParaRPr sz="1500"/>
          </a:p>
        </p:txBody>
      </p:sp>
      <p:sp>
        <p:nvSpPr>
          <p:cNvPr id="13" name="Environmental Impact body">
            <a:extLst xmlns:a="http://schemas.openxmlformats.org/drawingml/2006/main">
              <a:ext uri="{FF2B5EF4-FFF2-40B4-BE49-F238E27FC236}">
                <a16:creationId xmlns:a16="http://schemas.microsoft.com/office/drawing/2014/main" id="{221396DA-109D-47CB-99DC-E15D90BE21D6}"/>
              </a:ext>
            </a:extLst>
          </p:cNvPr>
          <p:cNvSpPr>
            <a:spLocks xmlns:a="http://schemas.openxmlformats.org/drawingml/2006/main" noGrp="1"/>
          </p:cNvSpPr>
          <p:nvPr/>
        </p:nvSpPr>
        <p:spPr>
          <a:xfrm xmlns:a="http://schemas.openxmlformats.org/drawingml/2006/main">
            <a:off x="7196328" y="2514600"/>
            <a:ext cx="41148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Updates reindex one document, not the full corpus.</a:t>
            </a:r>
            <a:endParaRPr sz="1400"/>
          </a:p>
          <a:p xmlns:a="http://schemas.openxmlformats.org/drawingml/2006/main">
            <a:pPr marL="0" indent="0">
              <a:buNone/>
            </a:pPr>
            <a:r>
              <a:rPr sz="1400">
                <a:solidFill>
                  <a:srgbClr val="FFFFFF"/>
                </a:solidFill>
                <a:latin typeface="Calibri"/>
                <a:ea typeface="Calibri"/>
                <a:cs typeface="Calibri"/>
              </a:rPr>
              <a:t>Energy and carbon savings are not measured.</a:t>
            </a:r>
            <a:endParaRPr sz="1400"/>
          </a:p>
        </p:txBody>
      </p:sp>
      <p:sp>
        <p:nvSpPr>
          <p:cNvPr id="14" name="Technical Impact card">
            <a:extLst xmlns:a="http://schemas.openxmlformats.org/drawingml/2006/main">
              <a:ext uri="{FF2B5EF4-FFF2-40B4-BE49-F238E27FC236}">
                <a16:creationId xmlns:a16="http://schemas.microsoft.com/office/drawing/2014/main" id="{99561A0B-8E41-4570-9D99-23FF85B6FF58}"/>
              </a:ext>
            </a:extLst>
          </p:cNvPr>
          <p:cNvSpPr>
            <a:spLocks xmlns:a="http://schemas.openxmlformats.org/drawingml/2006/main" noGrp="1"/>
          </p:cNvSpPr>
          <p:nvPr/>
        </p:nvSpPr>
        <p:spPr>
          <a:xfrm xmlns:a="http://schemas.openxmlformats.org/drawingml/2006/main">
            <a:off x="457200" y="397764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5" name="Technical Impact badge">
            <a:extLst xmlns:a="http://schemas.openxmlformats.org/drawingml/2006/main">
              <a:ext uri="{FF2B5EF4-FFF2-40B4-BE49-F238E27FC236}">
                <a16:creationId xmlns:a16="http://schemas.microsoft.com/office/drawing/2014/main" id="{9FC94E6F-89AA-4B0A-8D22-48A027C07291}"/>
              </a:ext>
            </a:extLst>
          </p:cNvPr>
          <p:cNvSpPr>
            <a:spLocks xmlns:a="http://schemas.openxmlformats.org/drawingml/2006/main" noGrp="1"/>
          </p:cNvSpPr>
          <p:nvPr/>
        </p:nvSpPr>
        <p:spPr>
          <a:xfrm xmlns:a="http://schemas.openxmlformats.org/drawingml/2006/main">
            <a:off x="731520" y="4251960"/>
            <a:ext cx="548640" cy="54864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6" name="Text 14">
            <a:extLst xmlns:a="http://schemas.openxmlformats.org/drawingml/2006/main">
              <a:ext uri="{FF2B5EF4-FFF2-40B4-BE49-F238E27FC236}">
                <a16:creationId xmlns:a16="http://schemas.microsoft.com/office/drawing/2014/main" id="{D9C21E8C-4905-46F3-BD48-181BD3EAC2A8}"/>
              </a:ext>
            </a:extLst>
          </p:cNvPr>
          <p:cNvSpPr>
            <a:spLocks xmlns:a="http://schemas.openxmlformats.org/drawingml/2006/main" noGrp="1"/>
          </p:cNvSpPr>
          <p:nvPr/>
        </p:nvSpPr>
        <p:spPr>
          <a:xfrm xmlns:a="http://schemas.openxmlformats.org/drawingml/2006/main">
            <a:off x="731520" y="4251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3</a:t>
            </a:r>
            <a:endParaRPr sz="1800"/>
          </a:p>
        </p:txBody>
      </p:sp>
      <p:sp>
        <p:nvSpPr>
          <p:cNvPr id="17" name="Technical Impact head">
            <a:extLst xmlns:a="http://schemas.openxmlformats.org/drawingml/2006/main">
              <a:ext uri="{FF2B5EF4-FFF2-40B4-BE49-F238E27FC236}">
                <a16:creationId xmlns:a16="http://schemas.microsoft.com/office/drawing/2014/main" id="{32AB9EBC-15CB-42DB-8559-C4FBD780A4D4}"/>
              </a:ext>
            </a:extLst>
          </p:cNvPr>
          <p:cNvSpPr>
            <a:spLocks xmlns:a="http://schemas.openxmlformats.org/drawingml/2006/main" noGrp="1"/>
          </p:cNvSpPr>
          <p:nvPr/>
        </p:nvSpPr>
        <p:spPr>
          <a:xfrm xmlns:a="http://schemas.openxmlformats.org/drawingml/2006/main">
            <a:off x="1554480" y="434340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TECHNICAL IMPACT</a:t>
            </a:r>
            <a:endParaRPr sz="1500"/>
          </a:p>
        </p:txBody>
      </p:sp>
      <p:sp>
        <p:nvSpPr>
          <p:cNvPr id="18" name="Technical Impact body">
            <a:extLst xmlns:a="http://schemas.openxmlformats.org/drawingml/2006/main">
              <a:ext uri="{FF2B5EF4-FFF2-40B4-BE49-F238E27FC236}">
                <a16:creationId xmlns:a16="http://schemas.microsoft.com/office/drawing/2014/main" id="{518069F1-3131-47FA-9426-8163D8505F2E}"/>
              </a:ext>
            </a:extLst>
          </p:cNvPr>
          <p:cNvSpPr>
            <a:spLocks xmlns:a="http://schemas.openxmlformats.org/drawingml/2006/main" noGrp="1"/>
          </p:cNvSpPr>
          <p:nvPr/>
        </p:nvSpPr>
        <p:spPr>
          <a:xfrm xmlns:a="http://schemas.openxmlformats.org/drawingml/2006/main">
            <a:off x="1554480" y="4800600"/>
            <a:ext cx="41148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500 input docs ingested in 7.7 s (local test).</a:t>
            </a:r>
            <a:endParaRPr sz="1400"/>
          </a:p>
          <a:p xmlns:a="http://schemas.openxmlformats.org/drawingml/2006/main">
            <a:pPr marL="0" indent="0">
              <a:buNone/>
            </a:pPr>
            <a:r>
              <a:rPr sz="1400">
                <a:solidFill>
                  <a:srgbClr val="FFFFFF"/>
                </a:solidFill>
                <a:latin typeface="Calibri"/>
                <a:ea typeface="Calibri"/>
                <a:cs typeface="Calibri"/>
              </a:rPr>
              <a:t>Graph: 504 docs, 539 entities, 40 edges.</a:t>
            </a:r>
            <a:endParaRPr sz="1400"/>
          </a:p>
          <a:p xmlns:a="http://schemas.openxmlformats.org/drawingml/2006/main">
            <a:pPr marL="0" indent="0">
              <a:buNone/>
            </a:pPr>
            <a:r>
              <a:rPr sz="1400">
                <a:solidFill>
                  <a:srgbClr val="FFFFFF"/>
                </a:solidFill>
                <a:latin typeface="Calibri"/>
                <a:ea typeface="Calibri"/>
                <a:cs typeface="Calibri"/>
              </a:rPr>
              <a:t>21 planted instruction strings tested.</a:t>
            </a:r>
            <a:endParaRPr sz="1400"/>
          </a:p>
        </p:txBody>
      </p:sp>
      <p:sp>
        <p:nvSpPr>
          <p:cNvPr id="19" name="Educational Impact card">
            <a:extLst xmlns:a="http://schemas.openxmlformats.org/drawingml/2006/main">
              <a:ext uri="{FF2B5EF4-FFF2-40B4-BE49-F238E27FC236}">
                <a16:creationId xmlns:a16="http://schemas.microsoft.com/office/drawing/2014/main" id="{73A6582C-7222-490A-95F1-556B820AEC5D}"/>
              </a:ext>
            </a:extLst>
          </p:cNvPr>
          <p:cNvSpPr>
            <a:spLocks xmlns:a="http://schemas.openxmlformats.org/drawingml/2006/main" noGrp="1"/>
          </p:cNvSpPr>
          <p:nvPr/>
        </p:nvSpPr>
        <p:spPr>
          <a:xfrm xmlns:a="http://schemas.openxmlformats.org/drawingml/2006/main">
            <a:off x="6099048" y="397764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20" name="Educational Impact badge">
            <a:extLst xmlns:a="http://schemas.openxmlformats.org/drawingml/2006/main">
              <a:ext uri="{FF2B5EF4-FFF2-40B4-BE49-F238E27FC236}">
                <a16:creationId xmlns:a16="http://schemas.microsoft.com/office/drawing/2014/main" id="{BEA2EFD4-57D8-4131-ACFD-C4C143AA6DC1}"/>
              </a:ext>
            </a:extLst>
          </p:cNvPr>
          <p:cNvSpPr>
            <a:spLocks xmlns:a="http://schemas.openxmlformats.org/drawingml/2006/main" noGrp="1"/>
          </p:cNvSpPr>
          <p:nvPr/>
        </p:nvSpPr>
        <p:spPr>
          <a:xfrm xmlns:a="http://schemas.openxmlformats.org/drawingml/2006/main">
            <a:off x="6373368" y="4251960"/>
            <a:ext cx="548640" cy="54864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21" name="Text 19">
            <a:extLst xmlns:a="http://schemas.openxmlformats.org/drawingml/2006/main">
              <a:ext uri="{FF2B5EF4-FFF2-40B4-BE49-F238E27FC236}">
                <a16:creationId xmlns:a16="http://schemas.microsoft.com/office/drawing/2014/main" id="{D2942D8A-CA47-4240-B13B-8B82E990A80D}"/>
              </a:ext>
            </a:extLst>
          </p:cNvPr>
          <p:cNvSpPr>
            <a:spLocks xmlns:a="http://schemas.openxmlformats.org/drawingml/2006/main" noGrp="1"/>
          </p:cNvSpPr>
          <p:nvPr/>
        </p:nvSpPr>
        <p:spPr>
          <a:xfrm xmlns:a="http://schemas.openxmlformats.org/drawingml/2006/main">
            <a:off x="6373368" y="4251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4</a:t>
            </a:r>
            <a:endParaRPr sz="1800"/>
          </a:p>
        </p:txBody>
      </p:sp>
      <p:sp>
        <p:nvSpPr>
          <p:cNvPr id="22" name="Educational Impact head">
            <a:extLst xmlns:a="http://schemas.openxmlformats.org/drawingml/2006/main">
              <a:ext uri="{FF2B5EF4-FFF2-40B4-BE49-F238E27FC236}">
                <a16:creationId xmlns:a16="http://schemas.microsoft.com/office/drawing/2014/main" id="{94A4B706-1E10-4F84-9722-4463EFF67C85}"/>
              </a:ext>
            </a:extLst>
          </p:cNvPr>
          <p:cNvSpPr>
            <a:spLocks xmlns:a="http://schemas.openxmlformats.org/drawingml/2006/main" noGrp="1"/>
          </p:cNvSpPr>
          <p:nvPr/>
        </p:nvSpPr>
        <p:spPr>
          <a:xfrm xmlns:a="http://schemas.openxmlformats.org/drawingml/2006/main">
            <a:off x="7196328" y="434340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EDUCATIONAL IMPACT</a:t>
            </a:r>
            <a:endParaRPr sz="1500"/>
          </a:p>
        </p:txBody>
      </p:sp>
      <p:sp>
        <p:nvSpPr>
          <p:cNvPr id="23" name="Educational Impact body">
            <a:extLst xmlns:a="http://schemas.openxmlformats.org/drawingml/2006/main">
              <a:ext uri="{FF2B5EF4-FFF2-40B4-BE49-F238E27FC236}">
                <a16:creationId xmlns:a16="http://schemas.microsoft.com/office/drawing/2014/main" id="{C03BE820-1CD9-412F-BF77-B7955F919AFA}"/>
              </a:ext>
            </a:extLst>
          </p:cNvPr>
          <p:cNvSpPr>
            <a:spLocks xmlns:a="http://schemas.openxmlformats.org/drawingml/2006/main" noGrp="1"/>
          </p:cNvSpPr>
          <p:nvPr/>
        </p:nvSpPr>
        <p:spPr>
          <a:xfrm xmlns:a="http://schemas.openxmlformats.org/drawingml/2006/main">
            <a:off x="7196328" y="4800600"/>
            <a:ext cx="41148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Inspect claims, sources and graph paths.</a:t>
            </a:r>
            <a:endParaRPr sz="1400"/>
          </a:p>
          <a:p xmlns:a="http://schemas.openxmlformats.org/drawingml/2006/main">
            <a:pPr marL="0" indent="0">
              <a:buNone/>
            </a:pPr>
            <a:r>
              <a:rPr sz="1400">
                <a:solidFill>
                  <a:srgbClr val="FFFFFF"/>
                </a:solidFill>
                <a:latin typeface="Calibri"/>
                <a:ea typeface="Calibri"/>
                <a:cs typeface="Calibri"/>
              </a:rPr>
              <a:t>Evidence replay makes grounded answers teachable.</a:t>
            </a:r>
            <a:endParaRPr sz="1400"/>
          </a:p>
        </p:txBody>
      </p:sp>
      <p:sp>
        <p:nvSpPr>
          <p:cNvPr id="25" name="Slide Number Placeholder 0">
            <a:extLst xmlns:a="http://schemas.openxmlformats.org/drawingml/2006/main">
              <a:ext uri="{FF2B5EF4-FFF2-40B4-BE49-F238E27FC236}">
                <a16:creationId xmlns:a16="http://schemas.microsoft.com/office/drawing/2014/main" id="{21CC3903-C09E-4790-98F8-97F8D0460691}"/>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6</a:t>
            </a:fld>
            <a:endParaRPr/>
          </a:p>
        </p:txBody>
      </p:sp>
    </p:spTree>
    <p:extLst>
      <p:ext uri="{BB962C8B-B14F-4D97-AF65-F5344CB8AC3E}">
        <p14:creationId xmlns:p14="http://schemas.microsoft.com/office/powerpoint/2010/main" val="4298429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0EC107A-6954-496E-8E68-7AE9F11E26BE}"/>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BUSINESS MODEL &amp; SUSTAINABILITY</a:t>
            </a:r>
            <a:endParaRPr sz="3600"/>
          </a:p>
        </p:txBody>
      </p:sp>
      <p:sp>
        <p:nvSpPr>
          <p:cNvPr id="3" name="Team tag">
            <a:extLst xmlns:a="http://schemas.openxmlformats.org/drawingml/2006/main">
              <a:ext uri="{FF2B5EF4-FFF2-40B4-BE49-F238E27FC236}">
                <a16:creationId xmlns:a16="http://schemas.microsoft.com/office/drawing/2014/main" id="{A5F30C45-C4DF-4B89-AAB6-216E90032C58}"/>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Users card">
            <a:extLst xmlns:a="http://schemas.openxmlformats.org/drawingml/2006/main">
              <a:ext uri="{FF2B5EF4-FFF2-40B4-BE49-F238E27FC236}">
                <a16:creationId xmlns:a16="http://schemas.microsoft.com/office/drawing/2014/main" id="{03D16733-900C-4036-83B7-71FE46C1417B}"/>
              </a:ext>
            </a:extLst>
          </p:cNvPr>
          <p:cNvSpPr>
            <a:spLocks xmlns:a="http://schemas.openxmlformats.org/drawingml/2006/main" noGrp="1"/>
          </p:cNvSpPr>
          <p:nvPr/>
        </p:nvSpPr>
        <p:spPr>
          <a:xfrm xmlns:a="http://schemas.openxmlformats.org/drawingml/2006/main">
            <a:off x="457200"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Users head">
            <a:extLst xmlns:a="http://schemas.openxmlformats.org/drawingml/2006/main">
              <a:ext uri="{FF2B5EF4-FFF2-40B4-BE49-F238E27FC236}">
                <a16:creationId xmlns:a16="http://schemas.microsoft.com/office/drawing/2014/main" id="{6E4439F8-FB7C-47A4-9746-44024299B533}"/>
              </a:ext>
            </a:extLst>
          </p:cNvPr>
          <p:cNvSpPr>
            <a:spLocks xmlns:a="http://schemas.openxmlformats.org/drawingml/2006/main" noGrp="1"/>
          </p:cNvSpPr>
          <p:nvPr/>
        </p:nvSpPr>
        <p:spPr>
          <a:xfrm xmlns:a="http://schemas.openxmlformats.org/drawingml/2006/main">
            <a:off x="731520"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TARGET USERS</a:t>
            </a:r>
            <a:endParaRPr sz="1500"/>
          </a:p>
        </p:txBody>
      </p:sp>
      <p:sp>
        <p:nvSpPr>
          <p:cNvPr id="6" name="Users body">
            <a:extLst xmlns:a="http://schemas.openxmlformats.org/drawingml/2006/main">
              <a:ext uri="{FF2B5EF4-FFF2-40B4-BE49-F238E27FC236}">
                <a16:creationId xmlns:a16="http://schemas.microsoft.com/office/drawing/2014/main" id="{B0748EE7-781B-4094-8787-2028CCA5260F}"/>
              </a:ext>
            </a:extLst>
          </p:cNvPr>
          <p:cNvSpPr>
            <a:spLocks xmlns:a="http://schemas.openxmlformats.org/drawingml/2006/main" noGrp="1"/>
          </p:cNvSpPr>
          <p:nvPr/>
        </p:nvSpPr>
        <p:spPr>
          <a:xfrm xmlns:a="http://schemas.openxmlformats.org/drawingml/2006/main">
            <a:off x="731520"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Compliance and operations analysts</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Data teams combining SQL and documents</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Hindi users working with English records</a:t>
            </a:r>
            <a:endParaRPr sz="1400"/>
          </a:p>
        </p:txBody>
      </p:sp>
      <p:sp>
        <p:nvSpPr>
          <p:cNvPr id="7" name="Revenue card">
            <a:extLst xmlns:a="http://schemas.openxmlformats.org/drawingml/2006/main">
              <a:ext uri="{FF2B5EF4-FFF2-40B4-BE49-F238E27FC236}">
                <a16:creationId xmlns:a16="http://schemas.microsoft.com/office/drawing/2014/main" id="{1F39B524-A837-49EB-8FA2-9F144F64241E}"/>
              </a:ext>
            </a:extLst>
          </p:cNvPr>
          <p:cNvSpPr>
            <a:spLocks xmlns:a="http://schemas.openxmlformats.org/drawingml/2006/main" noGrp="1"/>
          </p:cNvSpPr>
          <p:nvPr/>
        </p:nvSpPr>
        <p:spPr>
          <a:xfrm xmlns:a="http://schemas.openxmlformats.org/drawingml/2006/main">
            <a:off x="4270248"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Rev head">
            <a:extLst xmlns:a="http://schemas.openxmlformats.org/drawingml/2006/main">
              <a:ext uri="{FF2B5EF4-FFF2-40B4-BE49-F238E27FC236}">
                <a16:creationId xmlns:a16="http://schemas.microsoft.com/office/drawing/2014/main" id="{7A819027-232F-410C-980C-5DF81BD0A013}"/>
              </a:ext>
            </a:extLst>
          </p:cNvPr>
          <p:cNvSpPr>
            <a:spLocks xmlns:a="http://schemas.openxmlformats.org/drawingml/2006/main" noGrp="1"/>
          </p:cNvSpPr>
          <p:nvPr/>
        </p:nvSpPr>
        <p:spPr>
          <a:xfrm xmlns:a="http://schemas.openxmlformats.org/drawingml/2006/main">
            <a:off x="4544568"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REVENUE &amp; COST MODEL</a:t>
            </a:r>
            <a:endParaRPr sz="1500"/>
          </a:p>
        </p:txBody>
      </p:sp>
      <p:sp>
        <p:nvSpPr>
          <p:cNvPr id="9" name="Rev body">
            <a:extLst xmlns:a="http://schemas.openxmlformats.org/drawingml/2006/main">
              <a:ext uri="{FF2B5EF4-FFF2-40B4-BE49-F238E27FC236}">
                <a16:creationId xmlns:a16="http://schemas.microsoft.com/office/drawing/2014/main" id="{C0CF8A77-C404-4E3C-A580-2DD7A0BF0319}"/>
              </a:ext>
            </a:extLst>
          </p:cNvPr>
          <p:cNvSpPr>
            <a:spLocks xmlns:a="http://schemas.openxmlformats.org/drawingml/2006/main" noGrp="1"/>
          </p:cNvSpPr>
          <p:nvPr/>
        </p:nvSpPr>
        <p:spPr>
          <a:xfrm xmlns:a="http://schemas.openxmlformats.org/drawingml/2006/main">
            <a:off x="4544568"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Current stage: working prototype</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Proposed: private institutional deployment</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Costs: hosting, integrations and support</a:t>
            </a:r>
            <a:endParaRPr sz="1400"/>
          </a:p>
        </p:txBody>
      </p:sp>
      <p:sp>
        <p:nvSpPr>
          <p:cNvPr id="10" name="Sustain card">
            <a:extLst xmlns:a="http://schemas.openxmlformats.org/drawingml/2006/main">
              <a:ext uri="{FF2B5EF4-FFF2-40B4-BE49-F238E27FC236}">
                <a16:creationId xmlns:a16="http://schemas.microsoft.com/office/drawing/2014/main" id="{41A4A359-B3A0-4223-B5E3-3D34278F8835}"/>
              </a:ext>
            </a:extLst>
          </p:cNvPr>
          <p:cNvSpPr>
            <a:spLocks xmlns:a="http://schemas.openxmlformats.org/drawingml/2006/main" noGrp="1"/>
          </p:cNvSpPr>
          <p:nvPr/>
        </p:nvSpPr>
        <p:spPr>
          <a:xfrm xmlns:a="http://schemas.openxmlformats.org/drawingml/2006/main">
            <a:off x="8074152"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1" name="Sus head">
            <a:extLst xmlns:a="http://schemas.openxmlformats.org/drawingml/2006/main">
              <a:ext uri="{FF2B5EF4-FFF2-40B4-BE49-F238E27FC236}">
                <a16:creationId xmlns:a16="http://schemas.microsoft.com/office/drawing/2014/main" id="{CF69F010-B67A-4180-8C61-CD73CCBAA9A6}"/>
              </a:ext>
            </a:extLst>
          </p:cNvPr>
          <p:cNvSpPr>
            <a:spLocks xmlns:a="http://schemas.openxmlformats.org/drawingml/2006/main" noGrp="1"/>
          </p:cNvSpPr>
          <p:nvPr/>
        </p:nvSpPr>
        <p:spPr>
          <a:xfrm xmlns:a="http://schemas.openxmlformats.org/drawingml/2006/main">
            <a:off x="8348472"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SUSTAINABILITY</a:t>
            </a:r>
            <a:endParaRPr sz="1500"/>
          </a:p>
        </p:txBody>
      </p:sp>
      <p:sp>
        <p:nvSpPr>
          <p:cNvPr id="12" name="Sus body">
            <a:extLst xmlns:a="http://schemas.openxmlformats.org/drawingml/2006/main">
              <a:ext uri="{FF2B5EF4-FFF2-40B4-BE49-F238E27FC236}">
                <a16:creationId xmlns:a16="http://schemas.microsoft.com/office/drawing/2014/main" id="{1D440CB4-778C-42D3-AA08-961991B65639}"/>
              </a:ext>
            </a:extLst>
          </p:cNvPr>
          <p:cNvSpPr>
            <a:spLocks xmlns:a="http://schemas.openxmlformats.org/drawingml/2006/main" noGrp="1"/>
          </p:cNvSpPr>
          <p:nvPr/>
        </p:nvSpPr>
        <p:spPr>
          <a:xfrm xmlns:a="http://schemas.openxmlformats.org/drawingml/2006/main">
            <a:off x="8348472"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Proposed: pilot with one team</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Add source connectors as needed</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Measure cost and update speed before scaling</a:t>
            </a:r>
            <a:endParaRPr sz="1400"/>
          </a:p>
        </p:txBody>
      </p:sp>
      <p:sp>
        <p:nvSpPr>
          <p:cNvPr id="25" name="Slide Number Placeholder 0">
            <a:extLst xmlns:a="http://schemas.openxmlformats.org/drawingml/2006/main">
              <a:ext uri="{FF2B5EF4-FFF2-40B4-BE49-F238E27FC236}">
                <a16:creationId xmlns:a16="http://schemas.microsoft.com/office/drawing/2014/main" id="{8972E406-BFF5-4FD0-9108-DA023FA88ADF}"/>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7</a:t>
            </a:fld>
            <a:endParaRPr/>
          </a:p>
        </p:txBody>
      </p:sp>
    </p:spTree>
    <p:extLst>
      <p:ext uri="{BB962C8B-B14F-4D97-AF65-F5344CB8AC3E}">
        <p14:creationId xmlns:p14="http://schemas.microsoft.com/office/powerpoint/2010/main" val="57078392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7B406E3-FBB9-40B8-B1B8-94683ACC8954}"/>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RESEARCH AND REFERENCES</a:t>
            </a:r>
            <a:endParaRPr sz="3600"/>
          </a:p>
        </p:txBody>
      </p:sp>
      <p:sp>
        <p:nvSpPr>
          <p:cNvPr id="3" name="Team tag">
            <a:extLst xmlns:a="http://schemas.openxmlformats.org/drawingml/2006/main">
              <a:ext uri="{FF2B5EF4-FFF2-40B4-BE49-F238E27FC236}">
                <a16:creationId xmlns:a16="http://schemas.microsoft.com/office/drawing/2014/main" id="{12E3B3E9-A06D-4113-890F-A7D2DC38C7A1}"/>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References card">
            <a:extLst xmlns:a="http://schemas.openxmlformats.org/drawingml/2006/main">
              <a:ext uri="{FF2B5EF4-FFF2-40B4-BE49-F238E27FC236}">
                <a16:creationId xmlns:a16="http://schemas.microsoft.com/office/drawing/2014/main" id="{025D9C11-FCF2-4428-BE6B-4C4EDAD1C452}"/>
              </a:ext>
            </a:extLst>
          </p:cNvPr>
          <p:cNvSpPr>
            <a:spLocks xmlns:a="http://schemas.openxmlformats.org/drawingml/2006/main" noGrp="1"/>
          </p:cNvSpPr>
          <p:nvPr/>
        </p:nvSpPr>
        <p:spPr>
          <a:xfrm xmlns:a="http://schemas.openxmlformats.org/drawingml/2006/main">
            <a:off x="457200" y="1691640"/>
            <a:ext cx="11274552" cy="4434840"/>
          </a:xfrm>
          <a:prstGeom xmlns:a="http://schemas.openxmlformats.org/drawingml/2006/main" prst="roundRect">
            <a:avLst>
              <a:gd name="adj" fmla="val 2474"/>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Ref head">
            <a:extLst xmlns:a="http://schemas.openxmlformats.org/drawingml/2006/main">
              <a:ext uri="{FF2B5EF4-FFF2-40B4-BE49-F238E27FC236}">
                <a16:creationId xmlns:a16="http://schemas.microsoft.com/office/drawing/2014/main" id="{3C6BB596-438D-4804-8097-4F3E494175CF}"/>
              </a:ext>
            </a:extLst>
          </p:cNvPr>
          <p:cNvSpPr>
            <a:spLocks xmlns:a="http://schemas.openxmlformats.org/drawingml/2006/main" noGrp="1"/>
          </p:cNvSpPr>
          <p:nvPr/>
        </p:nvSpPr>
        <p:spPr>
          <a:xfrm xmlns:a="http://schemas.openxmlformats.org/drawingml/2006/main">
            <a:off x="731520" y="1874520"/>
            <a:ext cx="10515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KEY TECH &amp; RESEARCH SOURCES</a:t>
            </a:r>
            <a:endParaRPr sz="1500"/>
          </a:p>
        </p:txBody>
      </p:sp>
      <p:sp>
        <p:nvSpPr>
          <p:cNvPr id="6" name="Ref body">
            <a:extLst xmlns:a="http://schemas.openxmlformats.org/drawingml/2006/main">
              <a:ext uri="{FF2B5EF4-FFF2-40B4-BE49-F238E27FC236}">
                <a16:creationId xmlns:a16="http://schemas.microsoft.com/office/drawing/2014/main" id="{B323AC0B-2051-4D78-939A-C98883EE891C}"/>
              </a:ext>
            </a:extLst>
          </p:cNvPr>
          <p:cNvSpPr>
            <a:spLocks xmlns:a="http://schemas.openxmlformats.org/drawingml/2006/main" noGrp="1"/>
          </p:cNvSpPr>
          <p:nvPr/>
        </p:nvSpPr>
        <p:spPr>
          <a:xfrm xmlns:a="http://schemas.openxmlformats.org/drawingml/2006/main">
            <a:off x="731520" y="2377440"/>
            <a:ext cx="1069848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600">
                <a:solidFill>
                  <a:srgbClr val="FFFFFF"/>
                </a:solidFill>
                <a:latin typeface="Calibri"/>
                <a:ea typeface="Calibri"/>
                <a:cs typeface="Calibri"/>
              </a:defRPr>
            </a:defPPr>
            <a:lvl1pPr algn="l">
              <a:defRPr sz="1600">
                <a:solidFill>
                  <a:srgbClr val="FFFFFF"/>
                </a:solidFill>
                <a:latin typeface="Calibri"/>
                <a:ea typeface="Calibri"/>
                <a:cs typeface="Calibri"/>
              </a:defRPr>
            </a:lvl1pPr>
            <a:lvl2pPr algn="l">
              <a:defRPr sz="1600">
                <a:solidFill>
                  <a:srgbClr val="FFFFFF"/>
                </a:solidFill>
                <a:latin typeface="Calibri"/>
                <a:ea typeface="Calibri"/>
                <a:cs typeface="Calibri"/>
              </a:defRPr>
            </a:lvl2pPr>
            <a:lvl3pPr algn="l">
              <a:defRPr sz="1600">
                <a:solidFill>
                  <a:srgbClr val="FFFFFF"/>
                </a:solidFill>
                <a:latin typeface="Calibri"/>
                <a:ea typeface="Calibri"/>
                <a:cs typeface="Calibri"/>
              </a:defRPr>
            </a:lvl3pPr>
            <a:lvl4pPr algn="l">
              <a:defRPr sz="1600">
                <a:solidFill>
                  <a:srgbClr val="FFFFFF"/>
                </a:solidFill>
                <a:latin typeface="Calibri"/>
                <a:ea typeface="Calibri"/>
                <a:cs typeface="Calibri"/>
              </a:defRPr>
            </a:lvl4pPr>
            <a:lvl5pPr algn="l">
              <a:defRPr sz="1600">
                <a:solidFill>
                  <a:srgbClr val="FFFFFF"/>
                </a:solidFill>
                <a:latin typeface="Calibri"/>
                <a:ea typeface="Calibri"/>
                <a:cs typeface="Calibri"/>
              </a:defRPr>
            </a:lvl5pPr>
            <a:lvl6pPr algn="l">
              <a:defRPr sz="1600">
                <a:solidFill>
                  <a:srgbClr val="FFFFFF"/>
                </a:solidFill>
                <a:latin typeface="Calibri"/>
                <a:ea typeface="Calibri"/>
                <a:cs typeface="Calibri"/>
              </a:defRPr>
            </a:lvl6pPr>
            <a:lvl7pPr algn="l">
              <a:defRPr sz="1600">
                <a:solidFill>
                  <a:srgbClr val="FFFFFF"/>
                </a:solidFill>
                <a:latin typeface="Calibri"/>
                <a:ea typeface="Calibri"/>
                <a:cs typeface="Calibri"/>
              </a:defRPr>
            </a:lvl7pPr>
            <a:lvl8pPr algn="l">
              <a:defRPr sz="1600">
                <a:solidFill>
                  <a:srgbClr val="FFFFFF"/>
                </a:solidFill>
                <a:latin typeface="Calibri"/>
                <a:ea typeface="Calibri"/>
                <a:cs typeface="Calibri"/>
              </a:defRPr>
            </a:lvl8pPr>
            <a:lvl9pPr algn="l">
              <a:defRPr sz="1600">
                <a:solidFill>
                  <a:srgbClr val="FFFFFF"/>
                </a:solidFill>
                <a:latin typeface="Calibri"/>
                <a:ea typeface="Calibri"/>
                <a:cs typeface="Calibri"/>
              </a:defRPr>
            </a:lvl9pPr>
          </a:lstStyle>
          <a:p xmlns:a="http://schemas.openxmlformats.org/drawingml/2006/main">
            <a:pPr marL="342900" indent="-342900" algn="l">
              <a:spcAft>
                <a:spcPts val="600"/>
              </a:spcAft>
              <a:buChar char="•"/>
              <a:defRPr sz="1600">
                <a:solidFill>
                  <a:srgbClr val="FFFFFF"/>
                </a:solidFill>
                <a:latin typeface="Calibri"/>
                <a:ea typeface="Calibri"/>
                <a:cs typeface="Calibri"/>
              </a:defRPr>
            </a:pPr>
            <a:r>
              <a:rPr sz="1600">
                <a:solidFill>
                  <a:srgbClr val="FFFFFF"/>
                </a:solidFill>
                <a:latin typeface="Calibri"/>
                <a:ea typeface="Calibri"/>
                <a:cs typeface="Calibri"/>
              </a:rPr>
              <a:t>README.md — architecture, setup and Phase 2 API</a:t>
            </a:r>
          </a:p>
          <a:p xmlns:a="http://schemas.openxmlformats.org/drawingml/2006/main">
            <a:pPr marL="342900" indent="-342900" algn="l">
              <a:spcAft>
                <a:spcPts val="600"/>
              </a:spcAft>
              <a:buChar char="•"/>
              <a:defRPr sz="1600">
                <a:solidFill>
                  <a:srgbClr val="FFFFFF"/>
                </a:solidFill>
                <a:latin typeface="Calibri"/>
                <a:ea typeface="Calibri"/>
                <a:cs typeface="Calibri"/>
              </a:defRPr>
            </a:pPr>
            <a:r>
              <a:rPr sz="1600">
                <a:solidFill>
                  <a:srgbClr val="FFFFFF"/>
                </a:solidFill>
                <a:latin typeface="Calibri"/>
                <a:ea typeface="Calibri"/>
                <a:cs typeface="Calibri"/>
              </a:rPr>
              <a:t>document_store.py + graph_engine.py — index and graph updates</a:t>
            </a:r>
          </a:p>
          <a:p xmlns:a="http://schemas.openxmlformats.org/drawingml/2006/main">
            <a:pPr marL="342900" indent="-342900" algn="l">
              <a:spcAft>
                <a:spcPts val="600"/>
              </a:spcAft>
              <a:buChar char="•"/>
              <a:defRPr sz="1600">
                <a:solidFill>
                  <a:srgbClr val="FFFFFF"/>
                </a:solidFill>
                <a:latin typeface="Calibri"/>
                <a:ea typeface="Calibri"/>
                <a:cs typeface="Calibri"/>
              </a:defRPr>
            </a:pPr>
            <a:r>
              <a:rPr sz="1600">
                <a:solidFill>
                  <a:srgbClr val="FFFFFF"/>
                </a:solidFill>
                <a:latin typeface="Calibri"/>
                <a:ea typeface="Calibri"/>
                <a:cs typeface="Calibri"/>
              </a:rPr>
              <a:t>validation_engine.py — evidence paths and conflict answers</a:t>
            </a:r>
          </a:p>
          <a:p xmlns:a="http://schemas.openxmlformats.org/drawingml/2006/main">
            <a:pPr marL="342900" indent="-342900" algn="l">
              <a:spcAft>
                <a:spcPts val="600"/>
              </a:spcAft>
              <a:buChar char="•"/>
              <a:defRPr sz="1600">
                <a:solidFill>
                  <a:srgbClr val="FFFFFF"/>
                </a:solidFill>
                <a:latin typeface="Calibri"/>
                <a:ea typeface="Calibri"/>
                <a:cs typeface="Calibri"/>
              </a:defRPr>
            </a:pPr>
            <a:r>
              <a:rPr sz="1600">
                <a:solidFill>
                  <a:srgbClr val="FFFFFF"/>
                </a:solidFill>
                <a:latin typeface="Calibri"/>
                <a:ea typeface="Calibri"/>
                <a:cs typeface="Calibri"/>
              </a:rPr>
              <a:t>test_phase2_documents.py — 500 docs, conflicts, injection and Hindi checks</a:t>
            </a:r>
          </a:p>
          <a:p xmlns:a="http://schemas.openxmlformats.org/drawingml/2006/main">
            <a:pPr marL="342900" indent="-342900" algn="l">
              <a:spcAft>
                <a:spcPts val="600"/>
              </a:spcAft>
              <a:buChar char="•"/>
              <a:defRPr sz="1600">
                <a:solidFill>
                  <a:srgbClr val="FFFFFF"/>
                </a:solidFill>
                <a:latin typeface="Calibri"/>
                <a:ea typeface="Calibri"/>
                <a:cs typeface="Calibri"/>
              </a:defRPr>
            </a:pPr>
            <a:r>
              <a:rPr sz="1600">
                <a:solidFill>
                  <a:srgbClr val="FFFFFF"/>
                </a:solidFill>
                <a:latin typeface="Calibri"/>
                <a:ea typeface="Calibri"/>
                <a:cs typeface="Calibri"/>
              </a:rPr>
              <a:t>Live app: </a:t>
            </a:r>
            <a:r>
              <a:rPr sz="1600" u="sng">
                <a:solidFill>
                  <a:srgbClr val="FFFFFF"/>
                </a:solidFill>
                <a:latin typeface="Calibri"/>
                <a:ea typeface="Calibri"/>
                <a:cs typeface="Calibri"/>
                <a:hlinkClick xmlns:r="http://schemas.openxmlformats.org/officeDocument/2006/relationships" r:id="Rc285f021440748cd"/>
              </a:rPr>
              <a:t>https://data-trust-ai-26.vercel.app/</a:t>
            </a:r>
          </a:p>
          <a:p xmlns:a="http://schemas.openxmlformats.org/drawingml/2006/main">
            <a:pPr marL="342900" indent="-342900" algn="l">
              <a:spcAft>
                <a:spcPts val="600"/>
              </a:spcAft>
              <a:buChar char="•"/>
              <a:defRPr sz="1600">
                <a:solidFill>
                  <a:srgbClr val="FFFFFF"/>
                </a:solidFill>
                <a:latin typeface="Calibri"/>
                <a:ea typeface="Calibri"/>
                <a:cs typeface="Calibri"/>
              </a:defRPr>
            </a:pPr>
            <a:r>
              <a:rPr sz="1600">
                <a:solidFill>
                  <a:srgbClr val="FFFFFF"/>
                </a:solidFill>
                <a:latin typeface="Calibri"/>
                <a:ea typeface="Calibri"/>
                <a:cs typeface="Calibri"/>
              </a:rPr>
              <a:t>Vercel project: </a:t>
            </a:r>
            <a:r>
              <a:rPr sz="1600" u="sng">
                <a:solidFill>
                  <a:srgbClr val="FFFFFF"/>
                </a:solidFill>
                <a:latin typeface="Calibri"/>
                <a:ea typeface="Calibri"/>
                <a:cs typeface="Calibri"/>
                <a:hlinkClick xmlns:r="http://schemas.openxmlformats.org/officeDocument/2006/relationships" r:id="Rd030ec586761432e"/>
              </a:rPr>
              <a:t>https://vercel.com/kc100official-cmds-projects/data-trust-ai-26</a:t>
            </a:r>
          </a:p>
        </p:txBody>
      </p:sp>
      <p:sp>
        <p:nvSpPr>
          <p:cNvPr id="25" name="Slide Number Placeholder 0">
            <a:extLst xmlns:a="http://schemas.openxmlformats.org/drawingml/2006/main">
              <a:ext uri="{FF2B5EF4-FFF2-40B4-BE49-F238E27FC236}">
                <a16:creationId xmlns:a16="http://schemas.microsoft.com/office/drawing/2014/main" id="{C30F8C26-0289-42B7-9517-86DB47617212}"/>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8</a:t>
            </a:fld>
            <a:endParaRPr/>
          </a:p>
        </p:txBody>
      </p:sp>
    </p:spTree>
    <p:extLst>
      <p:ext uri="{BB962C8B-B14F-4D97-AF65-F5344CB8AC3E}">
        <p14:creationId xmlns:p14="http://schemas.microsoft.com/office/powerpoint/2010/main" val="66526951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20CE40EB-F91E-46CE-88FA-AACCBB2FEB63}"/>
              </a:ext>
            </a:extLst>
          </p:cNvPr>
          <p:cNvPicPr>
            <a:picLocks xmlns:a="http://schemas.openxmlformats.org/drawingml/2006/main" noChangeAspect="1"/>
          </p:cNvPicPr>
          <p:nvPr/>
        </p:nvPicPr>
        <p:blipFill>
          <a:blip xmlns:r="http://schemas.openxmlformats.org/officeDocument/2006/relationships" xmlns:a="http://schemas.openxmlformats.org/drawingml/2006/main" r:embed="R6891a80776614e44"/>
          <a:stretch xmlns:a="http://schemas.openxmlformats.org/drawingml/2006/main">
            <a:fillRect l="0" t="0" r="0" b="0"/>
          </a:stretch>
        </p:blipFill>
        <p:spPr>
          <a:xfrm xmlns:a="http://schemas.openxmlformats.org/drawingml/2006/main">
            <a:off x="548640" y="1828800"/>
            <a:ext cx="4754880" cy="216377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CDED595D-A33E-48DB-8CD9-81E8CDF1D4F2}"/>
              </a:ext>
            </a:extLst>
          </p:cNvPr>
          <p:cNvSpPr>
            <a:spLocks xmlns:a="http://schemas.openxmlformats.org/drawingml/2006/main" noGrp="1"/>
          </p:cNvSpPr>
          <p:nvPr/>
        </p:nvSpPr>
        <p:spPr>
          <a:xfrm xmlns:a="http://schemas.openxmlformats.org/drawingml/2006/main">
            <a:off x="548640" y="4297680"/>
            <a:ext cx="7315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spc="400">
                <a:solidFill>
                  <a:srgbClr val="FFFFFF"/>
                </a:solidFill>
                <a:latin typeface="Arial"/>
                <a:ea typeface="Arial"/>
                <a:cs typeface="Arial"/>
              </a:rPr>
              <a:t>THANK YOU</a:t>
            </a:r>
            <a:endParaRPr sz="4400"/>
          </a:p>
        </p:txBody>
      </p:sp>
      <p:sp>
        <p:nvSpPr>
          <p:cNvPr id="4" name="Text 1">
            <a:extLst xmlns:a="http://schemas.openxmlformats.org/drawingml/2006/main">
              <a:ext uri="{FF2B5EF4-FFF2-40B4-BE49-F238E27FC236}">
                <a16:creationId xmlns:a16="http://schemas.microsoft.com/office/drawing/2014/main" id="{6F27D164-6D56-42F1-806F-C6E437DAC0C1}"/>
              </a:ext>
            </a:extLst>
          </p:cNvPr>
          <p:cNvSpPr>
            <a:spLocks xmlns:a="http://schemas.openxmlformats.org/drawingml/2006/main" noGrp="1"/>
          </p:cNvSpPr>
          <p:nvPr/>
        </p:nvSpPr>
        <p:spPr>
          <a:xfrm xmlns:a="http://schemas.openxmlformats.org/drawingml/2006/main">
            <a:off x="548640" y="5120640"/>
            <a:ext cx="7315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9CC4FF"/>
                </a:solidFill>
                <a:latin typeface="Calibri"/>
                <a:ea typeface="Calibri"/>
                <a:cs typeface="Calibri"/>
              </a:rPr>
              <a:t>DataTrust AI  |  Team ID: not provided  |  Contact: not provided</a:t>
            </a:r>
            <a:endParaRPr sz="1600"/>
          </a:p>
        </p:txBody>
      </p:sp>
      <p:sp>
        <p:nvSpPr>
          <p:cNvPr id="5" name="Text 2">
            <a:extLst xmlns:a="http://schemas.openxmlformats.org/drawingml/2006/main">
              <a:ext uri="{FF2B5EF4-FFF2-40B4-BE49-F238E27FC236}">
                <a16:creationId xmlns:a16="http://schemas.microsoft.com/office/drawing/2014/main" id="{9DB75615-C4E7-4E16-B86E-87DAAAABCCCC}"/>
              </a:ext>
            </a:extLst>
          </p:cNvPr>
          <p:cNvSpPr>
            <a:spLocks xmlns:a="http://schemas.openxmlformats.org/drawingml/2006/main" noGrp="1"/>
          </p:cNvSpPr>
          <p:nvPr/>
        </p:nvSpPr>
        <p:spPr>
          <a:xfrm xmlns:a="http://schemas.openxmlformats.org/drawingml/2006/main">
            <a:off x="548640" y="6035040"/>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500">
                <a:solidFill>
                  <a:srgbClr val="4DA3FF"/>
                </a:solidFill>
                <a:latin typeface="Arial"/>
                <a:ea typeface="Arial"/>
                <a:cs typeface="Arial"/>
              </a:rPr>
              <a:t>CREATE / AN / IMPACT</a:t>
            </a:r>
            <a:endParaRPr sz="1300"/>
          </a:p>
        </p:txBody>
      </p:sp>
    </p:spTree>
    <p:extLst>
      <p:ext uri="{BB962C8B-B14F-4D97-AF65-F5344CB8AC3E}">
        <p14:creationId xmlns:p14="http://schemas.microsoft.com/office/powerpoint/2010/main" val="2110246639"/>
      </p:ext>
    </p:extLst>
  </p:cSld>
</p:sld>
</file>

<file path=ppt/theme/theme1.xml><?xml version="1.0" encoding="utf-8"?>
<a:theme xmlns:a="http://schemas.openxmlformats.org/drawingml/2006/main" name="Hypnexis">
  <a:themeElements>
    <a:clrScheme name="Hypnexis">
      <a:dk1>
        <a:srgbClr val="040A20"/>
      </a:dk1>
      <a:lt1>
        <a:srgbClr val="FFFFFF"/>
      </a:lt1>
      <a:dk2>
        <a:srgbClr val="0B1A4A"/>
      </a:dk2>
      <a:lt2>
        <a:srgbClr val="CFE0FF"/>
      </a:lt2>
      <a:accent1>
        <a:srgbClr val="1E5BFF"/>
      </a:accent1>
      <a:accent2>
        <a:srgbClr val="4DA3FF"/>
      </a:accent2>
      <a:accent3>
        <a:srgbClr val="0A2A8F"/>
      </a:accent3>
      <a:accent4>
        <a:srgbClr val="9CC4FF"/>
      </a:accent4>
      <a:accent5>
        <a:srgbClr val="6C8CFF"/>
      </a:accent5>
      <a:accent6>
        <a:srgbClr val="00C2FF"/>
      </a:accent6>
      <a:hlink>
        <a:srgbClr val="4DA3FF"/>
      </a:hlink>
      <a:folHlink>
        <a:srgbClr val="9CC4FF"/>
      </a:folHlink>
    </a:clrScheme>
    <a:fontScheme name="Hypnex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Hypnexi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2026-10-24T14:56:32.9740000Z</dcterms:created>
  <dcterms:modified xsi:type="dcterms:W3CDTF">2026-10-24T14:56:32.9740000Z</dcterms:modified>
</coreProperties>
</file>