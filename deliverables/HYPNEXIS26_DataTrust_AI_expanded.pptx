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9144000"/>
  <p:defaultText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94" d="100"/>
          <a:sy n="94" d="100"/>
        </p:scale>
        <p:origin x="586" y="7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title is a concise description of the user-supplied Phase 2 extension. Team ID, official problem statement ID, and contact details were not included in the source materials.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(Phase 2 section); backend/app/document_store.py; backend/app/graph_engine.py; backend/tests/test_phase2_documents.py. The 7.7-second result is from an isolated local test database with 500 generated input documents. The graph total includes four seeded sample documents.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(Architecture Overview and Phase 2); backend/app/document_safety.py; backend/app/document_store.py; backend/app/graph_engine.py; backend/app/retrieval_engine.py; backend/app/validation_engine.py.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frontend/src/App.tsx; frontend/src/components/DataStudioView.tsx; frontend/src/components/EvidencePathReplayPanel.tsx. The user flow summarizes the current local application behavior.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README.md (Quick Start and Phase 2); backend/app/main.py; backend/app/models.py; backend/app/document_store.py; backend/app/graph_engine.py. This deck describes the local prototype; operational constraints are identified as implementation limits.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Measured result: 500 generated documents ingested in 7,675.74 ms in an isolated local test run; resulting graph size was 504 documents, 539 entities, and 40 relationships. The 504 document total includes four sample documents. Injection filtering was exercised with 21 planted instruction strings. No energy or carbon measurements were made. Source: backend/tests/test_phase2_documents.py and local benchmark response.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deployment and revenue model on this slide is a proposal for future pilots, not current revenue or a confirmed commercial plan.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 references are project source files; no external research claims were added. The benchmark is synthetic and should not be presented as a production-corpus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Team ID and contact information were not supplied and are marked accordingly.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HYPNEXIS_TITLE">
    <p:bg>
      <p:bgPr>
        <a:blipFill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HYPNEXIS_CONTENT">
    <p:bg>
      <p:bgPr>
        <a:blipFill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1CAAE12D-5083-4C8F-9119-5531D7ABE28E}"/>
              </a:ext>
            </a:extLst>
          </p:cNvPr>
          <p:cNvPicPr>
            <a:picLocks noChangeAspect="1"/>
          </p:cNvPicPr>
          <p:nvPr/>
        </p:nvPicPr>
        <p:blipFill>
          <a:blip r:embed="rId3"/>
          <a:stretch>
            <a:fillRect/>
          </a:stretch>
        </p:blipFill>
        <p:spPr>
          <a:xfrm>
            <a:off x="457200" y="292608"/>
            <a:ext cx="1105163" cy="502920"/>
          </a:xfrm>
          <a:prstGeom prst="rect">
            <a:avLst/>
          </a:prstGeom>
        </p:spPr>
      </p:pic>
      <p:sp>
        <p:nvSpPr>
          <p:cNvPr id="3" name="Text 0">
            <a:extLst>
              <a:ext uri="{FF2B5EF4-FFF2-40B4-BE49-F238E27FC236}">
                <a16:creationId xmlns:a16="http://schemas.microsoft.com/office/drawing/2014/main" id="{93C7982D-3483-4FAA-A050-451DFF207BC2}"/>
              </a:ext>
            </a:extLst>
          </p:cNvPr>
          <p:cNvSpPr>
            <a:spLocks noGrp="1"/>
          </p:cNvSpPr>
          <p:nvPr/>
        </p:nvSpPr>
        <p:spPr>
          <a:xfrm>
            <a:off x="2926080" y="365760"/>
            <a:ext cx="8778240" cy="365760"/>
          </a:xfrm>
          <a:prstGeom prst="rect">
            <a:avLst/>
          </a:prstGeom>
          <a:noFill/>
        </p:spPr>
        <p:txBody>
          <a:bodyPr wrap="square" lIns="0" tIns="0" rIns="0" bIns="0" anchor="ctr"/>
          <a:lstStyle/>
          <a:p>
            <a:pPr marL="0" indent="0" algn="r">
              <a:buNone/>
            </a:pPr>
            <a:r>
              <a:rPr sz="1100" spc="300">
                <a:solidFill>
                  <a:srgbClr val="9CC4FF"/>
                </a:solidFill>
                <a:latin typeface="Arial"/>
                <a:ea typeface="Arial"/>
                <a:cs typeface="Arial"/>
              </a:rPr>
              <a:t>36-HOUR HACKATHON  |  24–25 OCTOBER 2026  |  MANIPAL UNIVERSITY JAIPUR</a:t>
            </a:r>
            <a:endParaRPr sz="1100"/>
          </a:p>
        </p:txBody>
      </p:sp>
      <p:sp>
        <p:nvSpPr>
          <p:cNvPr id="4" name="Shape 1">
            <a:extLst>
              <a:ext uri="{FF2B5EF4-FFF2-40B4-BE49-F238E27FC236}">
                <a16:creationId xmlns:a16="http://schemas.microsoft.com/office/drawing/2014/main" id="{1CD84AFF-29BA-4F49-B24B-61A567CBA20D}"/>
              </a:ext>
            </a:extLst>
          </p:cNvPr>
          <p:cNvSpPr>
            <a:spLocks noGrp="1"/>
          </p:cNvSpPr>
          <p:nvPr/>
        </p:nvSpPr>
        <p:spPr>
          <a:xfrm>
            <a:off x="457200" y="6355080"/>
            <a:ext cx="11274552" cy="9144"/>
          </a:xfrm>
          <a:prstGeom prst="rect">
            <a:avLst/>
          </a:prstGeom>
          <a:solidFill>
            <a:srgbClr val="1E5BFF">
              <a:alpha val="50000"/>
            </a:srgbClr>
          </a:solidFill>
        </p:spPr>
      </p:sp>
      <p:sp>
        <p:nvSpPr>
          <p:cNvPr id="5" name="Text 2">
            <a:extLst>
              <a:ext uri="{FF2B5EF4-FFF2-40B4-BE49-F238E27FC236}">
                <a16:creationId xmlns:a16="http://schemas.microsoft.com/office/drawing/2014/main" id="{7E4BE5D0-489E-4CD5-974B-C8975701175A}"/>
              </a:ext>
            </a:extLst>
          </p:cNvPr>
          <p:cNvSpPr>
            <a:spLocks noGrp="1"/>
          </p:cNvSpPr>
          <p:nvPr/>
        </p:nvSpPr>
        <p:spPr>
          <a:xfrm>
            <a:off x="457200" y="6428232"/>
            <a:ext cx="8229600" cy="274320"/>
          </a:xfrm>
          <a:prstGeom prst="rect">
            <a:avLst/>
          </a:prstGeom>
          <a:noFill/>
        </p:spPr>
        <p:txBody>
          <a:bodyPr wrap="square" lIns="0" tIns="0" rIns="0" bIns="0" anchor="ctr"/>
          <a:lstStyle/>
          <a:p>
            <a:pPr marL="0" indent="0">
              <a:buNone/>
            </a:pPr>
            <a:r>
              <a:rPr sz="1000">
                <a:solidFill>
                  <a:srgbClr val="9CC4FF"/>
                </a:solidFill>
                <a:latin typeface="Calibri"/>
                <a:ea typeface="Calibri"/>
                <a:cs typeface="Calibri"/>
              </a:rPr>
              <a:t>Department of Computer and Communications Engineering  •  Manipal University Jaipur</a:t>
            </a:r>
            <a:endParaRPr sz="1000"/>
          </a:p>
        </p:txBody>
      </p:sp>
      <p:sp>
        <p:nvSpPr>
          <p:cNvPr id="25" name="Slide Number Placeholder 0">
            <a:extLst>
              <a:ext uri="{FF2B5EF4-FFF2-40B4-BE49-F238E27FC236}">
                <a16:creationId xmlns:a16="http://schemas.microsoft.com/office/drawing/2014/main" id="{51DB9800-8A78-4D8F-BEDE-4F8240E59459}"/>
              </a:ext>
            </a:extLst>
          </p:cNvPr>
          <p:cNvSpPr>
            <a:spLocks noGrp="1"/>
          </p:cNvSpPr>
          <p:nvPr>
            <p:ph type="sldNum" idx="4294967295"/>
          </p:nvPr>
        </p:nvSpPr>
        <p:spPr>
          <a:xfrm>
            <a:off x="11155680" y="6428232"/>
            <a:ext cx="576072" cy="274320"/>
          </a:xfrm>
          <a:prstGeom prst="rect">
            <a:avLst/>
          </a:prstGeom>
        </p:spPr>
        <p:txBody>
          <a:bodyPr/>
          <a:lstStyle>
            <a:lvl1pPr>
              <a:buNone/>
              <a:defRPr sz="1000">
                <a:solidFill>
                  <a:srgbClr val="9CC4FF"/>
                </a:solidFill>
                <a:latin typeface="Arial"/>
                <a:ea typeface="Arial"/>
                <a:cs typeface="Arial"/>
              </a:defRPr>
            </a:lvl1pPr>
          </a:lstStyle>
          <a:p>
            <a:pPr algn="r">
              <a:buNone/>
            </a:pPr>
            <a:fld id="{F7021451-1387-4CA6-816F-3879F97B5CBC}" type="slidenum">
              <a:rPr b="0"/>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HYPNEXIS_SECTION">
    <p:bg>
      <p:bgPr>
        <a:blipFill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A5FD61DB-A978-4137-8A46-CC3EEFFA9277}"/>
              </a:ext>
            </a:extLst>
          </p:cNvPr>
          <p:cNvPicPr>
            <a:picLocks noChangeAspect="1"/>
          </p:cNvPicPr>
          <p:nvPr/>
        </p:nvPicPr>
        <p:blipFill>
          <a:blip r:embed="rId3"/>
          <a:stretch>
            <a:fillRect/>
          </a:stretch>
        </p:blipFill>
        <p:spPr>
          <a:xfrm>
            <a:off x="457200" y="292608"/>
            <a:ext cx="1005840" cy="45720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a:extLst>
              <a:ext uri="{FF2B5EF4-FFF2-40B4-BE49-F238E27FC236}">
                <a16:creationId xmlns:a16="http://schemas.microsoft.com/office/drawing/2014/main" id="{D0DBC955-8C1C-4A06-AE5B-250E81D1B601}"/>
              </a:ext>
            </a:extLst>
          </p:cNvPr>
          <p:cNvSpPr>
            <a:spLocks noGrp="1"/>
          </p:cNvSpPr>
          <p:nvPr>
            <p:ph type="sldNum" idx="4294967295"/>
          </p:nvPr>
        </p:nvSpPr>
        <p:spPr>
          <a:xfrm>
            <a:off x="11155680" y="6428232"/>
            <a:ext cx="576072" cy="274320"/>
          </a:xfrm>
          <a:prstGeom prst="rect">
            <a:avLst/>
          </a:prstGeom>
        </p:spPr>
        <p:txBody>
          <a:bodyPr/>
          <a:lstStyle>
            <a:lvl1pPr>
              <a:buNone/>
              <a:defRPr sz="1000">
                <a:solidFill>
                  <a:srgbClr val="9CC4FF"/>
                </a:solidFill>
                <a:latin typeface="Arial"/>
                <a:ea typeface="Arial"/>
                <a:cs typeface="Arial"/>
              </a:defRPr>
            </a:lvl1pPr>
          </a:lstStyle>
          <a:p>
            <a:pPr algn="r">
              <a:buNone/>
            </a:pPr>
            <a:fld id="{F7021451-1387-4CA6-816F-3879F97B5CBC}" type="slidenum">
              <a:rPr b="0"/>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hyperlink" Target="https://data-trust-ai-26.vercel.app/" TargetMode="External"/><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hyperlink" Target="https://vercel.com/kc100official-cmds-projects/data-trust-ai-26"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AEB06D67-1A21-445D-9D7A-097CDE9B041D}"/>
              </a:ext>
            </a:extLst>
          </p:cNvPr>
          <p:cNvSpPr>
            <a:spLocks noGrp="1"/>
          </p:cNvSpPr>
          <p:nvPr/>
        </p:nvSpPr>
        <p:spPr>
          <a:xfrm>
            <a:off x="548640" y="365760"/>
            <a:ext cx="6400800" cy="320040"/>
          </a:xfrm>
          <a:prstGeom prst="rect">
            <a:avLst/>
          </a:prstGeom>
          <a:noFill/>
        </p:spPr>
        <p:txBody>
          <a:bodyPr wrap="square" lIns="0" tIns="0" rIns="0" bIns="0" anchor="ctr"/>
          <a:lstStyle/>
          <a:p>
            <a:pPr marL="0" indent="0">
              <a:buNone/>
            </a:pPr>
            <a:r>
              <a:rPr sz="1400" b="1" spc="400">
                <a:solidFill>
                  <a:srgbClr val="FFFFFF"/>
                </a:solidFill>
                <a:latin typeface="Arial"/>
                <a:ea typeface="Arial"/>
                <a:cs typeface="Arial"/>
              </a:rPr>
              <a:t>MANIPAL UNIVERSITY JAIPUR</a:t>
            </a:r>
            <a:endParaRPr sz="1400"/>
          </a:p>
        </p:txBody>
      </p:sp>
      <p:sp>
        <p:nvSpPr>
          <p:cNvPr id="3" name="Text 1">
            <a:extLst>
              <a:ext uri="{FF2B5EF4-FFF2-40B4-BE49-F238E27FC236}">
                <a16:creationId xmlns:a16="http://schemas.microsoft.com/office/drawing/2014/main" id="{D4D26A88-170B-4C26-BD5D-DE5D6C44ABCF}"/>
              </a:ext>
            </a:extLst>
          </p:cNvPr>
          <p:cNvSpPr>
            <a:spLocks noGrp="1"/>
          </p:cNvSpPr>
          <p:nvPr/>
        </p:nvSpPr>
        <p:spPr>
          <a:xfrm>
            <a:off x="548640" y="685800"/>
            <a:ext cx="7315200" cy="274320"/>
          </a:xfrm>
          <a:prstGeom prst="rect">
            <a:avLst/>
          </a:prstGeom>
          <a:noFill/>
        </p:spPr>
        <p:txBody>
          <a:bodyPr wrap="square" lIns="0" tIns="0" rIns="0" bIns="0" anchor="ctr"/>
          <a:lstStyle/>
          <a:p>
            <a:pPr marL="0" indent="0">
              <a:buNone/>
            </a:pPr>
            <a:r>
              <a:rPr sz="1200">
                <a:solidFill>
                  <a:srgbClr val="9CC4FF"/>
                </a:solidFill>
                <a:latin typeface="Calibri"/>
                <a:ea typeface="Calibri"/>
                <a:cs typeface="Calibri"/>
              </a:rPr>
              <a:t>Department of Computer and Communications Engineering</a:t>
            </a:r>
            <a:endParaRPr sz="1200"/>
          </a:p>
        </p:txBody>
      </p:sp>
      <p:pic>
        <p:nvPicPr>
          <p:cNvPr id="4" name="Image 0">
            <a:extLst>
              <a:ext uri="{FF2B5EF4-FFF2-40B4-BE49-F238E27FC236}">
                <a16:creationId xmlns:a16="http://schemas.microsoft.com/office/drawing/2014/main" id="{E772C84C-D058-40E0-980F-227190D5433D}"/>
              </a:ext>
            </a:extLst>
          </p:cNvPr>
          <p:cNvPicPr>
            <a:picLocks noChangeAspect="1"/>
          </p:cNvPicPr>
          <p:nvPr/>
        </p:nvPicPr>
        <p:blipFill>
          <a:blip r:embed="rId3"/>
          <a:stretch>
            <a:fillRect/>
          </a:stretch>
        </p:blipFill>
        <p:spPr>
          <a:xfrm>
            <a:off x="548640" y="1600200"/>
            <a:ext cx="5120640" cy="2330220"/>
          </a:xfrm>
          <a:prstGeom prst="rect">
            <a:avLst/>
          </a:prstGeom>
        </p:spPr>
      </p:pic>
      <p:sp>
        <p:nvSpPr>
          <p:cNvPr id="5" name="Text 2">
            <a:extLst>
              <a:ext uri="{FF2B5EF4-FFF2-40B4-BE49-F238E27FC236}">
                <a16:creationId xmlns:a16="http://schemas.microsoft.com/office/drawing/2014/main" id="{AC732F80-81C3-4058-9903-F962FAF0752B}"/>
              </a:ext>
            </a:extLst>
          </p:cNvPr>
          <p:cNvSpPr>
            <a:spLocks noGrp="1"/>
          </p:cNvSpPr>
          <p:nvPr/>
        </p:nvSpPr>
        <p:spPr>
          <a:xfrm>
            <a:off x="548640" y="4526280"/>
            <a:ext cx="6400800" cy="320040"/>
          </a:xfrm>
          <a:prstGeom prst="rect">
            <a:avLst/>
          </a:prstGeom>
          <a:noFill/>
        </p:spPr>
        <p:txBody>
          <a:bodyPr wrap="square" lIns="0" tIns="0" rIns="0" bIns="0" anchor="ctr"/>
          <a:lstStyle/>
          <a:p>
            <a:pPr marL="0" indent="0">
              <a:buNone/>
            </a:pPr>
            <a:r>
              <a:rPr sz="1400" b="1" spc="300">
                <a:solidFill>
                  <a:srgbClr val="4DA3FF"/>
                </a:solidFill>
                <a:latin typeface="Arial"/>
                <a:ea typeface="Arial"/>
                <a:cs typeface="Arial"/>
              </a:rPr>
              <a:t>36-HOUR HACKATHON  •  24–25 OCTOBER 2026</a:t>
            </a:r>
            <a:endParaRPr sz="1400"/>
          </a:p>
        </p:txBody>
      </p:sp>
      <p:sp>
        <p:nvSpPr>
          <p:cNvPr id="6" name="Text 3">
            <a:extLst>
              <a:ext uri="{FF2B5EF4-FFF2-40B4-BE49-F238E27FC236}">
                <a16:creationId xmlns:a16="http://schemas.microsoft.com/office/drawing/2014/main" id="{71644C5F-6F57-44BA-B2F0-7A74E654C387}"/>
              </a:ext>
            </a:extLst>
          </p:cNvPr>
          <p:cNvSpPr>
            <a:spLocks noGrp="1"/>
          </p:cNvSpPr>
          <p:nvPr/>
        </p:nvSpPr>
        <p:spPr>
          <a:xfrm>
            <a:off x="548640" y="4892040"/>
            <a:ext cx="6400800" cy="274320"/>
          </a:xfrm>
          <a:prstGeom prst="rect">
            <a:avLst/>
          </a:prstGeom>
          <a:noFill/>
        </p:spPr>
        <p:txBody>
          <a:bodyPr wrap="square" lIns="0" tIns="0" rIns="0" bIns="0" anchor="ctr"/>
          <a:lstStyle/>
          <a:p>
            <a:pPr marL="0" indent="0">
              <a:buNone/>
            </a:pPr>
            <a:r>
              <a:rPr sz="1200" spc="400">
                <a:solidFill>
                  <a:srgbClr val="FFFFFF"/>
                </a:solidFill>
                <a:latin typeface="Arial"/>
                <a:ea typeface="Arial"/>
                <a:cs typeface="Arial"/>
              </a:rPr>
              <a:t>BUILD / INNOVATE / CREATE</a:t>
            </a:r>
            <a:endParaRPr sz="1200"/>
          </a:p>
        </p:txBody>
      </p:sp>
      <p:sp>
        <p:nvSpPr>
          <p:cNvPr id="7" name="Team details card">
            <a:extLst>
              <a:ext uri="{FF2B5EF4-FFF2-40B4-BE49-F238E27FC236}">
                <a16:creationId xmlns:a16="http://schemas.microsoft.com/office/drawing/2014/main" id="{804B443D-8478-4E8D-9C9B-296680864FA9}"/>
              </a:ext>
            </a:extLst>
          </p:cNvPr>
          <p:cNvSpPr>
            <a:spLocks noGrp="1"/>
          </p:cNvSpPr>
          <p:nvPr/>
        </p:nvSpPr>
        <p:spPr>
          <a:xfrm>
            <a:off x="6949440" y="1371600"/>
            <a:ext cx="4754880" cy="4480560"/>
          </a:xfrm>
          <a:prstGeom prst="roundRect">
            <a:avLst>
              <a:gd name="adj" fmla="val 2449"/>
            </a:avLst>
          </a:prstGeom>
          <a:solidFill>
            <a:srgbClr val="0B1A4A">
              <a:alpha val="75000"/>
            </a:srgbClr>
          </a:solidFill>
          <a:ln w="12700">
            <a:solidFill>
              <a:srgbClr val="1E5BFF"/>
            </a:solidFill>
            <a:prstDash val="solid"/>
          </a:ln>
        </p:spPr>
      </p:sp>
      <p:sp>
        <p:nvSpPr>
          <p:cNvPr id="8" name="Text 5">
            <a:extLst>
              <a:ext uri="{FF2B5EF4-FFF2-40B4-BE49-F238E27FC236}">
                <a16:creationId xmlns:a16="http://schemas.microsoft.com/office/drawing/2014/main" id="{8852F30D-068E-44F8-AD5F-9E1E64F28C74}"/>
              </a:ext>
            </a:extLst>
          </p:cNvPr>
          <p:cNvSpPr>
            <a:spLocks noGrp="1"/>
          </p:cNvSpPr>
          <p:nvPr/>
        </p:nvSpPr>
        <p:spPr>
          <a:xfrm>
            <a:off x="7223760" y="1554480"/>
            <a:ext cx="4297680" cy="256032"/>
          </a:xfrm>
          <a:prstGeom prst="rect">
            <a:avLst/>
          </a:prstGeom>
          <a:noFill/>
        </p:spPr>
        <p:txBody>
          <a:bodyPr wrap="square" lIns="0" tIns="0" rIns="0" bIns="0" anchor="ctr"/>
          <a:lstStyle/>
          <a:p>
            <a:pPr marL="0" indent="0">
              <a:buNone/>
            </a:pPr>
            <a:r>
              <a:rPr sz="1100" b="1" spc="200">
                <a:solidFill>
                  <a:srgbClr val="4DA3FF"/>
                </a:solidFill>
                <a:latin typeface="Arial"/>
                <a:ea typeface="Arial"/>
                <a:cs typeface="Arial"/>
              </a:rPr>
              <a:t>TEAM NAME</a:t>
            </a:r>
            <a:endParaRPr sz="1100"/>
          </a:p>
        </p:txBody>
      </p:sp>
      <p:sp>
        <p:nvSpPr>
          <p:cNvPr id="9" name="Text 6">
            <a:extLst>
              <a:ext uri="{FF2B5EF4-FFF2-40B4-BE49-F238E27FC236}">
                <a16:creationId xmlns:a16="http://schemas.microsoft.com/office/drawing/2014/main" id="{84D6079E-40FF-4892-B878-704BA73014E5}"/>
              </a:ext>
            </a:extLst>
          </p:cNvPr>
          <p:cNvSpPr>
            <a:spLocks noGrp="1"/>
          </p:cNvSpPr>
          <p:nvPr/>
        </p:nvSpPr>
        <p:spPr>
          <a:xfrm>
            <a:off x="7223760" y="1801368"/>
            <a:ext cx="4297680" cy="347472"/>
          </a:xfrm>
          <a:prstGeom prst="rect">
            <a:avLst/>
          </a:prstGeom>
          <a:noFill/>
        </p:spPr>
        <p:txBody>
          <a:bodyPr wrap="square" lIns="0" tIns="0" rIns="0" bIns="0" anchor="ctr"/>
          <a:lstStyle/>
          <a:p>
            <a:pPr marL="0" indent="0">
              <a:buNone/>
            </a:pPr>
            <a:r>
              <a:rPr sz="1600">
                <a:solidFill>
                  <a:srgbClr val="FFFFFF"/>
                </a:solidFill>
                <a:latin typeface="Calibri"/>
                <a:ea typeface="Calibri"/>
                <a:cs typeface="Calibri"/>
              </a:rPr>
              <a:t>DataTrust AI</a:t>
            </a:r>
            <a:endParaRPr sz="1600"/>
          </a:p>
        </p:txBody>
      </p:sp>
      <p:sp>
        <p:nvSpPr>
          <p:cNvPr id="10" name="Text 7">
            <a:extLst>
              <a:ext uri="{FF2B5EF4-FFF2-40B4-BE49-F238E27FC236}">
                <a16:creationId xmlns:a16="http://schemas.microsoft.com/office/drawing/2014/main" id="{B0C528E0-94DE-43F1-A7F9-61434F80B540}"/>
              </a:ext>
            </a:extLst>
          </p:cNvPr>
          <p:cNvSpPr>
            <a:spLocks noGrp="1"/>
          </p:cNvSpPr>
          <p:nvPr/>
        </p:nvSpPr>
        <p:spPr>
          <a:xfrm>
            <a:off x="7223760" y="2249424"/>
            <a:ext cx="4297680" cy="256032"/>
          </a:xfrm>
          <a:prstGeom prst="rect">
            <a:avLst/>
          </a:prstGeom>
          <a:noFill/>
        </p:spPr>
        <p:txBody>
          <a:bodyPr wrap="square" lIns="0" tIns="0" rIns="0" bIns="0" anchor="ctr"/>
          <a:lstStyle/>
          <a:p>
            <a:pPr marL="0" indent="0">
              <a:buNone/>
            </a:pPr>
            <a:r>
              <a:rPr sz="1100" b="1" spc="200">
                <a:solidFill>
                  <a:srgbClr val="4DA3FF"/>
                </a:solidFill>
                <a:latin typeface="Arial"/>
                <a:ea typeface="Arial"/>
                <a:cs typeface="Arial"/>
              </a:rPr>
              <a:t>TEAM ID</a:t>
            </a:r>
            <a:endParaRPr sz="1100"/>
          </a:p>
        </p:txBody>
      </p:sp>
      <p:sp>
        <p:nvSpPr>
          <p:cNvPr id="11" name="Text 8">
            <a:extLst>
              <a:ext uri="{FF2B5EF4-FFF2-40B4-BE49-F238E27FC236}">
                <a16:creationId xmlns:a16="http://schemas.microsoft.com/office/drawing/2014/main" id="{72674527-C9B5-424A-AAC3-90163EAD80BA}"/>
              </a:ext>
            </a:extLst>
          </p:cNvPr>
          <p:cNvSpPr>
            <a:spLocks noGrp="1"/>
          </p:cNvSpPr>
          <p:nvPr/>
        </p:nvSpPr>
        <p:spPr>
          <a:xfrm>
            <a:off x="7223760" y="2496312"/>
            <a:ext cx="4297680" cy="347472"/>
          </a:xfrm>
          <a:prstGeom prst="rect">
            <a:avLst/>
          </a:prstGeom>
          <a:noFill/>
        </p:spPr>
        <p:txBody>
          <a:bodyPr wrap="square" lIns="0" tIns="0" rIns="0" bIns="0" anchor="ctr"/>
          <a:lstStyle/>
          <a:p>
            <a:pPr marL="0" indent="0">
              <a:buNone/>
            </a:pPr>
            <a:r>
              <a:rPr sz="1600" dirty="0">
                <a:solidFill>
                  <a:srgbClr val="FFFFFF"/>
                </a:solidFill>
                <a:latin typeface="Calibri"/>
                <a:ea typeface="Calibri"/>
                <a:cs typeface="Calibri"/>
              </a:rPr>
              <a:t>Not provided</a:t>
            </a:r>
            <a:endParaRPr sz="1600" dirty="0"/>
          </a:p>
        </p:txBody>
      </p:sp>
      <p:sp>
        <p:nvSpPr>
          <p:cNvPr id="12" name="Text 9">
            <a:extLst>
              <a:ext uri="{FF2B5EF4-FFF2-40B4-BE49-F238E27FC236}">
                <a16:creationId xmlns:a16="http://schemas.microsoft.com/office/drawing/2014/main" id="{172169E3-1D03-486C-87E4-FBC7061B2FF3}"/>
              </a:ext>
            </a:extLst>
          </p:cNvPr>
          <p:cNvSpPr>
            <a:spLocks noGrp="1"/>
          </p:cNvSpPr>
          <p:nvPr/>
        </p:nvSpPr>
        <p:spPr>
          <a:xfrm>
            <a:off x="7223760" y="2944368"/>
            <a:ext cx="4297680" cy="256032"/>
          </a:xfrm>
          <a:prstGeom prst="rect">
            <a:avLst/>
          </a:prstGeom>
          <a:noFill/>
        </p:spPr>
        <p:txBody>
          <a:bodyPr wrap="square" lIns="0" tIns="0" rIns="0" bIns="0" anchor="ctr"/>
          <a:lstStyle/>
          <a:p>
            <a:pPr marL="0" indent="0">
              <a:buNone/>
            </a:pPr>
            <a:r>
              <a:rPr sz="1100" b="1" spc="200">
                <a:solidFill>
                  <a:srgbClr val="4DA3FF"/>
                </a:solidFill>
                <a:latin typeface="Arial"/>
                <a:ea typeface="Arial"/>
                <a:cs typeface="Arial"/>
              </a:rPr>
              <a:t>PROBLEM STATEMENT ID</a:t>
            </a:r>
            <a:endParaRPr sz="1100"/>
          </a:p>
        </p:txBody>
      </p:sp>
      <p:sp>
        <p:nvSpPr>
          <p:cNvPr id="13" name="Text 10">
            <a:extLst>
              <a:ext uri="{FF2B5EF4-FFF2-40B4-BE49-F238E27FC236}">
                <a16:creationId xmlns:a16="http://schemas.microsoft.com/office/drawing/2014/main" id="{8C685641-14E8-4B47-AF80-C2C07BDFB7E0}"/>
              </a:ext>
            </a:extLst>
          </p:cNvPr>
          <p:cNvSpPr>
            <a:spLocks noGrp="1"/>
          </p:cNvSpPr>
          <p:nvPr/>
        </p:nvSpPr>
        <p:spPr>
          <a:xfrm>
            <a:off x="7223760" y="3191256"/>
            <a:ext cx="4297680" cy="347472"/>
          </a:xfrm>
          <a:prstGeom prst="rect">
            <a:avLst/>
          </a:prstGeom>
          <a:noFill/>
        </p:spPr>
        <p:txBody>
          <a:bodyPr wrap="square" lIns="0" tIns="0" rIns="0" bIns="0" anchor="ctr"/>
          <a:lstStyle/>
          <a:p>
            <a:pPr marL="0" indent="0">
              <a:buNone/>
            </a:pPr>
            <a:r>
              <a:rPr sz="1600" dirty="0">
                <a:solidFill>
                  <a:srgbClr val="FFFFFF"/>
                </a:solidFill>
                <a:latin typeface="Calibri"/>
                <a:ea typeface="Calibri"/>
                <a:cs typeface="Calibri"/>
              </a:rPr>
              <a:t>Not provided</a:t>
            </a:r>
            <a:endParaRPr sz="1600" dirty="0"/>
          </a:p>
        </p:txBody>
      </p:sp>
      <p:sp>
        <p:nvSpPr>
          <p:cNvPr id="14" name="Text 11">
            <a:extLst>
              <a:ext uri="{FF2B5EF4-FFF2-40B4-BE49-F238E27FC236}">
                <a16:creationId xmlns:a16="http://schemas.microsoft.com/office/drawing/2014/main" id="{F084796D-E9F4-485E-A32A-ACD399788F25}"/>
              </a:ext>
            </a:extLst>
          </p:cNvPr>
          <p:cNvSpPr>
            <a:spLocks noGrp="1"/>
          </p:cNvSpPr>
          <p:nvPr/>
        </p:nvSpPr>
        <p:spPr>
          <a:xfrm>
            <a:off x="7223760" y="3639312"/>
            <a:ext cx="4297680" cy="256032"/>
          </a:xfrm>
          <a:prstGeom prst="rect">
            <a:avLst/>
          </a:prstGeom>
          <a:noFill/>
        </p:spPr>
        <p:txBody>
          <a:bodyPr wrap="square" lIns="0" tIns="0" rIns="0" bIns="0" anchor="ctr"/>
          <a:lstStyle/>
          <a:p>
            <a:pPr marL="0" indent="0">
              <a:buNone/>
            </a:pPr>
            <a:r>
              <a:rPr sz="1100" b="1" spc="200">
                <a:solidFill>
                  <a:srgbClr val="4DA3FF"/>
                </a:solidFill>
                <a:latin typeface="Arial"/>
                <a:ea typeface="Arial"/>
                <a:cs typeface="Arial"/>
              </a:rPr>
              <a:t>PROBLEM STATEMENT TITLE</a:t>
            </a:r>
            <a:endParaRPr sz="1100"/>
          </a:p>
        </p:txBody>
      </p:sp>
      <p:sp>
        <p:nvSpPr>
          <p:cNvPr id="15" name="Text 12">
            <a:extLst>
              <a:ext uri="{FF2B5EF4-FFF2-40B4-BE49-F238E27FC236}">
                <a16:creationId xmlns:a16="http://schemas.microsoft.com/office/drawing/2014/main" id="{9234747F-79CA-49B9-B74F-DF8991F3A063}"/>
              </a:ext>
            </a:extLst>
          </p:cNvPr>
          <p:cNvSpPr>
            <a:spLocks noGrp="1"/>
          </p:cNvSpPr>
          <p:nvPr/>
        </p:nvSpPr>
        <p:spPr>
          <a:xfrm>
            <a:off x="7223760" y="3886200"/>
            <a:ext cx="4297680" cy="347472"/>
          </a:xfrm>
          <a:prstGeom prst="rect">
            <a:avLst/>
          </a:prstGeom>
          <a:noFill/>
        </p:spPr>
        <p:txBody>
          <a:bodyPr wrap="square" lIns="0" tIns="0" rIns="0" bIns="0" anchor="ctr"/>
          <a:lstStyle/>
          <a:p>
            <a:pPr marL="0" indent="0">
              <a:buNone/>
            </a:pPr>
            <a:r>
              <a:rPr sz="1600">
                <a:solidFill>
                  <a:srgbClr val="FFFFFF"/>
                </a:solidFill>
                <a:latin typeface="Calibri"/>
                <a:ea typeface="Calibri"/>
                <a:cs typeface="Calibri"/>
              </a:rPr>
              <a:t>Trustworthy Knowledge Base</a:t>
            </a:r>
            <a:endParaRPr sz="1600"/>
          </a:p>
        </p:txBody>
      </p:sp>
      <p:sp>
        <p:nvSpPr>
          <p:cNvPr id="16" name="Text 13">
            <a:extLst>
              <a:ext uri="{FF2B5EF4-FFF2-40B4-BE49-F238E27FC236}">
                <a16:creationId xmlns:a16="http://schemas.microsoft.com/office/drawing/2014/main" id="{8CA84D9E-40BB-46D4-986A-98F0BC5CDFD6}"/>
              </a:ext>
            </a:extLst>
          </p:cNvPr>
          <p:cNvSpPr>
            <a:spLocks noGrp="1"/>
          </p:cNvSpPr>
          <p:nvPr/>
        </p:nvSpPr>
        <p:spPr>
          <a:xfrm>
            <a:off x="7223760" y="4334256"/>
            <a:ext cx="4297680" cy="256032"/>
          </a:xfrm>
          <a:prstGeom prst="rect">
            <a:avLst/>
          </a:prstGeom>
          <a:noFill/>
        </p:spPr>
        <p:txBody>
          <a:bodyPr wrap="square" lIns="0" tIns="0" rIns="0" bIns="0" anchor="ctr"/>
          <a:lstStyle/>
          <a:p>
            <a:pPr marL="0" indent="0">
              <a:buNone/>
            </a:pPr>
            <a:r>
              <a:rPr sz="1100" b="1" spc="200">
                <a:solidFill>
                  <a:srgbClr val="4DA3FF"/>
                </a:solidFill>
                <a:latin typeface="Arial"/>
                <a:ea typeface="Arial"/>
                <a:cs typeface="Arial"/>
              </a:rPr>
              <a:t>THEME / DOMAIN</a:t>
            </a:r>
            <a:endParaRPr sz="1100"/>
          </a:p>
        </p:txBody>
      </p:sp>
      <p:sp>
        <p:nvSpPr>
          <p:cNvPr id="17" name="Text 14">
            <a:extLst>
              <a:ext uri="{FF2B5EF4-FFF2-40B4-BE49-F238E27FC236}">
                <a16:creationId xmlns:a16="http://schemas.microsoft.com/office/drawing/2014/main" id="{1F52FE81-9616-40C5-A9CC-B7ACCAA46CA3}"/>
              </a:ext>
            </a:extLst>
          </p:cNvPr>
          <p:cNvSpPr>
            <a:spLocks noGrp="1"/>
          </p:cNvSpPr>
          <p:nvPr/>
        </p:nvSpPr>
        <p:spPr>
          <a:xfrm>
            <a:off x="7223760" y="4581144"/>
            <a:ext cx="4297680" cy="347472"/>
          </a:xfrm>
          <a:prstGeom prst="rect">
            <a:avLst/>
          </a:prstGeom>
          <a:noFill/>
        </p:spPr>
        <p:txBody>
          <a:bodyPr wrap="square" lIns="0" tIns="0" rIns="0" bIns="0" anchor="ctr"/>
          <a:lstStyle/>
          <a:p>
            <a:pPr marL="0" indent="0">
              <a:buNone/>
            </a:pPr>
            <a:r>
              <a:rPr sz="1600">
                <a:solidFill>
                  <a:srgbClr val="FFFFFF"/>
                </a:solidFill>
                <a:latin typeface="Calibri"/>
                <a:ea typeface="Calibri"/>
                <a:cs typeface="Calibri"/>
              </a:rPr>
              <a:t>AI &amp; Data Engineering</a:t>
            </a:r>
            <a:endParaRPr sz="1600"/>
          </a:p>
        </p:txBody>
      </p:sp>
      <p:sp>
        <p:nvSpPr>
          <p:cNvPr id="18" name="Text 15">
            <a:extLst>
              <a:ext uri="{FF2B5EF4-FFF2-40B4-BE49-F238E27FC236}">
                <a16:creationId xmlns:a16="http://schemas.microsoft.com/office/drawing/2014/main" id="{20253905-8201-408E-9CFA-E53A47C3FCDD}"/>
              </a:ext>
            </a:extLst>
          </p:cNvPr>
          <p:cNvSpPr>
            <a:spLocks noGrp="1"/>
          </p:cNvSpPr>
          <p:nvPr/>
        </p:nvSpPr>
        <p:spPr>
          <a:xfrm>
            <a:off x="7223760" y="5029200"/>
            <a:ext cx="4297680" cy="256032"/>
          </a:xfrm>
          <a:prstGeom prst="rect">
            <a:avLst/>
          </a:prstGeom>
          <a:noFill/>
        </p:spPr>
        <p:txBody>
          <a:bodyPr wrap="square" lIns="0" tIns="0" rIns="0" bIns="0" anchor="ctr"/>
          <a:lstStyle/>
          <a:p>
            <a:pPr marL="0" indent="0">
              <a:buNone/>
            </a:pPr>
            <a:r>
              <a:rPr sz="1100" b="1" spc="200">
                <a:solidFill>
                  <a:srgbClr val="4DA3FF"/>
                </a:solidFill>
                <a:latin typeface="Arial"/>
                <a:ea typeface="Arial"/>
                <a:cs typeface="Arial"/>
              </a:rPr>
              <a:t>CATEGORY</a:t>
            </a:r>
            <a:endParaRPr sz="1100"/>
          </a:p>
        </p:txBody>
      </p:sp>
      <p:sp>
        <p:nvSpPr>
          <p:cNvPr id="19" name="Text 16">
            <a:extLst>
              <a:ext uri="{FF2B5EF4-FFF2-40B4-BE49-F238E27FC236}">
                <a16:creationId xmlns:a16="http://schemas.microsoft.com/office/drawing/2014/main" id="{BAC84DB8-D7FD-457F-9C78-2E0F780FB5CC}"/>
              </a:ext>
            </a:extLst>
          </p:cNvPr>
          <p:cNvSpPr>
            <a:spLocks noGrp="1"/>
          </p:cNvSpPr>
          <p:nvPr/>
        </p:nvSpPr>
        <p:spPr>
          <a:xfrm>
            <a:off x="7223760" y="5276088"/>
            <a:ext cx="4297680" cy="347472"/>
          </a:xfrm>
          <a:prstGeom prst="rect">
            <a:avLst/>
          </a:prstGeom>
          <a:noFill/>
        </p:spPr>
        <p:txBody>
          <a:bodyPr wrap="square" lIns="0" tIns="0" rIns="0" bIns="0" anchor="ctr"/>
          <a:lstStyle/>
          <a:p>
            <a:pPr marL="0" indent="0">
              <a:buNone/>
            </a:pPr>
            <a:r>
              <a:rPr sz="1600">
                <a:solidFill>
                  <a:srgbClr val="FFFFFF"/>
                </a:solidFill>
                <a:latin typeface="Calibri"/>
                <a:ea typeface="Calibri"/>
                <a:cs typeface="Calibri"/>
              </a:rPr>
              <a:t>Software</a:t>
            </a:r>
            <a:endParaRPr sz="1600"/>
          </a:p>
        </p:txBody>
      </p:sp>
      <p:sp>
        <p:nvSpPr>
          <p:cNvPr id="20" name="Text 17">
            <a:extLst>
              <a:ext uri="{FF2B5EF4-FFF2-40B4-BE49-F238E27FC236}">
                <a16:creationId xmlns:a16="http://schemas.microsoft.com/office/drawing/2014/main" id="{F8DEB9C2-BD8F-438F-B9AB-D090C7BF9863}"/>
              </a:ext>
            </a:extLst>
          </p:cNvPr>
          <p:cNvSpPr>
            <a:spLocks noGrp="1"/>
          </p:cNvSpPr>
          <p:nvPr/>
        </p:nvSpPr>
        <p:spPr>
          <a:xfrm>
            <a:off x="548640" y="6355080"/>
            <a:ext cx="11064240" cy="274320"/>
          </a:xfrm>
          <a:prstGeom prst="rect">
            <a:avLst/>
          </a:prstGeom>
          <a:noFill/>
        </p:spPr>
        <p:txBody>
          <a:bodyPr wrap="square" lIns="0" tIns="0" rIns="0" bIns="0" anchor="ctr"/>
          <a:lstStyle/>
          <a:p>
            <a:pPr marL="0" indent="0">
              <a:buNone/>
            </a:pPr>
            <a:r>
              <a:rPr sz="1100">
                <a:solidFill>
                  <a:srgbClr val="9CC4FF"/>
                </a:solidFill>
                <a:latin typeface="Calibri"/>
                <a:ea typeface="Calibri"/>
                <a:cs typeface="Calibri"/>
              </a:rPr>
              <a:t>hypnexismuj.com   |   @hypnexis.muj   |   hypnexis2026@muj.manipal.edu</a:t>
            </a:r>
            <a:endParaRPr sz="1100"/>
          </a:p>
        </p:txBody>
      </p:sp>
    </p:spTree>
    <p:extLst>
      <p:ext uri="{BB962C8B-B14F-4D97-AF65-F5344CB8AC3E}">
        <p14:creationId xmlns:p14="http://schemas.microsoft.com/office/powerpoint/2010/main" val="146482305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6DB928BE-0B02-4F1D-82C9-C314CA855DF4}"/>
              </a:ext>
            </a:extLst>
          </p:cNvPr>
          <p:cNvSpPr>
            <a:spLocks noGrp="1"/>
          </p:cNvSpPr>
          <p:nvPr/>
        </p:nvSpPr>
        <p:spPr>
          <a:xfrm>
            <a:off x="457200" y="960120"/>
            <a:ext cx="11274552" cy="731520"/>
          </a:xfrm>
          <a:prstGeom prst="rect">
            <a:avLst/>
          </a:prstGeom>
          <a:noFill/>
        </p:spPr>
        <p:txBody>
          <a:bodyPr wrap="square" lIns="0" tIns="0" rIns="0" bIns="0" anchor="ctr"/>
          <a:lstStyle/>
          <a:p>
            <a:pPr marL="0" indent="0">
              <a:buNone/>
            </a:pPr>
            <a:r>
              <a:rPr sz="3600" b="1" spc="200">
                <a:solidFill>
                  <a:srgbClr val="FFFFFF"/>
                </a:solidFill>
                <a:latin typeface="Arial"/>
                <a:ea typeface="Arial"/>
                <a:cs typeface="Arial"/>
              </a:rPr>
              <a:t>DATATRUST AI</a:t>
            </a:r>
            <a:endParaRPr sz="3600"/>
          </a:p>
        </p:txBody>
      </p:sp>
      <p:sp>
        <p:nvSpPr>
          <p:cNvPr id="3" name="Team tag">
            <a:extLst>
              <a:ext uri="{FF2B5EF4-FFF2-40B4-BE49-F238E27FC236}">
                <a16:creationId xmlns:a16="http://schemas.microsoft.com/office/drawing/2014/main" id="{3A0094AC-1A8F-4DDC-8C19-1ED642196279}"/>
              </a:ext>
            </a:extLst>
          </p:cNvPr>
          <p:cNvSpPr>
            <a:spLocks noGrp="1"/>
          </p:cNvSpPr>
          <p:nvPr/>
        </p:nvSpPr>
        <p:spPr>
          <a:xfrm>
            <a:off x="8503920" y="1097280"/>
            <a:ext cx="3227832" cy="320040"/>
          </a:xfrm>
          <a:prstGeom prst="rect">
            <a:avLst/>
          </a:prstGeom>
          <a:noFill/>
        </p:spPr>
        <p:txBody>
          <a:bodyPr wrap="square" lIns="0" tIns="0" rIns="0" bIns="0" anchor="ctr"/>
          <a:lstStyle/>
          <a:p>
            <a:pPr marL="0" indent="0" algn="r">
              <a:buNone/>
            </a:pPr>
            <a:r>
              <a:rPr sz="1200">
                <a:solidFill>
                  <a:srgbClr val="9CC4FF"/>
                </a:solidFill>
                <a:latin typeface="Calibri"/>
                <a:ea typeface="Calibri"/>
                <a:cs typeface="Calibri"/>
              </a:rPr>
              <a:t>DataTrust AI  |  Team ID pending</a:t>
            </a:r>
            <a:endParaRPr sz="1200"/>
          </a:p>
        </p:txBody>
      </p:sp>
      <p:sp>
        <p:nvSpPr>
          <p:cNvPr id="4" name="Problem card">
            <a:extLst>
              <a:ext uri="{FF2B5EF4-FFF2-40B4-BE49-F238E27FC236}">
                <a16:creationId xmlns:a16="http://schemas.microsoft.com/office/drawing/2014/main" id="{E6FD2254-DAEE-4243-822B-B39DC44ED9A1}"/>
              </a:ext>
            </a:extLst>
          </p:cNvPr>
          <p:cNvSpPr>
            <a:spLocks noGrp="1"/>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Problem head">
            <a:extLst>
              <a:ext uri="{FF2B5EF4-FFF2-40B4-BE49-F238E27FC236}">
                <a16:creationId xmlns:a16="http://schemas.microsoft.com/office/drawing/2014/main" id="{690D0E3F-A0A1-4604-BBEE-A33BA98168A0}"/>
              </a:ext>
            </a:extLst>
          </p:cNvPr>
          <p:cNvSpPr>
            <a:spLocks noGrp="1"/>
          </p:cNvSpPr>
          <p:nvPr/>
        </p:nvSpPr>
        <p:spPr>
          <a:xfrm>
            <a:off x="731520" y="1874520"/>
            <a:ext cx="49377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PROBLEM STATEMENT</a:t>
            </a:r>
            <a:endParaRPr sz="1500"/>
          </a:p>
        </p:txBody>
      </p:sp>
      <p:sp>
        <p:nvSpPr>
          <p:cNvPr id="6" name="Problem body">
            <a:extLst>
              <a:ext uri="{FF2B5EF4-FFF2-40B4-BE49-F238E27FC236}">
                <a16:creationId xmlns:a16="http://schemas.microsoft.com/office/drawing/2014/main" id="{44491090-5A3B-4EFB-873A-976C629AE6E4}"/>
              </a:ext>
            </a:extLst>
          </p:cNvPr>
          <p:cNvSpPr>
            <a:spLocks noGrp="1"/>
          </p:cNvSpPr>
          <p:nvPr/>
        </p:nvSpPr>
        <p:spPr>
          <a:xfrm>
            <a:off x="731520" y="2286000"/>
            <a:ext cx="4937760" cy="3657600"/>
          </a:xfrm>
          <a:prstGeom prst="rect">
            <a:avLst/>
          </a:prstGeom>
          <a:noFill/>
        </p:spPr>
        <p:txBody>
          <a:bodyPr wrap="square" lIns="0" tIns="0" rIns="0" bIns="0" anchor="t"/>
          <a:lstStyle>
            <a:defPPr algn="l">
              <a:defRPr sz="1400">
                <a:solidFill>
                  <a:srgbClr val="FFFFFF"/>
                </a:solidFill>
                <a:latin typeface="Calibri"/>
                <a:ea typeface="Calibri"/>
                <a:cs typeface="Calibri"/>
              </a:defRPr>
            </a:defPPr>
            <a:lvl1pPr algn="l">
              <a:buNone/>
              <a:defRPr sz="1400">
                <a:solidFill>
                  <a:srgbClr val="FFFFFF"/>
                </a:solidFill>
                <a:latin typeface="Calibri"/>
                <a:ea typeface="Calibri"/>
                <a:cs typeface="Calibri"/>
              </a:defRPr>
            </a:lvl1pPr>
            <a:lvl2pPr algn="l">
              <a:buNone/>
              <a:defRPr sz="1400">
                <a:solidFill>
                  <a:srgbClr val="FFFFFF"/>
                </a:solidFill>
                <a:latin typeface="Calibri"/>
                <a:ea typeface="Calibri"/>
                <a:cs typeface="Calibri"/>
              </a:defRPr>
            </a:lvl2pPr>
            <a:lvl3pPr algn="l">
              <a:buNone/>
              <a:defRPr sz="1400">
                <a:solidFill>
                  <a:srgbClr val="FFFFFF"/>
                </a:solidFill>
                <a:latin typeface="Calibri"/>
                <a:ea typeface="Calibri"/>
                <a:cs typeface="Calibri"/>
              </a:defRPr>
            </a:lvl3pPr>
            <a:lvl4pPr algn="l">
              <a:buNone/>
              <a:defRPr sz="1400">
                <a:solidFill>
                  <a:srgbClr val="FFFFFF"/>
                </a:solidFill>
                <a:latin typeface="Calibri"/>
                <a:ea typeface="Calibri"/>
                <a:cs typeface="Calibri"/>
              </a:defRPr>
            </a:lvl4pPr>
            <a:lvl5pPr algn="l">
              <a:buNone/>
              <a:defRPr sz="1400">
                <a:solidFill>
                  <a:srgbClr val="FFFFFF"/>
                </a:solidFill>
                <a:latin typeface="Calibri"/>
                <a:ea typeface="Calibri"/>
                <a:cs typeface="Calibri"/>
              </a:defRPr>
            </a:lvl5pPr>
            <a:lvl6pPr algn="l">
              <a:buNone/>
              <a:defRPr sz="1400">
                <a:solidFill>
                  <a:srgbClr val="FFFFFF"/>
                </a:solidFill>
                <a:latin typeface="Calibri"/>
                <a:ea typeface="Calibri"/>
                <a:cs typeface="Calibri"/>
              </a:defRPr>
            </a:lvl6pPr>
            <a:lvl7pPr algn="l">
              <a:buNone/>
              <a:defRPr sz="1400">
                <a:solidFill>
                  <a:srgbClr val="FFFFFF"/>
                </a:solidFill>
                <a:latin typeface="Calibri"/>
                <a:ea typeface="Calibri"/>
                <a:cs typeface="Calibri"/>
              </a:defRPr>
            </a:lvl7pPr>
            <a:lvl8pPr algn="l">
              <a:buNone/>
              <a:defRPr sz="1400">
                <a:solidFill>
                  <a:srgbClr val="FFFFFF"/>
                </a:solidFill>
                <a:latin typeface="Calibri"/>
                <a:ea typeface="Calibri"/>
                <a:cs typeface="Calibri"/>
              </a:defRPr>
            </a:lvl8pPr>
            <a:lvl9pPr algn="l">
              <a:buNone/>
              <a:defRPr sz="1400">
                <a:solidFill>
                  <a:srgbClr val="FFFFFF"/>
                </a:solidFill>
                <a:latin typeface="Calibri"/>
                <a:ea typeface="Calibri"/>
                <a:cs typeface="Calibri"/>
              </a:defRPr>
            </a:lvl9pPr>
          </a:lstStyle>
          <a:p>
            <a:pPr marL="342900" indent="-342900" algn="l">
              <a:spcAft>
                <a:spcPts val="600"/>
              </a:spcAft>
              <a:buChar char="•"/>
              <a:defRPr sz="1400">
                <a:solidFill>
                  <a:srgbClr val="FFFFFF"/>
                </a:solidFill>
                <a:latin typeface="Calibri"/>
                <a:ea typeface="Calibri"/>
                <a:cs typeface="Calibri"/>
              </a:defRPr>
            </a:pPr>
            <a:r>
              <a:rPr sz="1400">
                <a:solidFill>
                  <a:srgbClr val="FFFFFF"/>
                </a:solidFill>
                <a:latin typeface="Calibri"/>
                <a:ea typeface="Calibri"/>
                <a:cs typeface="Calibri"/>
              </a:rPr>
              <a:t>Edits can leave stale terms, claims, or graph links.</a:t>
            </a:r>
          </a:p>
          <a:p>
            <a:pPr marL="342900" indent="-342900" algn="l">
              <a:spcAft>
                <a:spcPts val="600"/>
              </a:spcAft>
              <a:buChar char="•"/>
              <a:defRPr sz="1400">
                <a:solidFill>
                  <a:srgbClr val="FFFFFF"/>
                </a:solidFill>
                <a:latin typeface="Calibri"/>
                <a:ea typeface="Calibri"/>
                <a:cs typeface="Calibri"/>
              </a:defRPr>
            </a:pPr>
            <a:r>
              <a:rPr sz="1400">
                <a:solidFill>
                  <a:srgbClr val="FFFFFF"/>
                </a:solidFill>
                <a:latin typeface="Calibri"/>
                <a:ea typeface="Calibri"/>
                <a:cs typeface="Calibri"/>
              </a:rPr>
              <a:t>One source must not erase a conflicting claim from another.</a:t>
            </a:r>
          </a:p>
          <a:p>
            <a:pPr marL="342900" indent="-342900" algn="l">
              <a:spcAft>
                <a:spcPts val="600"/>
              </a:spcAft>
              <a:buChar char="•"/>
              <a:defRPr sz="1400">
                <a:solidFill>
                  <a:srgbClr val="FFFFFF"/>
                </a:solidFill>
                <a:latin typeface="Calibri"/>
                <a:ea typeface="Calibri"/>
                <a:cs typeface="Calibri"/>
              </a:defRPr>
            </a:pPr>
            <a:r>
              <a:rPr sz="1400">
                <a:solidFill>
                  <a:srgbClr val="FFFFFF"/>
                </a:solidFill>
                <a:latin typeface="Calibri"/>
                <a:ea typeface="Calibri"/>
                <a:cs typeface="Calibri"/>
              </a:rPr>
              <a:t>Embedded instructions can try to steer retrieval.</a:t>
            </a:r>
          </a:p>
          <a:p>
            <a:pPr marL="342900" indent="-342900" algn="l">
              <a:spcAft>
                <a:spcPts val="600"/>
              </a:spcAft>
              <a:buChar char="•"/>
              <a:defRPr sz="1400">
                <a:solidFill>
                  <a:srgbClr val="FFFFFF"/>
                </a:solidFill>
                <a:latin typeface="Calibri"/>
                <a:ea typeface="Calibri"/>
                <a:cs typeface="Calibri"/>
              </a:defRPr>
            </a:pPr>
            <a:r>
              <a:rPr sz="1400">
                <a:solidFill>
                  <a:srgbClr val="FFFFFF"/>
                </a:solidFill>
                <a:latin typeface="Calibri"/>
                <a:ea typeface="Calibri"/>
                <a:cs typeface="Calibri"/>
              </a:rPr>
              <a:t>Hindi questions can miss relevant English records.</a:t>
            </a:r>
          </a:p>
          <a:p>
            <a:pPr marL="342900" indent="-342900" algn="l">
              <a:spcAft>
                <a:spcPts val="600"/>
              </a:spcAft>
              <a:buChar char="•"/>
              <a:defRPr sz="1400">
                <a:solidFill>
                  <a:srgbClr val="FFFFFF"/>
                </a:solidFill>
                <a:latin typeface="Calibri"/>
                <a:ea typeface="Calibri"/>
                <a:cs typeface="Calibri"/>
              </a:defRPr>
            </a:pPr>
            <a:r>
              <a:rPr sz="1400">
                <a:solidFill>
                  <a:srgbClr val="FFFFFF"/>
                </a:solidFill>
                <a:latin typeface="Calibri"/>
                <a:ea typeface="Calibri"/>
                <a:cs typeface="Calibri"/>
              </a:rPr>
              <a:t>Example: ERP lists Helios ACTIVE; DOC-2026-04 says SUSPENDED.</a:t>
            </a:r>
          </a:p>
          <a:p>
            <a:pPr marL="342900" indent="-342900" algn="l">
              <a:spcAft>
                <a:spcPts val="600"/>
              </a:spcAft>
              <a:buChar char="•"/>
              <a:defRPr sz="1400">
                <a:solidFill>
                  <a:srgbClr val="FFFFFF"/>
                </a:solidFill>
                <a:latin typeface="Calibri"/>
                <a:ea typeface="Calibri"/>
                <a:cs typeface="Calibri"/>
              </a:defRPr>
            </a:pPr>
            <a:r>
              <a:rPr sz="1400">
                <a:solidFill>
                  <a:srgbClr val="FFFFFF"/>
                </a:solidFill>
                <a:latin typeface="Calibri"/>
                <a:ea typeface="Calibri"/>
                <a:cs typeface="Calibri"/>
              </a:rPr>
              <a:t>Without source paths, reviewers cannot verify an answer.</a:t>
            </a:r>
          </a:p>
        </p:txBody>
      </p:sp>
      <p:sp>
        <p:nvSpPr>
          <p:cNvPr id="7" name="Solution card">
            <a:extLst>
              <a:ext uri="{FF2B5EF4-FFF2-40B4-BE49-F238E27FC236}">
                <a16:creationId xmlns:a16="http://schemas.microsoft.com/office/drawing/2014/main" id="{B9179F29-2F02-45DA-9D09-CB735845190B}"/>
              </a:ext>
            </a:extLst>
          </p:cNvPr>
          <p:cNvSpPr>
            <a:spLocks noGrp="1"/>
          </p:cNvSpPr>
          <p:nvPr/>
        </p:nvSpPr>
        <p:spPr>
          <a:xfrm>
            <a:off x="6245352" y="1691640"/>
            <a:ext cx="5486400" cy="2743200"/>
          </a:xfrm>
          <a:prstGeom prst="roundRect">
            <a:avLst>
              <a:gd name="adj" fmla="val 4000"/>
            </a:avLst>
          </a:prstGeom>
          <a:solidFill>
            <a:srgbClr val="0B1A4A">
              <a:alpha val="75000"/>
            </a:srgbClr>
          </a:solidFill>
          <a:ln w="12700">
            <a:solidFill>
              <a:srgbClr val="1E5BFF"/>
            </a:solidFill>
            <a:prstDash val="solid"/>
          </a:ln>
        </p:spPr>
      </p:sp>
      <p:sp>
        <p:nvSpPr>
          <p:cNvPr id="8" name="Solution head">
            <a:extLst>
              <a:ext uri="{FF2B5EF4-FFF2-40B4-BE49-F238E27FC236}">
                <a16:creationId xmlns:a16="http://schemas.microsoft.com/office/drawing/2014/main" id="{85A324C7-CF03-4039-99A6-64D81ABCF7BB}"/>
              </a:ext>
            </a:extLst>
          </p:cNvPr>
          <p:cNvSpPr>
            <a:spLocks noGrp="1"/>
          </p:cNvSpPr>
          <p:nvPr/>
        </p:nvSpPr>
        <p:spPr>
          <a:xfrm>
            <a:off x="6519672" y="1874520"/>
            <a:ext cx="49377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OUR SOLUTION</a:t>
            </a:r>
            <a:endParaRPr sz="1500"/>
          </a:p>
        </p:txBody>
      </p:sp>
      <p:sp>
        <p:nvSpPr>
          <p:cNvPr id="9" name="Solution body">
            <a:extLst>
              <a:ext uri="{FF2B5EF4-FFF2-40B4-BE49-F238E27FC236}">
                <a16:creationId xmlns:a16="http://schemas.microsoft.com/office/drawing/2014/main" id="{00938271-0837-458B-85A2-4B8B1B012934}"/>
              </a:ext>
            </a:extLst>
          </p:cNvPr>
          <p:cNvSpPr>
            <a:spLocks noGrp="1"/>
          </p:cNvSpPr>
          <p:nvPr/>
        </p:nvSpPr>
        <p:spPr>
          <a:xfrm>
            <a:off x="6519672" y="2286000"/>
            <a:ext cx="4937760" cy="2011680"/>
          </a:xfrm>
          <a:prstGeom prst="rect">
            <a:avLst/>
          </a:prstGeom>
          <a:noFill/>
        </p:spPr>
        <p:txBody>
          <a:bodyPr wrap="square" lIns="0" tIns="0" rIns="0" bIns="0" anchor="t"/>
          <a:lstStyle/>
          <a:p>
            <a:pPr marL="342900" indent="-342900">
              <a:spcAft>
                <a:spcPts val="600"/>
              </a:spcAft>
              <a:buSzPct val="100000"/>
              <a:buChar char="•"/>
            </a:pPr>
            <a:r>
              <a:rPr sz="1400">
                <a:solidFill>
                  <a:srgbClr val="FFFFFF"/>
                </a:solidFill>
                <a:latin typeface="Calibri"/>
                <a:ea typeface="Calibri"/>
                <a:cs typeface="Calibri"/>
              </a:rPr>
              <a:t>Incremental add, edit and delete.</a:t>
            </a:r>
            <a:endParaRPr sz="1400"/>
          </a:p>
          <a:p>
            <a:pPr marL="342900" indent="-342900">
              <a:spcAft>
                <a:spcPts val="600"/>
              </a:spcAft>
              <a:buSzPct val="100000"/>
              <a:buChar char="•"/>
            </a:pPr>
            <a:r>
              <a:rPr sz="1400">
                <a:solidFill>
                  <a:srgbClr val="FFFFFF"/>
                </a:solidFill>
                <a:latin typeface="Calibri"/>
                <a:ea typeface="Calibri"/>
                <a:cs typeface="Calibri"/>
              </a:rPr>
              <a:t>Keep both claims with their source records.</a:t>
            </a:r>
            <a:endParaRPr sz="1400"/>
          </a:p>
          <a:p>
            <a:pPr marL="342900" indent="-342900">
              <a:spcAft>
                <a:spcPts val="600"/>
              </a:spcAft>
              <a:buSzPct val="100000"/>
              <a:buChar char="•"/>
            </a:pPr>
            <a:r>
              <a:rPr sz="1400">
                <a:solidFill>
                  <a:srgbClr val="FFFFFF"/>
                </a:solidFill>
                <a:latin typeface="Calibri"/>
                <a:ea typeface="Calibri"/>
                <a:cs typeface="Calibri"/>
              </a:rPr>
              <a:t>Answer Hindi questions over English documents.</a:t>
            </a:r>
            <a:endParaRPr sz="1400"/>
          </a:p>
        </p:txBody>
      </p:sp>
      <p:sp>
        <p:nvSpPr>
          <p:cNvPr id="10" name="Visual card">
            <a:extLst>
              <a:ext uri="{FF2B5EF4-FFF2-40B4-BE49-F238E27FC236}">
                <a16:creationId xmlns:a16="http://schemas.microsoft.com/office/drawing/2014/main" id="{79769746-62D1-4116-A972-F8266C7C3B55}"/>
              </a:ext>
            </a:extLst>
          </p:cNvPr>
          <p:cNvSpPr>
            <a:spLocks noGrp="1"/>
          </p:cNvSpPr>
          <p:nvPr/>
        </p:nvSpPr>
        <p:spPr>
          <a:xfrm>
            <a:off x="6245352" y="4617720"/>
            <a:ext cx="5486400" cy="1508760"/>
          </a:xfrm>
          <a:prstGeom prst="roundRect">
            <a:avLst>
              <a:gd name="adj" fmla="val 7273"/>
            </a:avLst>
          </a:prstGeom>
          <a:solidFill>
            <a:srgbClr val="0B1A4A">
              <a:alpha val="75000"/>
            </a:srgbClr>
          </a:solidFill>
          <a:ln w="12700">
            <a:solidFill>
              <a:srgbClr val="1E5BFF"/>
            </a:solidFill>
            <a:prstDash val="solid"/>
          </a:ln>
        </p:spPr>
      </p:sp>
      <p:sp>
        <p:nvSpPr>
          <p:cNvPr id="11" name="Image placeholder text">
            <a:extLst>
              <a:ext uri="{FF2B5EF4-FFF2-40B4-BE49-F238E27FC236}">
                <a16:creationId xmlns:a16="http://schemas.microsoft.com/office/drawing/2014/main" id="{E7EF1465-EAAB-4A16-A020-85708C678F04}"/>
              </a:ext>
            </a:extLst>
          </p:cNvPr>
          <p:cNvSpPr>
            <a:spLocks noGrp="1"/>
          </p:cNvSpPr>
          <p:nvPr/>
        </p:nvSpPr>
        <p:spPr>
          <a:xfrm>
            <a:off x="6245352" y="4617720"/>
            <a:ext cx="5486400" cy="1508760"/>
          </a:xfrm>
          <a:prstGeom prst="rect">
            <a:avLst/>
          </a:prstGeom>
          <a:noFill/>
        </p:spPr>
        <p:txBody>
          <a:bodyPr wrap="square" anchor="ctr"/>
          <a:lstStyle>
            <a:defPPr algn="ctr">
              <a:defRPr sz="1500" b="1" i="0">
                <a:solidFill>
                  <a:srgbClr val="FFFFFF"/>
                </a:solidFill>
                <a:latin typeface="Arial"/>
                <a:ea typeface="Arial"/>
                <a:cs typeface="Arial"/>
              </a:defRPr>
            </a:defPPr>
            <a:lvl1pPr algn="ctr">
              <a:buNone/>
              <a:defRPr sz="1500" b="1" i="0">
                <a:solidFill>
                  <a:srgbClr val="FFFFFF"/>
                </a:solidFill>
                <a:latin typeface="Arial"/>
                <a:ea typeface="Arial"/>
                <a:cs typeface="Arial"/>
              </a:defRPr>
            </a:lvl1pPr>
            <a:lvl2pPr algn="ctr">
              <a:buNone/>
              <a:defRPr sz="1500" b="1" i="0">
                <a:solidFill>
                  <a:srgbClr val="FFFFFF"/>
                </a:solidFill>
                <a:latin typeface="Arial"/>
                <a:ea typeface="Arial"/>
                <a:cs typeface="Arial"/>
              </a:defRPr>
            </a:lvl2pPr>
            <a:lvl3pPr algn="ctr">
              <a:buNone/>
              <a:defRPr sz="1500" b="1" i="0">
                <a:solidFill>
                  <a:srgbClr val="FFFFFF"/>
                </a:solidFill>
                <a:latin typeface="Arial"/>
                <a:ea typeface="Arial"/>
                <a:cs typeface="Arial"/>
              </a:defRPr>
            </a:lvl3pPr>
            <a:lvl4pPr algn="ctr">
              <a:buNone/>
              <a:defRPr sz="1500" b="1" i="0">
                <a:solidFill>
                  <a:srgbClr val="FFFFFF"/>
                </a:solidFill>
                <a:latin typeface="Arial"/>
                <a:ea typeface="Arial"/>
                <a:cs typeface="Arial"/>
              </a:defRPr>
            </a:lvl4pPr>
            <a:lvl5pPr algn="ctr">
              <a:buNone/>
              <a:defRPr sz="1500" b="1" i="0">
                <a:solidFill>
                  <a:srgbClr val="FFFFFF"/>
                </a:solidFill>
                <a:latin typeface="Arial"/>
                <a:ea typeface="Arial"/>
                <a:cs typeface="Arial"/>
              </a:defRPr>
            </a:lvl5pPr>
            <a:lvl6pPr algn="ctr">
              <a:buNone/>
              <a:defRPr sz="1500" b="1" i="0">
                <a:solidFill>
                  <a:srgbClr val="FFFFFF"/>
                </a:solidFill>
                <a:latin typeface="Arial"/>
                <a:ea typeface="Arial"/>
                <a:cs typeface="Arial"/>
              </a:defRPr>
            </a:lvl6pPr>
            <a:lvl7pPr algn="ctr">
              <a:buNone/>
              <a:defRPr sz="1500" b="1" i="0">
                <a:solidFill>
                  <a:srgbClr val="FFFFFF"/>
                </a:solidFill>
                <a:latin typeface="Arial"/>
                <a:ea typeface="Arial"/>
                <a:cs typeface="Arial"/>
              </a:defRPr>
            </a:lvl7pPr>
            <a:lvl8pPr algn="ctr">
              <a:buNone/>
              <a:defRPr sz="1500" b="1" i="0">
                <a:solidFill>
                  <a:srgbClr val="FFFFFF"/>
                </a:solidFill>
                <a:latin typeface="Arial"/>
                <a:ea typeface="Arial"/>
                <a:cs typeface="Arial"/>
              </a:defRPr>
            </a:lvl8pPr>
            <a:lvl9pPr algn="ctr">
              <a:buNone/>
              <a:defRPr sz="1500" b="1" i="0">
                <a:solidFill>
                  <a:srgbClr val="FFFFFF"/>
                </a:solidFill>
                <a:latin typeface="Arial"/>
                <a:ea typeface="Arial"/>
                <a:cs typeface="Arial"/>
              </a:defRPr>
            </a:lvl9pPr>
          </a:lstStyle>
          <a:p>
            <a:pPr marL="0" indent="0" algn="ctr">
              <a:buNone/>
              <a:defRPr sz="1500" b="1" i="0">
                <a:solidFill>
                  <a:srgbClr val="FFFFFF"/>
                </a:solidFill>
                <a:latin typeface="Arial"/>
                <a:ea typeface="Arial"/>
                <a:cs typeface="Arial"/>
              </a:defRPr>
            </a:pPr>
            <a:r>
              <a:rPr sz="1500" b="1" i="0">
                <a:solidFill>
                  <a:srgbClr val="FFFFFF"/>
                </a:solidFill>
                <a:latin typeface="Arial"/>
                <a:ea typeface="Arial"/>
                <a:cs typeface="Arial"/>
              </a:rPr>
              <a:t>500 documents in 7.7 seconds</a:t>
            </a:r>
            <a:endParaRPr sz="1400"/>
          </a:p>
          <a:p>
            <a:pPr marL="0" indent="0" algn="ctr">
              <a:buNone/>
              <a:defRPr sz="1500" b="1" i="0">
                <a:solidFill>
                  <a:srgbClr val="FFFFFF"/>
                </a:solidFill>
                <a:latin typeface="Arial"/>
                <a:ea typeface="Arial"/>
                <a:cs typeface="Arial"/>
              </a:defRPr>
            </a:pPr>
            <a:r>
              <a:rPr sz="1500" b="1" i="0">
                <a:solidFill>
                  <a:srgbClr val="FFFFFF"/>
                </a:solidFill>
                <a:latin typeface="Arial"/>
                <a:ea typeface="Arial"/>
                <a:cs typeface="Arial"/>
              </a:rPr>
              <a:t>504 docs · 539 entities · 40 edges</a:t>
            </a:r>
            <a:endParaRPr sz="1400"/>
          </a:p>
          <a:p>
            <a:pPr marL="0" indent="0" algn="ctr">
              <a:buNone/>
              <a:defRPr sz="1500" b="1" i="0">
                <a:solidFill>
                  <a:srgbClr val="FFFFFF"/>
                </a:solidFill>
                <a:latin typeface="Arial"/>
                <a:ea typeface="Arial"/>
                <a:cs typeface="Arial"/>
              </a:defRPr>
            </a:pPr>
            <a:r>
              <a:rPr sz="1500" b="1" i="0">
                <a:solidFill>
                  <a:srgbClr val="FFFFFF"/>
                </a:solidFill>
                <a:latin typeface="Arial"/>
                <a:ea typeface="Arial"/>
                <a:cs typeface="Arial"/>
              </a:rPr>
              <a:t>Isolated local benchmark</a:t>
            </a:r>
            <a:endParaRPr sz="1400"/>
          </a:p>
        </p:txBody>
      </p:sp>
      <p:sp>
        <p:nvSpPr>
          <p:cNvPr id="25" name="Slide Number Placeholder 0">
            <a:extLst>
              <a:ext uri="{FF2B5EF4-FFF2-40B4-BE49-F238E27FC236}">
                <a16:creationId xmlns:a16="http://schemas.microsoft.com/office/drawing/2014/main" id="{FD038C33-4A8E-4BF3-B3B4-27969BF93B5E}"/>
              </a:ext>
            </a:extLst>
          </p:cNvPr>
          <p:cNvSpPr>
            <a:spLocks noGrp="1"/>
          </p:cNvSpPr>
          <p:nvPr>
            <p:ph type="sldNum" idx="4294967295"/>
          </p:nvPr>
        </p:nvSpPr>
        <p:spPr>
          <a:xfrm>
            <a:off x="11155680" y="6428232"/>
            <a:ext cx="576072" cy="274320"/>
          </a:xfrm>
          <a:prstGeom prst="rect">
            <a:avLst/>
          </a:prstGeom>
        </p:spPr>
        <p:txBody>
          <a:bodyPr/>
          <a:lstStyle>
            <a:lvl1pPr>
              <a:buNone/>
              <a:defRPr sz="1000">
                <a:solidFill>
                  <a:srgbClr val="9CC4FF"/>
                </a:solidFill>
                <a:latin typeface="Arial"/>
                <a:ea typeface="Arial"/>
                <a:cs typeface="Arial"/>
              </a:defRPr>
            </a:lvl1pPr>
          </a:lstStyle>
          <a:p>
            <a:pPr algn="r">
              <a:buNone/>
            </a:pPr>
            <a:fld id="{F7021451-1387-4CA6-816F-3879F97B5CBC}" type="slidenum">
              <a:rPr b="0"/>
              <a:t>2</a:t>
            </a:fld>
            <a:endParaRPr/>
          </a:p>
        </p:txBody>
      </p:sp>
    </p:spTree>
    <p:extLst>
      <p:ext uri="{BB962C8B-B14F-4D97-AF65-F5344CB8AC3E}">
        <p14:creationId xmlns:p14="http://schemas.microsoft.com/office/powerpoint/2010/main" val="5256197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2FA75ADD-4D6E-434F-8393-FFFBC3356BA4}"/>
              </a:ext>
            </a:extLst>
          </p:cNvPr>
          <p:cNvSpPr>
            <a:spLocks noGrp="1"/>
          </p:cNvSpPr>
          <p:nvPr/>
        </p:nvSpPr>
        <p:spPr>
          <a:xfrm>
            <a:off x="457200" y="960120"/>
            <a:ext cx="11274552" cy="731520"/>
          </a:xfrm>
          <a:prstGeom prst="rect">
            <a:avLst/>
          </a:prstGeom>
          <a:noFill/>
        </p:spPr>
        <p:txBody>
          <a:bodyPr wrap="square" lIns="0" tIns="0" rIns="0" bIns="0" anchor="ctr"/>
          <a:lstStyle/>
          <a:p>
            <a:pPr marL="0" indent="0">
              <a:buNone/>
            </a:pPr>
            <a:r>
              <a:rPr sz="3600" b="1" spc="200">
                <a:solidFill>
                  <a:srgbClr val="FFFFFF"/>
                </a:solidFill>
                <a:latin typeface="Arial"/>
                <a:ea typeface="Arial"/>
                <a:cs typeface="Arial"/>
              </a:rPr>
              <a:t>TECHNICAL APPROACH</a:t>
            </a:r>
            <a:endParaRPr sz="3600"/>
          </a:p>
        </p:txBody>
      </p:sp>
      <p:sp>
        <p:nvSpPr>
          <p:cNvPr id="3" name="Team tag">
            <a:extLst>
              <a:ext uri="{FF2B5EF4-FFF2-40B4-BE49-F238E27FC236}">
                <a16:creationId xmlns:a16="http://schemas.microsoft.com/office/drawing/2014/main" id="{C1EA5B08-FE3C-4939-BEC1-392DCAD87C85}"/>
              </a:ext>
            </a:extLst>
          </p:cNvPr>
          <p:cNvSpPr>
            <a:spLocks noGrp="1"/>
          </p:cNvSpPr>
          <p:nvPr/>
        </p:nvSpPr>
        <p:spPr>
          <a:xfrm>
            <a:off x="8503920" y="1097280"/>
            <a:ext cx="3227832" cy="320040"/>
          </a:xfrm>
          <a:prstGeom prst="rect">
            <a:avLst/>
          </a:prstGeom>
          <a:noFill/>
        </p:spPr>
        <p:txBody>
          <a:bodyPr wrap="square" lIns="0" tIns="0" rIns="0" bIns="0" anchor="ctr"/>
          <a:lstStyle/>
          <a:p>
            <a:pPr marL="0" indent="0" algn="r">
              <a:buNone/>
            </a:pPr>
            <a:r>
              <a:rPr sz="1200">
                <a:solidFill>
                  <a:srgbClr val="9CC4FF"/>
                </a:solidFill>
                <a:latin typeface="Calibri"/>
                <a:ea typeface="Calibri"/>
                <a:cs typeface="Calibri"/>
              </a:rPr>
              <a:t>DataTrust AI  |  Team ID pending</a:t>
            </a:r>
            <a:endParaRPr sz="1200"/>
          </a:p>
        </p:txBody>
      </p:sp>
      <p:sp>
        <p:nvSpPr>
          <p:cNvPr id="4" name="Architecture card">
            <a:extLst>
              <a:ext uri="{FF2B5EF4-FFF2-40B4-BE49-F238E27FC236}">
                <a16:creationId xmlns:a16="http://schemas.microsoft.com/office/drawing/2014/main" id="{6C7972C3-55CA-4383-BAD6-A507F91DC820}"/>
              </a:ext>
            </a:extLst>
          </p:cNvPr>
          <p:cNvSpPr>
            <a:spLocks noGrp="1"/>
          </p:cNvSpPr>
          <p:nvPr/>
        </p:nvSpPr>
        <p:spPr>
          <a:xfrm>
            <a:off x="457200" y="1691640"/>
            <a:ext cx="5486400" cy="4434840"/>
          </a:xfrm>
          <a:prstGeom prst="roundRect">
            <a:avLst>
              <a:gd name="adj" fmla="val 2474"/>
            </a:avLst>
          </a:prstGeom>
          <a:solidFill>
            <a:srgbClr val="0B1A4A">
              <a:alpha val="75000"/>
            </a:srgbClr>
          </a:solidFill>
          <a:ln w="12700">
            <a:solidFill>
              <a:srgbClr val="1E5BFF"/>
            </a:solidFill>
            <a:prstDash val="solid"/>
          </a:ln>
        </p:spPr>
      </p:sp>
      <p:sp>
        <p:nvSpPr>
          <p:cNvPr id="5" name="Arch head">
            <a:extLst>
              <a:ext uri="{FF2B5EF4-FFF2-40B4-BE49-F238E27FC236}">
                <a16:creationId xmlns:a16="http://schemas.microsoft.com/office/drawing/2014/main" id="{4B2A7553-B886-4F02-B6D3-2CB488691A5A}"/>
              </a:ext>
            </a:extLst>
          </p:cNvPr>
          <p:cNvSpPr>
            <a:spLocks noGrp="1"/>
          </p:cNvSpPr>
          <p:nvPr/>
        </p:nvSpPr>
        <p:spPr>
          <a:xfrm>
            <a:off x="731520" y="1874520"/>
            <a:ext cx="49377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SYSTEM ARCHITECTURE</a:t>
            </a:r>
            <a:endParaRPr sz="1500"/>
          </a:p>
        </p:txBody>
      </p:sp>
      <p:sp>
        <p:nvSpPr>
          <p:cNvPr id="6" name="Arch body">
            <a:extLst>
              <a:ext uri="{FF2B5EF4-FFF2-40B4-BE49-F238E27FC236}">
                <a16:creationId xmlns:a16="http://schemas.microsoft.com/office/drawing/2014/main" id="{55B52155-67A4-4574-9FAC-2A9F7A3AEC1A}"/>
              </a:ext>
            </a:extLst>
          </p:cNvPr>
          <p:cNvSpPr>
            <a:spLocks noGrp="1"/>
          </p:cNvSpPr>
          <p:nvPr/>
        </p:nvSpPr>
        <p:spPr>
          <a:xfrm>
            <a:off x="731520" y="2286000"/>
            <a:ext cx="4937760" cy="3657600"/>
          </a:xfrm>
          <a:prstGeom prst="rect">
            <a:avLst/>
          </a:prstGeom>
          <a:noFill/>
        </p:spPr>
        <p:txBody>
          <a:bodyPr wrap="square" lIns="0" tIns="0" rIns="0" bIns="0" anchor="t"/>
          <a:lstStyle/>
          <a:p>
            <a:pPr marL="342900" indent="-342900">
              <a:spcAft>
                <a:spcPts val="600"/>
              </a:spcAft>
              <a:buSzPct val="100000"/>
              <a:buChar char="•"/>
            </a:pPr>
            <a:r>
              <a:rPr sz="1400" dirty="0" err="1">
                <a:solidFill>
                  <a:srgbClr val="FFFFFF"/>
                </a:solidFill>
                <a:latin typeface="Calibri"/>
                <a:ea typeface="Calibri"/>
                <a:cs typeface="Calibri"/>
              </a:rPr>
              <a:t>FastAPI</a:t>
            </a:r>
            <a:r>
              <a:rPr sz="1400" dirty="0">
                <a:solidFill>
                  <a:srgbClr val="FFFFFF"/>
                </a:solidFill>
                <a:latin typeface="Calibri"/>
                <a:ea typeface="Calibri"/>
                <a:cs typeface="Calibri"/>
              </a:rPr>
              <a:t> accepts single documents and batches. </a:t>
            </a:r>
            <a:endParaRPr lang="en-US" sz="1400" dirty="0">
              <a:solidFill>
                <a:srgbClr val="FFFFFF"/>
              </a:solidFill>
              <a:latin typeface="Calibri"/>
              <a:ea typeface="Calibri"/>
              <a:cs typeface="Calibri"/>
            </a:endParaRPr>
          </a:p>
          <a:p>
            <a:pPr marL="342900" indent="-342900">
              <a:spcAft>
                <a:spcPts val="600"/>
              </a:spcAft>
              <a:buSzPct val="100000"/>
              <a:buChar char="•"/>
            </a:pPr>
            <a:endParaRPr lang="en-US" sz="1400" dirty="0">
              <a:solidFill>
                <a:srgbClr val="FFFFFF"/>
              </a:solidFill>
              <a:latin typeface="Calibri"/>
              <a:ea typeface="Calibri"/>
              <a:cs typeface="Calibri"/>
            </a:endParaRPr>
          </a:p>
          <a:p>
            <a:pPr marL="342900" indent="-342900">
              <a:spcAft>
                <a:spcPts val="600"/>
              </a:spcAft>
              <a:buSzPct val="100000"/>
              <a:buChar char="•"/>
            </a:pPr>
            <a:r>
              <a:rPr sz="1400" dirty="0">
                <a:solidFill>
                  <a:srgbClr val="FFFFFF"/>
                </a:solidFill>
                <a:latin typeface="Calibri"/>
                <a:ea typeface="Calibri"/>
                <a:cs typeface="Calibri"/>
              </a:rPr>
              <a:t>A safety pass filters instruction-bearing text before indexing. SQLite stores document terms, claims and provenance edges.</a:t>
            </a:r>
            <a:endParaRPr lang="en-US" sz="1400" dirty="0">
              <a:solidFill>
                <a:srgbClr val="FFFFFF"/>
              </a:solidFill>
              <a:latin typeface="Calibri"/>
              <a:ea typeface="Calibri"/>
              <a:cs typeface="Calibri"/>
            </a:endParaRPr>
          </a:p>
          <a:p>
            <a:pPr marL="342900" indent="-342900">
              <a:spcAft>
                <a:spcPts val="600"/>
              </a:spcAft>
              <a:buSzPct val="100000"/>
              <a:buChar char="•"/>
            </a:pPr>
            <a:endParaRPr lang="en-US" sz="1400" dirty="0">
              <a:solidFill>
                <a:srgbClr val="FFFFFF"/>
              </a:solidFill>
            </a:endParaRPr>
          </a:p>
          <a:p>
            <a:pPr marL="342900" indent="-342900">
              <a:spcAft>
                <a:spcPts val="600"/>
              </a:spcAft>
              <a:buSzPct val="100000"/>
              <a:buChar char="•"/>
            </a:pPr>
            <a:r>
              <a:rPr lang="en-US" sz="1400" dirty="0">
                <a:solidFill>
                  <a:srgbClr val="FFFFFF"/>
                </a:solidFill>
              </a:rPr>
              <a:t>An add, edit or delete updates only that document's records. Hindi and </a:t>
            </a:r>
            <a:r>
              <a:rPr lang="en-US" sz="1400" dirty="0" err="1">
                <a:solidFill>
                  <a:srgbClr val="FFFFFF"/>
                </a:solidFill>
              </a:rPr>
              <a:t>romanized</a:t>
            </a:r>
            <a:r>
              <a:rPr lang="en-US" sz="1400" dirty="0">
                <a:solidFill>
                  <a:srgbClr val="FFFFFF"/>
                </a:solidFill>
              </a:rPr>
              <a:t>-Hindi queries expand toward English terms. </a:t>
            </a:r>
          </a:p>
          <a:p>
            <a:pPr marL="342900" indent="-342900">
              <a:spcAft>
                <a:spcPts val="600"/>
              </a:spcAft>
              <a:buSzPct val="100000"/>
              <a:buChar char="•"/>
            </a:pPr>
            <a:endParaRPr lang="en-US" sz="1400" dirty="0">
              <a:solidFill>
                <a:srgbClr val="FFFFFF"/>
              </a:solidFill>
            </a:endParaRPr>
          </a:p>
          <a:p>
            <a:pPr marL="342900" indent="-342900">
              <a:spcAft>
                <a:spcPts val="600"/>
              </a:spcAft>
              <a:buSzPct val="100000"/>
              <a:buChar char="•"/>
            </a:pPr>
            <a:r>
              <a:rPr lang="en-US" sz="1400" dirty="0">
                <a:solidFill>
                  <a:srgbClr val="FFFFFF"/>
                </a:solidFill>
              </a:rPr>
              <a:t>Answers retain English evidence and a supporting graph path</a:t>
            </a:r>
            <a:r>
              <a:rPr sz="1400" dirty="0">
                <a:solidFill>
                  <a:srgbClr val="FFFFFF"/>
                </a:solidFill>
                <a:latin typeface="Calibri"/>
                <a:ea typeface="Calibri"/>
                <a:cs typeface="Calibri"/>
              </a:rPr>
              <a:t>.</a:t>
            </a:r>
            <a:endParaRPr sz="1400" dirty="0"/>
          </a:p>
        </p:txBody>
      </p:sp>
      <p:sp>
        <p:nvSpPr>
          <p:cNvPr id="7" name="Tech card">
            <a:extLst>
              <a:ext uri="{FF2B5EF4-FFF2-40B4-BE49-F238E27FC236}">
                <a16:creationId xmlns:a16="http://schemas.microsoft.com/office/drawing/2014/main" id="{DB185296-33B6-46DE-A0F7-95BD16C87BB0}"/>
              </a:ext>
            </a:extLst>
          </p:cNvPr>
          <p:cNvSpPr>
            <a:spLocks noGrp="1"/>
          </p:cNvSpPr>
          <p:nvPr/>
        </p:nvSpPr>
        <p:spPr>
          <a:xfrm>
            <a:off x="6245352" y="1691640"/>
            <a:ext cx="5486400" cy="2148840"/>
          </a:xfrm>
          <a:prstGeom prst="roundRect">
            <a:avLst>
              <a:gd name="adj" fmla="val 5106"/>
            </a:avLst>
          </a:prstGeom>
          <a:solidFill>
            <a:srgbClr val="0B1A4A">
              <a:alpha val="75000"/>
            </a:srgbClr>
          </a:solidFill>
          <a:ln w="12700">
            <a:solidFill>
              <a:srgbClr val="1E5BFF"/>
            </a:solidFill>
            <a:prstDash val="solid"/>
          </a:ln>
        </p:spPr>
      </p:sp>
      <p:sp>
        <p:nvSpPr>
          <p:cNvPr id="8" name="Tech head">
            <a:extLst>
              <a:ext uri="{FF2B5EF4-FFF2-40B4-BE49-F238E27FC236}">
                <a16:creationId xmlns:a16="http://schemas.microsoft.com/office/drawing/2014/main" id="{8F5DB58A-8B59-436A-A212-6A67B6903198}"/>
              </a:ext>
            </a:extLst>
          </p:cNvPr>
          <p:cNvSpPr>
            <a:spLocks noGrp="1"/>
          </p:cNvSpPr>
          <p:nvPr/>
        </p:nvSpPr>
        <p:spPr>
          <a:xfrm>
            <a:off x="6519672" y="1874520"/>
            <a:ext cx="49377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CORE TECHNOLOGIES</a:t>
            </a:r>
            <a:endParaRPr sz="1500"/>
          </a:p>
        </p:txBody>
      </p:sp>
      <p:sp>
        <p:nvSpPr>
          <p:cNvPr id="9" name="Tech body">
            <a:extLst>
              <a:ext uri="{FF2B5EF4-FFF2-40B4-BE49-F238E27FC236}">
                <a16:creationId xmlns:a16="http://schemas.microsoft.com/office/drawing/2014/main" id="{75518A5F-EBAB-420F-B744-7D84ADD92F1F}"/>
              </a:ext>
            </a:extLst>
          </p:cNvPr>
          <p:cNvSpPr>
            <a:spLocks noGrp="1"/>
          </p:cNvSpPr>
          <p:nvPr/>
        </p:nvSpPr>
        <p:spPr>
          <a:xfrm>
            <a:off x="6519672" y="2286000"/>
            <a:ext cx="4937760" cy="1463040"/>
          </a:xfrm>
          <a:prstGeom prst="rect">
            <a:avLst/>
          </a:prstGeom>
          <a:noFill/>
        </p:spPr>
        <p:txBody>
          <a:bodyPr wrap="square" lIns="0" tIns="0" rIns="0" bIns="0" anchor="t"/>
          <a:lstStyle/>
          <a:p>
            <a:pPr marL="342900" indent="-342900">
              <a:spcAft>
                <a:spcPts val="600"/>
              </a:spcAft>
              <a:buSzPct val="100000"/>
              <a:buChar char="•"/>
            </a:pPr>
            <a:r>
              <a:rPr sz="1400">
                <a:solidFill>
                  <a:srgbClr val="FFFFFF"/>
                </a:solidFill>
                <a:latin typeface="Calibri"/>
                <a:ea typeface="Calibri"/>
                <a:cs typeface="Calibri"/>
              </a:rPr>
              <a:t>Python + FastAPI backend</a:t>
            </a:r>
            <a:endParaRPr sz="1400"/>
          </a:p>
          <a:p>
            <a:pPr marL="342900" indent="-342900">
              <a:spcAft>
                <a:spcPts val="600"/>
              </a:spcAft>
              <a:buSzPct val="100000"/>
              <a:buChar char="•"/>
            </a:pPr>
            <a:r>
              <a:rPr sz="1400">
                <a:solidFill>
                  <a:srgbClr val="FFFFFF"/>
                </a:solidFill>
                <a:latin typeface="Calibri"/>
                <a:ea typeface="Calibri"/>
                <a:cs typeface="Calibri"/>
              </a:rPr>
              <a:t>SQLite document and graph stores</a:t>
            </a:r>
            <a:endParaRPr sz="1400"/>
          </a:p>
          <a:p>
            <a:pPr marL="342900" indent="-342900">
              <a:spcAft>
                <a:spcPts val="600"/>
              </a:spcAft>
              <a:buSzPct val="100000"/>
              <a:buChar char="•"/>
            </a:pPr>
            <a:r>
              <a:rPr sz="1400">
                <a:solidFill>
                  <a:srgbClr val="FFFFFF"/>
                </a:solidFill>
                <a:latin typeface="Calibri"/>
                <a:ea typeface="Calibri"/>
                <a:cs typeface="Calibri"/>
              </a:rPr>
              <a:t>React + TypeScript + Vite frontend</a:t>
            </a:r>
            <a:endParaRPr sz="1400"/>
          </a:p>
        </p:txBody>
      </p:sp>
      <p:sp>
        <p:nvSpPr>
          <p:cNvPr id="10" name="Unique card">
            <a:extLst>
              <a:ext uri="{FF2B5EF4-FFF2-40B4-BE49-F238E27FC236}">
                <a16:creationId xmlns:a16="http://schemas.microsoft.com/office/drawing/2014/main" id="{119570D4-010A-4676-A07E-20B7C27D5CD3}"/>
              </a:ext>
            </a:extLst>
          </p:cNvPr>
          <p:cNvSpPr>
            <a:spLocks noGrp="1"/>
          </p:cNvSpPr>
          <p:nvPr/>
        </p:nvSpPr>
        <p:spPr>
          <a:xfrm>
            <a:off x="6245352" y="4023360"/>
            <a:ext cx="5486400" cy="2103120"/>
          </a:xfrm>
          <a:prstGeom prst="roundRect">
            <a:avLst>
              <a:gd name="adj" fmla="val 5217"/>
            </a:avLst>
          </a:prstGeom>
          <a:solidFill>
            <a:srgbClr val="0B1A4A">
              <a:alpha val="75000"/>
            </a:srgbClr>
          </a:solidFill>
          <a:ln w="12700">
            <a:solidFill>
              <a:srgbClr val="1E5BFF"/>
            </a:solidFill>
            <a:prstDash val="solid"/>
          </a:ln>
        </p:spPr>
      </p:sp>
      <p:sp>
        <p:nvSpPr>
          <p:cNvPr id="11" name="Unique head">
            <a:extLst>
              <a:ext uri="{FF2B5EF4-FFF2-40B4-BE49-F238E27FC236}">
                <a16:creationId xmlns:a16="http://schemas.microsoft.com/office/drawing/2014/main" id="{366309E2-2E33-47D8-889B-348306AECE79}"/>
              </a:ext>
            </a:extLst>
          </p:cNvPr>
          <p:cNvSpPr>
            <a:spLocks noGrp="1"/>
          </p:cNvSpPr>
          <p:nvPr/>
        </p:nvSpPr>
        <p:spPr>
          <a:xfrm>
            <a:off x="6519672" y="4206240"/>
            <a:ext cx="49377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UNIQUE POINTS</a:t>
            </a:r>
            <a:endParaRPr sz="1500"/>
          </a:p>
        </p:txBody>
      </p:sp>
      <p:sp>
        <p:nvSpPr>
          <p:cNvPr id="12" name="Unique body">
            <a:extLst>
              <a:ext uri="{FF2B5EF4-FFF2-40B4-BE49-F238E27FC236}">
                <a16:creationId xmlns:a16="http://schemas.microsoft.com/office/drawing/2014/main" id="{F708072A-57CF-4526-BB7A-9C3EBD8E26BD}"/>
              </a:ext>
            </a:extLst>
          </p:cNvPr>
          <p:cNvSpPr>
            <a:spLocks noGrp="1"/>
          </p:cNvSpPr>
          <p:nvPr/>
        </p:nvSpPr>
        <p:spPr>
          <a:xfrm>
            <a:off x="6519672" y="4617720"/>
            <a:ext cx="4937760" cy="1371600"/>
          </a:xfrm>
          <a:prstGeom prst="rect">
            <a:avLst/>
          </a:prstGeom>
          <a:noFill/>
        </p:spPr>
        <p:txBody>
          <a:bodyPr wrap="square" lIns="0" tIns="0" rIns="0" bIns="0" anchor="t"/>
          <a:lstStyle/>
          <a:p>
            <a:pPr marL="342900" indent="-342900">
              <a:spcAft>
                <a:spcPts val="600"/>
              </a:spcAft>
              <a:buSzPct val="100000"/>
              <a:buChar char="•"/>
            </a:pPr>
            <a:r>
              <a:rPr sz="1400">
                <a:solidFill>
                  <a:srgbClr val="FFFFFF"/>
                </a:solidFill>
                <a:latin typeface="Calibri"/>
                <a:ea typeface="Calibri"/>
                <a:cs typeface="Calibri"/>
              </a:rPr>
              <a:t>Each document updates without a full rebuild.</a:t>
            </a:r>
            <a:endParaRPr sz="1400"/>
          </a:p>
          <a:p>
            <a:pPr marL="342900" indent="-342900">
              <a:spcAft>
                <a:spcPts val="600"/>
              </a:spcAft>
              <a:buSzPct val="100000"/>
              <a:buChar char="•"/>
            </a:pPr>
            <a:r>
              <a:rPr sz="1400">
                <a:solidFill>
                  <a:srgbClr val="FFFFFF"/>
                </a:solidFill>
                <a:latin typeface="Calibri"/>
                <a:ea typeface="Calibri"/>
                <a:cs typeface="Calibri"/>
              </a:rPr>
              <a:t>Conflicts remain visible with source paths.</a:t>
            </a:r>
            <a:endParaRPr sz="1400"/>
          </a:p>
        </p:txBody>
      </p:sp>
      <p:sp>
        <p:nvSpPr>
          <p:cNvPr id="25" name="Slide Number Placeholder 0">
            <a:extLst>
              <a:ext uri="{FF2B5EF4-FFF2-40B4-BE49-F238E27FC236}">
                <a16:creationId xmlns:a16="http://schemas.microsoft.com/office/drawing/2014/main" id="{7DC208FD-50B4-4737-A539-D41C018E9AB2}"/>
              </a:ext>
            </a:extLst>
          </p:cNvPr>
          <p:cNvSpPr>
            <a:spLocks noGrp="1"/>
          </p:cNvSpPr>
          <p:nvPr>
            <p:ph type="sldNum" idx="4294967295"/>
          </p:nvPr>
        </p:nvSpPr>
        <p:spPr>
          <a:xfrm>
            <a:off x="11155680" y="6428232"/>
            <a:ext cx="576072" cy="274320"/>
          </a:xfrm>
          <a:prstGeom prst="rect">
            <a:avLst/>
          </a:prstGeom>
        </p:spPr>
        <p:txBody>
          <a:bodyPr/>
          <a:lstStyle>
            <a:lvl1pPr>
              <a:buNone/>
              <a:defRPr sz="1000">
                <a:solidFill>
                  <a:srgbClr val="9CC4FF"/>
                </a:solidFill>
                <a:latin typeface="Arial"/>
                <a:ea typeface="Arial"/>
                <a:cs typeface="Arial"/>
              </a:defRPr>
            </a:lvl1pPr>
          </a:lstStyle>
          <a:p>
            <a:pPr algn="r">
              <a:buNone/>
            </a:pPr>
            <a:fld id="{F7021451-1387-4CA6-816F-3879F97B5CBC}" type="slidenum">
              <a:rPr b="0"/>
              <a:t>3</a:t>
            </a:fld>
            <a:endParaRPr/>
          </a:p>
        </p:txBody>
      </p:sp>
    </p:spTree>
    <p:extLst>
      <p:ext uri="{BB962C8B-B14F-4D97-AF65-F5344CB8AC3E}">
        <p14:creationId xmlns:p14="http://schemas.microsoft.com/office/powerpoint/2010/main" val="15151734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97A7651-D794-4689-A1CF-0A89E19DD4B9}"/>
              </a:ext>
            </a:extLst>
          </p:cNvPr>
          <p:cNvSpPr>
            <a:spLocks noGrp="1"/>
          </p:cNvSpPr>
          <p:nvPr/>
        </p:nvSpPr>
        <p:spPr>
          <a:xfrm>
            <a:off x="457200" y="960120"/>
            <a:ext cx="11274552" cy="731520"/>
          </a:xfrm>
          <a:prstGeom prst="rect">
            <a:avLst/>
          </a:prstGeom>
          <a:noFill/>
        </p:spPr>
        <p:txBody>
          <a:bodyPr wrap="square" lIns="0" tIns="0" rIns="0" bIns="0" anchor="ctr"/>
          <a:lstStyle/>
          <a:p>
            <a:pPr marL="0" indent="0">
              <a:buNone/>
            </a:pPr>
            <a:r>
              <a:rPr sz="3600" b="1" spc="200">
                <a:solidFill>
                  <a:srgbClr val="FFFFFF"/>
                </a:solidFill>
                <a:latin typeface="Arial"/>
                <a:ea typeface="Arial"/>
                <a:cs typeface="Arial"/>
              </a:rPr>
              <a:t>USER EXPERIENCE &amp; DESIGN</a:t>
            </a:r>
            <a:endParaRPr sz="3600"/>
          </a:p>
        </p:txBody>
      </p:sp>
      <p:sp>
        <p:nvSpPr>
          <p:cNvPr id="3" name="Team tag">
            <a:extLst>
              <a:ext uri="{FF2B5EF4-FFF2-40B4-BE49-F238E27FC236}">
                <a16:creationId xmlns:a16="http://schemas.microsoft.com/office/drawing/2014/main" id="{C14B8D7F-7864-4A41-8C40-80AF0B50E91F}"/>
              </a:ext>
            </a:extLst>
          </p:cNvPr>
          <p:cNvSpPr>
            <a:spLocks noGrp="1"/>
          </p:cNvSpPr>
          <p:nvPr/>
        </p:nvSpPr>
        <p:spPr>
          <a:xfrm>
            <a:off x="8503920" y="1097280"/>
            <a:ext cx="3227832" cy="320040"/>
          </a:xfrm>
          <a:prstGeom prst="rect">
            <a:avLst/>
          </a:prstGeom>
          <a:noFill/>
        </p:spPr>
        <p:txBody>
          <a:bodyPr wrap="square" lIns="0" tIns="0" rIns="0" bIns="0" anchor="ctr"/>
          <a:lstStyle/>
          <a:p>
            <a:pPr marL="0" indent="0" algn="r">
              <a:buNone/>
            </a:pPr>
            <a:r>
              <a:rPr sz="1200">
                <a:solidFill>
                  <a:srgbClr val="9CC4FF"/>
                </a:solidFill>
                <a:latin typeface="Calibri"/>
                <a:ea typeface="Calibri"/>
                <a:cs typeface="Calibri"/>
              </a:rPr>
              <a:t>DataTrust AI  |  Team ID pending</a:t>
            </a:r>
            <a:endParaRPr sz="1200"/>
          </a:p>
        </p:txBody>
      </p:sp>
      <p:sp>
        <p:nvSpPr>
          <p:cNvPr id="4" name="UI card">
            <a:extLst>
              <a:ext uri="{FF2B5EF4-FFF2-40B4-BE49-F238E27FC236}">
                <a16:creationId xmlns:a16="http://schemas.microsoft.com/office/drawing/2014/main" id="{68B4CBFD-25E4-4BD9-B969-4079D12F10F0}"/>
              </a:ext>
            </a:extLst>
          </p:cNvPr>
          <p:cNvSpPr>
            <a:spLocks noGrp="1"/>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I head">
            <a:extLst>
              <a:ext uri="{FF2B5EF4-FFF2-40B4-BE49-F238E27FC236}">
                <a16:creationId xmlns:a16="http://schemas.microsoft.com/office/drawing/2014/main" id="{51494179-AEC6-41B4-8AA7-741891029A6A}"/>
              </a:ext>
            </a:extLst>
          </p:cNvPr>
          <p:cNvSpPr>
            <a:spLocks noGrp="1"/>
          </p:cNvSpPr>
          <p:nvPr/>
        </p:nvSpPr>
        <p:spPr>
          <a:xfrm>
            <a:off x="731520" y="1874520"/>
            <a:ext cx="31089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USER INTERFACE</a:t>
            </a:r>
            <a:endParaRPr sz="1500"/>
          </a:p>
        </p:txBody>
      </p:sp>
      <p:sp>
        <p:nvSpPr>
          <p:cNvPr id="6" name="UI body">
            <a:extLst>
              <a:ext uri="{FF2B5EF4-FFF2-40B4-BE49-F238E27FC236}">
                <a16:creationId xmlns:a16="http://schemas.microsoft.com/office/drawing/2014/main" id="{E4E0A486-FE0C-4F48-9FB5-84781AAB55DB}"/>
              </a:ext>
            </a:extLst>
          </p:cNvPr>
          <p:cNvSpPr>
            <a:spLocks noGrp="1"/>
          </p:cNvSpPr>
          <p:nvPr/>
        </p:nvSpPr>
        <p:spPr>
          <a:xfrm>
            <a:off x="731520" y="2286000"/>
            <a:ext cx="3108960" cy="3657600"/>
          </a:xfrm>
          <a:prstGeom prst="rect">
            <a:avLst/>
          </a:prstGeom>
          <a:noFill/>
        </p:spPr>
        <p:txBody>
          <a:bodyPr wrap="square" lIns="0" tIns="0" rIns="0" bIns="0" anchor="t"/>
          <a:lstStyle/>
          <a:p>
            <a:pPr marL="342900" indent="-342900">
              <a:spcAft>
                <a:spcPts val="600"/>
              </a:spcAft>
              <a:buSzPct val="100000"/>
              <a:buChar char="•"/>
            </a:pPr>
            <a:r>
              <a:rPr sz="1400">
                <a:solidFill>
                  <a:srgbClr val="FFFFFF"/>
                </a:solidFill>
                <a:latin typeface="Calibri"/>
                <a:ea typeface="Calibri"/>
                <a:cs typeface="Calibri"/>
              </a:rPr>
              <a:t>Ask in Hindi or English. Add, edit or remove documents in Data Studio. Review batch time, graph counts, failures and ignored instructions. Open conflicting claims with their source excerpts and graph paths.</a:t>
            </a:r>
            <a:endParaRPr sz="1400"/>
          </a:p>
        </p:txBody>
      </p:sp>
      <p:sp>
        <p:nvSpPr>
          <p:cNvPr id="7" name="Flow card">
            <a:extLst>
              <a:ext uri="{FF2B5EF4-FFF2-40B4-BE49-F238E27FC236}">
                <a16:creationId xmlns:a16="http://schemas.microsoft.com/office/drawing/2014/main" id="{2055541C-16A9-46A8-9806-FE62CA595318}"/>
              </a:ext>
            </a:extLst>
          </p:cNvPr>
          <p:cNvSpPr>
            <a:spLocks noGrp="1"/>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Flow head">
            <a:extLst>
              <a:ext uri="{FF2B5EF4-FFF2-40B4-BE49-F238E27FC236}">
                <a16:creationId xmlns:a16="http://schemas.microsoft.com/office/drawing/2014/main" id="{F0CF6D4E-570F-441E-8552-9FDCF4DBECFE}"/>
              </a:ext>
            </a:extLst>
          </p:cNvPr>
          <p:cNvSpPr>
            <a:spLocks noGrp="1"/>
          </p:cNvSpPr>
          <p:nvPr/>
        </p:nvSpPr>
        <p:spPr>
          <a:xfrm>
            <a:off x="4544568" y="1874520"/>
            <a:ext cx="31089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USER FLOW</a:t>
            </a:r>
            <a:endParaRPr sz="1500"/>
          </a:p>
        </p:txBody>
      </p:sp>
      <p:sp>
        <p:nvSpPr>
          <p:cNvPr id="9" name="Flow dot 1">
            <a:extLst>
              <a:ext uri="{FF2B5EF4-FFF2-40B4-BE49-F238E27FC236}">
                <a16:creationId xmlns:a16="http://schemas.microsoft.com/office/drawing/2014/main" id="{DF091EA1-E644-4915-BFD4-9C82C1DC46CC}"/>
              </a:ext>
            </a:extLst>
          </p:cNvPr>
          <p:cNvSpPr>
            <a:spLocks noGrp="1"/>
          </p:cNvSpPr>
          <p:nvPr/>
        </p:nvSpPr>
        <p:spPr>
          <a:xfrm>
            <a:off x="4544568" y="2331720"/>
            <a:ext cx="502920" cy="502920"/>
          </a:xfrm>
          <a:prstGeom prst="ellipse">
            <a:avLst/>
          </a:prstGeom>
          <a:solidFill>
            <a:schemeClr val="accent1"/>
          </a:solidFill>
          <a:ln w="12700">
            <a:solidFill>
              <a:srgbClr val="FFFFFF"/>
            </a:solidFill>
            <a:prstDash val="solid"/>
          </a:ln>
        </p:spPr>
      </p:sp>
      <p:sp>
        <p:nvSpPr>
          <p:cNvPr id="10" name="Text 8">
            <a:extLst>
              <a:ext uri="{FF2B5EF4-FFF2-40B4-BE49-F238E27FC236}">
                <a16:creationId xmlns:a16="http://schemas.microsoft.com/office/drawing/2014/main" id="{E6167F41-2C0A-499A-B1F2-B40A63646502}"/>
              </a:ext>
            </a:extLst>
          </p:cNvPr>
          <p:cNvSpPr>
            <a:spLocks noGrp="1"/>
          </p:cNvSpPr>
          <p:nvPr/>
        </p:nvSpPr>
        <p:spPr>
          <a:xfrm>
            <a:off x="4544568" y="2331720"/>
            <a:ext cx="502920" cy="502920"/>
          </a:xfrm>
          <a:prstGeom prst="rect">
            <a:avLst/>
          </a:prstGeom>
          <a:noFill/>
        </p:spPr>
        <p:txBody>
          <a:bodyPr wrap="square" lIns="0" tIns="0" rIns="0" bIns="0" anchor="ctr"/>
          <a:lstStyle/>
          <a:p>
            <a:pPr marL="0" indent="0" algn="ctr">
              <a:buNone/>
            </a:pPr>
            <a:r>
              <a:rPr sz="1600" b="1">
                <a:solidFill>
                  <a:srgbClr val="FFFFFF"/>
                </a:solidFill>
                <a:latin typeface="Arial"/>
                <a:ea typeface="Arial"/>
                <a:cs typeface="Arial"/>
              </a:rPr>
              <a:t>1</a:t>
            </a:r>
            <a:endParaRPr sz="1600"/>
          </a:p>
        </p:txBody>
      </p:sp>
      <p:sp>
        <p:nvSpPr>
          <p:cNvPr id="11" name="Text 9">
            <a:extLst>
              <a:ext uri="{FF2B5EF4-FFF2-40B4-BE49-F238E27FC236}">
                <a16:creationId xmlns:a16="http://schemas.microsoft.com/office/drawing/2014/main" id="{7BCDF33F-394C-4D20-8B54-5F78FE74A186}"/>
              </a:ext>
            </a:extLst>
          </p:cNvPr>
          <p:cNvSpPr>
            <a:spLocks noGrp="1"/>
          </p:cNvSpPr>
          <p:nvPr/>
        </p:nvSpPr>
        <p:spPr>
          <a:xfrm>
            <a:off x="5212080" y="2286000"/>
            <a:ext cx="2560320" cy="594360"/>
          </a:xfrm>
          <a:prstGeom prst="rect">
            <a:avLst/>
          </a:prstGeom>
          <a:noFill/>
        </p:spPr>
        <p:txBody>
          <a:bodyPr wrap="square" lIns="0" tIns="0" rIns="0" bIns="0" anchor="ctr"/>
          <a:lstStyle/>
          <a:p>
            <a:pPr marL="0" indent="0">
              <a:buNone/>
            </a:pPr>
            <a:r>
              <a:rPr sz="1400">
                <a:solidFill>
                  <a:srgbClr val="FFFFFF"/>
                </a:solidFill>
                <a:latin typeface="Calibri"/>
                <a:ea typeface="Calibri"/>
                <a:cs typeface="Calibri"/>
              </a:rPr>
              <a:t>Ask a question</a:t>
            </a:r>
            <a:endParaRPr sz="1400"/>
          </a:p>
          <a:p>
            <a:pPr marL="0" indent="0">
              <a:buNone/>
            </a:pPr>
            <a:r>
              <a:rPr sz="1400">
                <a:solidFill>
                  <a:srgbClr val="FFFFFF"/>
                </a:solidFill>
                <a:latin typeface="Calibri"/>
                <a:ea typeface="Calibri"/>
                <a:cs typeface="Calibri"/>
              </a:rPr>
              <a:t>or ingest documents</a:t>
            </a:r>
            <a:endParaRPr sz="1400"/>
          </a:p>
        </p:txBody>
      </p:sp>
      <p:sp>
        <p:nvSpPr>
          <p:cNvPr id="12" name="Flow dot 2">
            <a:extLst>
              <a:ext uri="{FF2B5EF4-FFF2-40B4-BE49-F238E27FC236}">
                <a16:creationId xmlns:a16="http://schemas.microsoft.com/office/drawing/2014/main" id="{FAA436ED-A327-4FF1-8FA5-E2538271583A}"/>
              </a:ext>
            </a:extLst>
          </p:cNvPr>
          <p:cNvSpPr>
            <a:spLocks noGrp="1"/>
          </p:cNvSpPr>
          <p:nvPr/>
        </p:nvSpPr>
        <p:spPr>
          <a:xfrm>
            <a:off x="4544568" y="3520440"/>
            <a:ext cx="502920" cy="502920"/>
          </a:xfrm>
          <a:prstGeom prst="ellipse">
            <a:avLst/>
          </a:prstGeom>
          <a:solidFill>
            <a:schemeClr val="accent1"/>
          </a:solidFill>
          <a:ln w="12700">
            <a:solidFill>
              <a:srgbClr val="FFFFFF"/>
            </a:solidFill>
            <a:prstDash val="solid"/>
          </a:ln>
        </p:spPr>
      </p:sp>
      <p:sp>
        <p:nvSpPr>
          <p:cNvPr id="13" name="Text 11">
            <a:extLst>
              <a:ext uri="{FF2B5EF4-FFF2-40B4-BE49-F238E27FC236}">
                <a16:creationId xmlns:a16="http://schemas.microsoft.com/office/drawing/2014/main" id="{6D921AA6-C6C9-4AD0-91B8-15E2E1609F43}"/>
              </a:ext>
            </a:extLst>
          </p:cNvPr>
          <p:cNvSpPr>
            <a:spLocks noGrp="1"/>
          </p:cNvSpPr>
          <p:nvPr/>
        </p:nvSpPr>
        <p:spPr>
          <a:xfrm>
            <a:off x="4544568" y="3520440"/>
            <a:ext cx="502920" cy="502920"/>
          </a:xfrm>
          <a:prstGeom prst="rect">
            <a:avLst/>
          </a:prstGeom>
          <a:noFill/>
        </p:spPr>
        <p:txBody>
          <a:bodyPr wrap="square" lIns="0" tIns="0" rIns="0" bIns="0" anchor="ctr"/>
          <a:lstStyle/>
          <a:p>
            <a:pPr marL="0" indent="0" algn="ctr">
              <a:buNone/>
            </a:pPr>
            <a:r>
              <a:rPr sz="1600" b="1">
                <a:solidFill>
                  <a:srgbClr val="FFFFFF"/>
                </a:solidFill>
                <a:latin typeface="Arial"/>
                <a:ea typeface="Arial"/>
                <a:cs typeface="Arial"/>
              </a:rPr>
              <a:t>2</a:t>
            </a:r>
            <a:endParaRPr sz="1600"/>
          </a:p>
        </p:txBody>
      </p:sp>
      <p:sp>
        <p:nvSpPr>
          <p:cNvPr id="14" name="Text 12">
            <a:extLst>
              <a:ext uri="{FF2B5EF4-FFF2-40B4-BE49-F238E27FC236}">
                <a16:creationId xmlns:a16="http://schemas.microsoft.com/office/drawing/2014/main" id="{0D605CE5-3F26-4737-8C50-7FC26AEDC448}"/>
              </a:ext>
            </a:extLst>
          </p:cNvPr>
          <p:cNvSpPr>
            <a:spLocks noGrp="1"/>
          </p:cNvSpPr>
          <p:nvPr/>
        </p:nvSpPr>
        <p:spPr>
          <a:xfrm>
            <a:off x="5212080" y="3474720"/>
            <a:ext cx="2560320" cy="594360"/>
          </a:xfrm>
          <a:prstGeom prst="rect">
            <a:avLst/>
          </a:prstGeom>
          <a:noFill/>
        </p:spPr>
        <p:txBody>
          <a:bodyPr wrap="square" lIns="0" tIns="0" rIns="0" bIns="0" anchor="ctr"/>
          <a:lstStyle/>
          <a:p>
            <a:pPr marL="0" indent="0">
              <a:buNone/>
            </a:pPr>
            <a:r>
              <a:rPr sz="1400">
                <a:solidFill>
                  <a:srgbClr val="FFFFFF"/>
                </a:solidFill>
                <a:latin typeface="Calibri"/>
                <a:ea typeface="Calibri"/>
                <a:cs typeface="Calibri"/>
              </a:rPr>
              <a:t>Retrieve claims</a:t>
            </a:r>
            <a:endParaRPr sz="1400"/>
          </a:p>
          <a:p>
            <a:pPr marL="0" indent="0">
              <a:buNone/>
            </a:pPr>
            <a:r>
              <a:rPr sz="1400">
                <a:solidFill>
                  <a:srgbClr val="FFFFFF"/>
                </a:solidFill>
                <a:latin typeface="Calibri"/>
                <a:ea typeface="Calibri"/>
                <a:cs typeface="Calibri"/>
              </a:rPr>
              <a:t>and graph links</a:t>
            </a:r>
            <a:endParaRPr sz="1400"/>
          </a:p>
        </p:txBody>
      </p:sp>
      <p:sp>
        <p:nvSpPr>
          <p:cNvPr id="15" name="Flow dot 3">
            <a:extLst>
              <a:ext uri="{FF2B5EF4-FFF2-40B4-BE49-F238E27FC236}">
                <a16:creationId xmlns:a16="http://schemas.microsoft.com/office/drawing/2014/main" id="{B31A7553-83BC-4E50-BEFF-9B76D78C36A5}"/>
              </a:ext>
            </a:extLst>
          </p:cNvPr>
          <p:cNvSpPr>
            <a:spLocks noGrp="1"/>
          </p:cNvSpPr>
          <p:nvPr/>
        </p:nvSpPr>
        <p:spPr>
          <a:xfrm>
            <a:off x="4544568" y="4709160"/>
            <a:ext cx="502920" cy="502920"/>
          </a:xfrm>
          <a:prstGeom prst="ellipse">
            <a:avLst/>
          </a:prstGeom>
          <a:solidFill>
            <a:schemeClr val="accent1"/>
          </a:solidFill>
          <a:ln w="12700">
            <a:solidFill>
              <a:srgbClr val="FFFFFF"/>
            </a:solidFill>
            <a:prstDash val="solid"/>
          </a:ln>
        </p:spPr>
      </p:sp>
      <p:sp>
        <p:nvSpPr>
          <p:cNvPr id="16" name="Text 14">
            <a:extLst>
              <a:ext uri="{FF2B5EF4-FFF2-40B4-BE49-F238E27FC236}">
                <a16:creationId xmlns:a16="http://schemas.microsoft.com/office/drawing/2014/main" id="{8577198F-53EF-40CE-9B9C-35398E5E6B3B}"/>
              </a:ext>
            </a:extLst>
          </p:cNvPr>
          <p:cNvSpPr>
            <a:spLocks noGrp="1"/>
          </p:cNvSpPr>
          <p:nvPr/>
        </p:nvSpPr>
        <p:spPr>
          <a:xfrm>
            <a:off x="4544568" y="4709160"/>
            <a:ext cx="502920" cy="502920"/>
          </a:xfrm>
          <a:prstGeom prst="rect">
            <a:avLst/>
          </a:prstGeom>
          <a:noFill/>
        </p:spPr>
        <p:txBody>
          <a:bodyPr wrap="square" lIns="0" tIns="0" rIns="0" bIns="0" anchor="ctr"/>
          <a:lstStyle/>
          <a:p>
            <a:pPr marL="0" indent="0" algn="ctr">
              <a:buNone/>
            </a:pPr>
            <a:r>
              <a:rPr sz="1600" b="1">
                <a:solidFill>
                  <a:srgbClr val="FFFFFF"/>
                </a:solidFill>
                <a:latin typeface="Arial"/>
                <a:ea typeface="Arial"/>
                <a:cs typeface="Arial"/>
              </a:rPr>
              <a:t>3</a:t>
            </a:r>
            <a:endParaRPr sz="1600"/>
          </a:p>
        </p:txBody>
      </p:sp>
      <p:sp>
        <p:nvSpPr>
          <p:cNvPr id="17" name="Text 15">
            <a:extLst>
              <a:ext uri="{FF2B5EF4-FFF2-40B4-BE49-F238E27FC236}">
                <a16:creationId xmlns:a16="http://schemas.microsoft.com/office/drawing/2014/main" id="{6260D5A3-BFE1-4DA4-9058-9D067922FF3B}"/>
              </a:ext>
            </a:extLst>
          </p:cNvPr>
          <p:cNvSpPr>
            <a:spLocks noGrp="1"/>
          </p:cNvSpPr>
          <p:nvPr/>
        </p:nvSpPr>
        <p:spPr>
          <a:xfrm>
            <a:off x="5212080" y="4663440"/>
            <a:ext cx="2560320" cy="594360"/>
          </a:xfrm>
          <a:prstGeom prst="rect">
            <a:avLst/>
          </a:prstGeom>
          <a:noFill/>
        </p:spPr>
        <p:txBody>
          <a:bodyPr wrap="square" lIns="0" tIns="0" rIns="0" bIns="0" anchor="ctr"/>
          <a:lstStyle/>
          <a:p>
            <a:pPr marL="0" indent="0">
              <a:buNone/>
            </a:pPr>
            <a:r>
              <a:rPr sz="1400">
                <a:solidFill>
                  <a:srgbClr val="FFFFFF"/>
                </a:solidFill>
                <a:latin typeface="Calibri"/>
                <a:ea typeface="Calibri"/>
                <a:cs typeface="Calibri"/>
              </a:rPr>
              <a:t>Review sourced</a:t>
            </a:r>
            <a:endParaRPr sz="1400"/>
          </a:p>
          <a:p>
            <a:pPr marL="0" indent="0">
              <a:buNone/>
            </a:pPr>
            <a:r>
              <a:rPr sz="1400">
                <a:solidFill>
                  <a:srgbClr val="FFFFFF"/>
                </a:solidFill>
                <a:latin typeface="Calibri"/>
                <a:ea typeface="Calibri"/>
                <a:cs typeface="Calibri"/>
              </a:rPr>
              <a:t>answer or conflict</a:t>
            </a:r>
            <a:endParaRPr sz="1400"/>
          </a:p>
        </p:txBody>
      </p:sp>
      <p:sp>
        <p:nvSpPr>
          <p:cNvPr id="18" name="Goal card">
            <a:extLst>
              <a:ext uri="{FF2B5EF4-FFF2-40B4-BE49-F238E27FC236}">
                <a16:creationId xmlns:a16="http://schemas.microsoft.com/office/drawing/2014/main" id="{6DBCFF46-202D-4056-ABA6-225F0213A29C}"/>
              </a:ext>
            </a:extLst>
          </p:cNvPr>
          <p:cNvSpPr>
            <a:spLocks noGrp="1"/>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9" name="Goal head">
            <a:extLst>
              <a:ext uri="{FF2B5EF4-FFF2-40B4-BE49-F238E27FC236}">
                <a16:creationId xmlns:a16="http://schemas.microsoft.com/office/drawing/2014/main" id="{F5ADC8EE-55AE-4045-9FA9-82A8B761ACA5}"/>
              </a:ext>
            </a:extLst>
          </p:cNvPr>
          <p:cNvSpPr>
            <a:spLocks noGrp="1"/>
          </p:cNvSpPr>
          <p:nvPr/>
        </p:nvSpPr>
        <p:spPr>
          <a:xfrm>
            <a:off x="8348472" y="1874520"/>
            <a:ext cx="31089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DESIGN GOAL</a:t>
            </a:r>
            <a:endParaRPr sz="1500"/>
          </a:p>
        </p:txBody>
      </p:sp>
      <p:sp>
        <p:nvSpPr>
          <p:cNvPr id="20" name="Goal body">
            <a:extLst>
              <a:ext uri="{FF2B5EF4-FFF2-40B4-BE49-F238E27FC236}">
                <a16:creationId xmlns:a16="http://schemas.microsoft.com/office/drawing/2014/main" id="{1F48EFD7-9B86-4C8F-BED4-E1D59B18847B}"/>
              </a:ext>
            </a:extLst>
          </p:cNvPr>
          <p:cNvSpPr>
            <a:spLocks noGrp="1"/>
          </p:cNvSpPr>
          <p:nvPr/>
        </p:nvSpPr>
        <p:spPr>
          <a:xfrm>
            <a:off x="8348472" y="2286000"/>
            <a:ext cx="3108960" cy="1463040"/>
          </a:xfrm>
          <a:prstGeom prst="rect">
            <a:avLst/>
          </a:prstGeom>
          <a:noFill/>
        </p:spPr>
        <p:txBody>
          <a:bodyPr wrap="square" lIns="0" tIns="0" rIns="0" bIns="0" anchor="t"/>
          <a:lstStyle/>
          <a:p>
            <a:pPr marL="0" indent="0">
              <a:buNone/>
            </a:pPr>
            <a:r>
              <a:rPr sz="1400">
                <a:solidFill>
                  <a:srgbClr val="FFFFFF"/>
                </a:solidFill>
                <a:latin typeface="Calibri"/>
                <a:ea typeface="Calibri"/>
                <a:cs typeface="Calibri"/>
              </a:rPr>
              <a:t>Trace each answer to its source documents and graph paths.</a:t>
            </a:r>
            <a:endParaRPr sz="1400"/>
          </a:p>
        </p:txBody>
      </p:sp>
      <p:sp>
        <p:nvSpPr>
          <p:cNvPr id="21" name="Wireframe placeholder">
            <a:extLst>
              <a:ext uri="{FF2B5EF4-FFF2-40B4-BE49-F238E27FC236}">
                <a16:creationId xmlns:a16="http://schemas.microsoft.com/office/drawing/2014/main" id="{F1427D5C-8E20-47D1-B890-3D0BFE2E447E}"/>
              </a:ext>
            </a:extLst>
          </p:cNvPr>
          <p:cNvSpPr>
            <a:spLocks noGrp="1"/>
          </p:cNvSpPr>
          <p:nvPr/>
        </p:nvSpPr>
        <p:spPr>
          <a:xfrm>
            <a:off x="8348472" y="4206240"/>
            <a:ext cx="3108960" cy="1645920"/>
          </a:xfrm>
          <a:prstGeom prst="rect">
            <a:avLst/>
          </a:prstGeom>
          <a:noFill/>
        </p:spPr>
        <p:txBody>
          <a:bodyPr wrap="square" anchor="ctr"/>
          <a:lstStyle/>
          <a:p>
            <a:pPr marL="0" indent="0" algn="ctr">
              <a:buNone/>
            </a:pPr>
            <a:r>
              <a:rPr sz="1300" i="1">
                <a:solidFill>
                  <a:srgbClr val="9CC4FF"/>
                </a:solidFill>
                <a:latin typeface="Calibri"/>
                <a:ea typeface="Calibri"/>
                <a:cs typeface="Calibri"/>
              </a:rPr>
              <a:t>Question → claim → source document</a:t>
            </a:r>
            <a:endParaRPr sz="1300"/>
          </a:p>
        </p:txBody>
      </p:sp>
      <p:sp>
        <p:nvSpPr>
          <p:cNvPr id="25" name="Slide Number Placeholder 0">
            <a:extLst>
              <a:ext uri="{FF2B5EF4-FFF2-40B4-BE49-F238E27FC236}">
                <a16:creationId xmlns:a16="http://schemas.microsoft.com/office/drawing/2014/main" id="{F133C4AF-F8E3-4F4E-B6DB-3868DCBD8213}"/>
              </a:ext>
            </a:extLst>
          </p:cNvPr>
          <p:cNvSpPr>
            <a:spLocks noGrp="1"/>
          </p:cNvSpPr>
          <p:nvPr>
            <p:ph type="sldNum" idx="4294967295"/>
          </p:nvPr>
        </p:nvSpPr>
        <p:spPr>
          <a:xfrm>
            <a:off x="11155680" y="6428232"/>
            <a:ext cx="576072" cy="274320"/>
          </a:xfrm>
          <a:prstGeom prst="rect">
            <a:avLst/>
          </a:prstGeom>
        </p:spPr>
        <p:txBody>
          <a:bodyPr/>
          <a:lstStyle>
            <a:lvl1pPr>
              <a:buNone/>
              <a:defRPr sz="1000">
                <a:solidFill>
                  <a:srgbClr val="9CC4FF"/>
                </a:solidFill>
                <a:latin typeface="Arial"/>
                <a:ea typeface="Arial"/>
                <a:cs typeface="Arial"/>
              </a:defRPr>
            </a:lvl1pPr>
          </a:lstStyle>
          <a:p>
            <a:pPr algn="r">
              <a:buNone/>
            </a:pPr>
            <a:fld id="{F7021451-1387-4CA6-816F-3879F97B5CBC}" type="slidenum">
              <a:rPr b="0"/>
              <a:t>4</a:t>
            </a:fld>
            <a:endParaRPr/>
          </a:p>
        </p:txBody>
      </p:sp>
    </p:spTree>
    <p:extLst>
      <p:ext uri="{BB962C8B-B14F-4D97-AF65-F5344CB8AC3E}">
        <p14:creationId xmlns:p14="http://schemas.microsoft.com/office/powerpoint/2010/main" val="126562562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FC8B109D-F983-49F5-BF3B-94D3D2328EBE}"/>
              </a:ext>
            </a:extLst>
          </p:cNvPr>
          <p:cNvSpPr>
            <a:spLocks noGrp="1"/>
          </p:cNvSpPr>
          <p:nvPr/>
        </p:nvSpPr>
        <p:spPr>
          <a:xfrm>
            <a:off x="457200" y="960120"/>
            <a:ext cx="11274552" cy="731520"/>
          </a:xfrm>
          <a:prstGeom prst="rect">
            <a:avLst/>
          </a:prstGeom>
          <a:noFill/>
        </p:spPr>
        <p:txBody>
          <a:bodyPr wrap="square" lIns="0" tIns="0" rIns="0" bIns="0" anchor="ctr"/>
          <a:lstStyle/>
          <a:p>
            <a:pPr marL="0" indent="0">
              <a:buNone/>
            </a:pPr>
            <a:r>
              <a:rPr sz="3600" b="1" spc="200">
                <a:solidFill>
                  <a:srgbClr val="FFFFFF"/>
                </a:solidFill>
                <a:latin typeface="Arial"/>
                <a:ea typeface="Arial"/>
                <a:cs typeface="Arial"/>
              </a:rPr>
              <a:t>FEASIBILITY AND VIABILITY</a:t>
            </a:r>
            <a:endParaRPr sz="3600"/>
          </a:p>
        </p:txBody>
      </p:sp>
      <p:sp>
        <p:nvSpPr>
          <p:cNvPr id="3" name="Team tag">
            <a:extLst>
              <a:ext uri="{FF2B5EF4-FFF2-40B4-BE49-F238E27FC236}">
                <a16:creationId xmlns:a16="http://schemas.microsoft.com/office/drawing/2014/main" id="{A9D6734E-1CC5-41F0-8509-1CFEA4791C8C}"/>
              </a:ext>
            </a:extLst>
          </p:cNvPr>
          <p:cNvSpPr>
            <a:spLocks noGrp="1"/>
          </p:cNvSpPr>
          <p:nvPr/>
        </p:nvSpPr>
        <p:spPr>
          <a:xfrm>
            <a:off x="8503920" y="1097280"/>
            <a:ext cx="3227832" cy="320040"/>
          </a:xfrm>
          <a:prstGeom prst="rect">
            <a:avLst/>
          </a:prstGeom>
          <a:noFill/>
        </p:spPr>
        <p:txBody>
          <a:bodyPr wrap="square" lIns="0" tIns="0" rIns="0" bIns="0" anchor="ctr"/>
          <a:lstStyle/>
          <a:p>
            <a:pPr marL="0" indent="0" algn="r">
              <a:buNone/>
            </a:pPr>
            <a:r>
              <a:rPr sz="1200">
                <a:solidFill>
                  <a:srgbClr val="9CC4FF"/>
                </a:solidFill>
                <a:latin typeface="Calibri"/>
                <a:ea typeface="Calibri"/>
                <a:cs typeface="Calibri"/>
              </a:rPr>
              <a:t>DataTrust AI  |  Team ID pending</a:t>
            </a:r>
            <a:endParaRPr sz="1200"/>
          </a:p>
        </p:txBody>
      </p:sp>
      <p:sp>
        <p:nvSpPr>
          <p:cNvPr id="4" name="Technical Feasibility card">
            <a:extLst>
              <a:ext uri="{FF2B5EF4-FFF2-40B4-BE49-F238E27FC236}">
                <a16:creationId xmlns:a16="http://schemas.microsoft.com/office/drawing/2014/main" id="{1BAC6998-7A03-4B89-AFCC-05C34C148E14}"/>
              </a:ext>
            </a:extLst>
          </p:cNvPr>
          <p:cNvSpPr>
            <a:spLocks noGrp="1"/>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Technical Feasibility head">
            <a:extLst>
              <a:ext uri="{FF2B5EF4-FFF2-40B4-BE49-F238E27FC236}">
                <a16:creationId xmlns:a16="http://schemas.microsoft.com/office/drawing/2014/main" id="{9067B5D4-D149-465D-8D5D-567BCCE1E24B}"/>
              </a:ext>
            </a:extLst>
          </p:cNvPr>
          <p:cNvSpPr>
            <a:spLocks noGrp="1"/>
          </p:cNvSpPr>
          <p:nvPr/>
        </p:nvSpPr>
        <p:spPr>
          <a:xfrm>
            <a:off x="731520" y="1874520"/>
            <a:ext cx="31089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TECHNICAL FEASIBILITY</a:t>
            </a:r>
            <a:endParaRPr sz="1500"/>
          </a:p>
        </p:txBody>
      </p:sp>
      <p:sp>
        <p:nvSpPr>
          <p:cNvPr id="6" name="Technical Feasibility body">
            <a:extLst>
              <a:ext uri="{FF2B5EF4-FFF2-40B4-BE49-F238E27FC236}">
                <a16:creationId xmlns:a16="http://schemas.microsoft.com/office/drawing/2014/main" id="{881F0955-00CA-4185-A707-555AC67065B9}"/>
              </a:ext>
            </a:extLst>
          </p:cNvPr>
          <p:cNvSpPr>
            <a:spLocks noGrp="1"/>
          </p:cNvSpPr>
          <p:nvPr/>
        </p:nvSpPr>
        <p:spPr>
          <a:xfrm>
            <a:off x="731520" y="2377440"/>
            <a:ext cx="3108960" cy="3474720"/>
          </a:xfrm>
          <a:prstGeom prst="rect">
            <a:avLst/>
          </a:prstGeom>
          <a:noFill/>
        </p:spPr>
        <p:txBody>
          <a:bodyPr wrap="square" lIns="0" tIns="0" rIns="0" bIns="0" anchor="t"/>
          <a:lstStyle>
            <a:defPPr algn="l">
              <a:defRPr sz="1400">
                <a:solidFill>
                  <a:srgbClr val="FFFFFF"/>
                </a:solidFill>
                <a:latin typeface="Calibri"/>
                <a:ea typeface="Calibri"/>
                <a:cs typeface="Calibri"/>
              </a:defRPr>
            </a:defPPr>
            <a:lvl1pPr algn="l">
              <a:buNone/>
              <a:defRPr sz="1400">
                <a:solidFill>
                  <a:srgbClr val="FFFFFF"/>
                </a:solidFill>
                <a:latin typeface="Calibri"/>
                <a:ea typeface="Calibri"/>
                <a:cs typeface="Calibri"/>
              </a:defRPr>
            </a:lvl1pPr>
            <a:lvl2pPr algn="l">
              <a:buNone/>
              <a:defRPr sz="1400">
                <a:solidFill>
                  <a:srgbClr val="FFFFFF"/>
                </a:solidFill>
                <a:latin typeface="Calibri"/>
                <a:ea typeface="Calibri"/>
                <a:cs typeface="Calibri"/>
              </a:defRPr>
            </a:lvl2pPr>
            <a:lvl3pPr algn="l">
              <a:buNone/>
              <a:defRPr sz="1400">
                <a:solidFill>
                  <a:srgbClr val="FFFFFF"/>
                </a:solidFill>
                <a:latin typeface="Calibri"/>
                <a:ea typeface="Calibri"/>
                <a:cs typeface="Calibri"/>
              </a:defRPr>
            </a:lvl3pPr>
            <a:lvl4pPr algn="l">
              <a:buNone/>
              <a:defRPr sz="1400">
                <a:solidFill>
                  <a:srgbClr val="FFFFFF"/>
                </a:solidFill>
                <a:latin typeface="Calibri"/>
                <a:ea typeface="Calibri"/>
                <a:cs typeface="Calibri"/>
              </a:defRPr>
            </a:lvl4pPr>
            <a:lvl5pPr algn="l">
              <a:buNone/>
              <a:defRPr sz="1400">
                <a:solidFill>
                  <a:srgbClr val="FFFFFF"/>
                </a:solidFill>
                <a:latin typeface="Calibri"/>
                <a:ea typeface="Calibri"/>
                <a:cs typeface="Calibri"/>
              </a:defRPr>
            </a:lvl5pPr>
            <a:lvl6pPr algn="l">
              <a:buNone/>
              <a:defRPr sz="1400">
                <a:solidFill>
                  <a:srgbClr val="FFFFFF"/>
                </a:solidFill>
                <a:latin typeface="Calibri"/>
                <a:ea typeface="Calibri"/>
                <a:cs typeface="Calibri"/>
              </a:defRPr>
            </a:lvl6pPr>
            <a:lvl7pPr algn="l">
              <a:buNone/>
              <a:defRPr sz="1400">
                <a:solidFill>
                  <a:srgbClr val="FFFFFF"/>
                </a:solidFill>
                <a:latin typeface="Calibri"/>
                <a:ea typeface="Calibri"/>
                <a:cs typeface="Calibri"/>
              </a:defRPr>
            </a:lvl7pPr>
            <a:lvl8pPr algn="l">
              <a:buNone/>
              <a:defRPr sz="1400">
                <a:solidFill>
                  <a:srgbClr val="FFFFFF"/>
                </a:solidFill>
                <a:latin typeface="Calibri"/>
                <a:ea typeface="Calibri"/>
                <a:cs typeface="Calibri"/>
              </a:defRPr>
            </a:lvl8pPr>
            <a:lvl9pPr algn="l">
              <a:buNone/>
              <a:defRPr sz="1400">
                <a:solidFill>
                  <a:srgbClr val="FFFFFF"/>
                </a:solidFill>
                <a:latin typeface="Calibri"/>
                <a:ea typeface="Calibri"/>
                <a:cs typeface="Calibri"/>
              </a:defRPr>
            </a:lvl9pPr>
          </a:lstStyle>
          <a:p>
            <a:pPr marL="342900" indent="-342900" algn="l">
              <a:spcAft>
                <a:spcPts val="600"/>
              </a:spcAft>
              <a:buChar char="•"/>
              <a:defRPr sz="1400">
                <a:solidFill>
                  <a:srgbClr val="FFFFFF"/>
                </a:solidFill>
                <a:latin typeface="Calibri"/>
                <a:ea typeface="Calibri"/>
                <a:cs typeface="Calibri"/>
              </a:defRPr>
            </a:pPr>
            <a:r>
              <a:rPr sz="1400">
                <a:solidFill>
                  <a:srgbClr val="FFFFFF"/>
                </a:solidFill>
                <a:latin typeface="Calibri"/>
                <a:ea typeface="Calibri"/>
                <a:cs typeface="Calibri"/>
              </a:rPr>
              <a:t>Python, FastAPI and SQLite run locally.</a:t>
            </a:r>
          </a:p>
          <a:p>
            <a:pPr marL="342900" indent="-342900" algn="l">
              <a:spcAft>
                <a:spcPts val="600"/>
              </a:spcAft>
              <a:buChar char="•"/>
              <a:defRPr sz="1400">
                <a:solidFill>
                  <a:srgbClr val="FFFFFF"/>
                </a:solidFill>
                <a:latin typeface="Calibri"/>
                <a:ea typeface="Calibri"/>
                <a:cs typeface="Calibri"/>
              </a:defRPr>
            </a:pPr>
            <a:r>
              <a:rPr sz="1400">
                <a:solidFill>
                  <a:srgbClr val="FFFFFF"/>
                </a:solidFill>
                <a:latin typeface="Calibri"/>
                <a:ea typeface="Calibri"/>
                <a:cs typeface="Calibri"/>
              </a:rPr>
              <a:t>A mutation replaces only one document's index, claims and edges.</a:t>
            </a:r>
          </a:p>
          <a:p>
            <a:pPr marL="342900" indent="-342900" algn="l">
              <a:spcAft>
                <a:spcPts val="600"/>
              </a:spcAft>
              <a:buChar char="•"/>
              <a:defRPr sz="1400">
                <a:solidFill>
                  <a:srgbClr val="FFFFFF"/>
                </a:solidFill>
                <a:latin typeface="Calibri"/>
                <a:ea typeface="Calibri"/>
                <a:cs typeface="Calibri"/>
              </a:defRPr>
            </a:pPr>
            <a:r>
              <a:rPr sz="1400">
                <a:solidFill>
                  <a:srgbClr val="FFFFFF"/>
                </a:solidFill>
                <a:latin typeface="Calibri"/>
                <a:ea typeface="Calibri"/>
                <a:cs typeface="Calibri"/>
              </a:rPr>
              <a:t>Batch ingestion accepts up to 2,000 documents per request.</a:t>
            </a:r>
          </a:p>
          <a:p>
            <a:pPr marL="342900" indent="-342900" algn="l">
              <a:spcAft>
                <a:spcPts val="600"/>
              </a:spcAft>
              <a:buChar char="•"/>
              <a:defRPr sz="1400">
                <a:solidFill>
                  <a:srgbClr val="FFFFFF"/>
                </a:solidFill>
                <a:latin typeface="Calibri"/>
                <a:ea typeface="Calibri"/>
                <a:cs typeface="Calibri"/>
              </a:defRPr>
            </a:pPr>
            <a:r>
              <a:rPr sz="1400">
                <a:solidFill>
                  <a:srgbClr val="FFFFFF"/>
                </a:solidFill>
                <a:latin typeface="Calibri"/>
                <a:ea typeface="Calibri"/>
                <a:cs typeface="Calibri"/>
              </a:rPr>
              <a:t>Results report time, failures, ignored instructions and graph size.</a:t>
            </a:r>
          </a:p>
          <a:p>
            <a:pPr marL="342900" indent="-342900" algn="l">
              <a:spcAft>
                <a:spcPts val="600"/>
              </a:spcAft>
              <a:buChar char="•"/>
              <a:defRPr sz="1400">
                <a:solidFill>
                  <a:srgbClr val="FFFFFF"/>
                </a:solidFill>
                <a:latin typeface="Calibri"/>
                <a:ea typeface="Calibri"/>
                <a:cs typeface="Calibri"/>
              </a:defRPr>
            </a:pPr>
            <a:r>
              <a:rPr sz="1400">
                <a:solidFill>
                  <a:srgbClr val="FFFFFF"/>
                </a:solidFill>
                <a:latin typeface="Calibri"/>
                <a:ea typeface="Calibri"/>
                <a:cs typeface="Calibri"/>
              </a:rPr>
              <a:t>The deterministic test flow needs no external model or API key.</a:t>
            </a:r>
          </a:p>
        </p:txBody>
      </p:sp>
      <p:sp>
        <p:nvSpPr>
          <p:cNvPr id="7" name="Economic Feasibility card">
            <a:extLst>
              <a:ext uri="{FF2B5EF4-FFF2-40B4-BE49-F238E27FC236}">
                <a16:creationId xmlns:a16="http://schemas.microsoft.com/office/drawing/2014/main" id="{A7A75D63-DF7D-427D-8FD8-0933F1F0985F}"/>
              </a:ext>
            </a:extLst>
          </p:cNvPr>
          <p:cNvSpPr>
            <a:spLocks noGrp="1"/>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Economic Feasibility head">
            <a:extLst>
              <a:ext uri="{FF2B5EF4-FFF2-40B4-BE49-F238E27FC236}">
                <a16:creationId xmlns:a16="http://schemas.microsoft.com/office/drawing/2014/main" id="{3333672E-7C7F-475C-B0F4-EA39C06A3490}"/>
              </a:ext>
            </a:extLst>
          </p:cNvPr>
          <p:cNvSpPr>
            <a:spLocks noGrp="1"/>
          </p:cNvSpPr>
          <p:nvPr/>
        </p:nvSpPr>
        <p:spPr>
          <a:xfrm>
            <a:off x="4544568" y="1874520"/>
            <a:ext cx="31089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ECONOMIC FEASIBILITY</a:t>
            </a:r>
            <a:endParaRPr sz="1500"/>
          </a:p>
        </p:txBody>
      </p:sp>
      <p:sp>
        <p:nvSpPr>
          <p:cNvPr id="9" name="Economic Feasibility body">
            <a:extLst>
              <a:ext uri="{FF2B5EF4-FFF2-40B4-BE49-F238E27FC236}">
                <a16:creationId xmlns:a16="http://schemas.microsoft.com/office/drawing/2014/main" id="{AE81AC13-FFED-427C-AD02-E1CEDCCCF22F}"/>
              </a:ext>
            </a:extLst>
          </p:cNvPr>
          <p:cNvSpPr>
            <a:spLocks noGrp="1"/>
          </p:cNvSpPr>
          <p:nvPr/>
        </p:nvSpPr>
        <p:spPr>
          <a:xfrm>
            <a:off x="4544568" y="2377440"/>
            <a:ext cx="3108960" cy="3474720"/>
          </a:xfrm>
          <a:prstGeom prst="rect">
            <a:avLst/>
          </a:prstGeom>
          <a:noFill/>
        </p:spPr>
        <p:txBody>
          <a:bodyPr wrap="square" lIns="0" tIns="0" rIns="0" bIns="0" anchor="t"/>
          <a:lstStyle/>
          <a:p>
            <a:pPr marL="342900" indent="-342900">
              <a:spcAft>
                <a:spcPts val="600"/>
              </a:spcAft>
              <a:buSzPct val="100000"/>
              <a:buChar char="•"/>
            </a:pPr>
            <a:r>
              <a:rPr sz="1400">
                <a:solidFill>
                  <a:srgbClr val="FFFFFF"/>
                </a:solidFill>
                <a:latin typeface="Calibri"/>
                <a:ea typeface="Calibri"/>
                <a:cs typeface="Calibri"/>
              </a:rPr>
              <a:t>Prototype uses the installed local stack.</a:t>
            </a:r>
            <a:endParaRPr sz="1400"/>
          </a:p>
          <a:p>
            <a:pPr marL="342900" indent="-342900">
              <a:spcAft>
                <a:spcPts val="600"/>
              </a:spcAft>
              <a:buSzPct val="100000"/>
              <a:buChar char="•"/>
            </a:pPr>
            <a:r>
              <a:rPr sz="1400">
                <a:solidFill>
                  <a:srgbClr val="FFFFFF"/>
                </a:solidFill>
                <a:latin typeface="Calibri"/>
                <a:ea typeface="Calibri"/>
                <a:cs typeface="Calibri"/>
              </a:rPr>
              <a:t>Test flow requires no paid API key.</a:t>
            </a:r>
            <a:endParaRPr sz="1400"/>
          </a:p>
          <a:p>
            <a:pPr marL="342900" indent="-342900">
              <a:spcAft>
                <a:spcPts val="600"/>
              </a:spcAft>
              <a:buSzPct val="100000"/>
              <a:buChar char="•"/>
            </a:pPr>
            <a:r>
              <a:rPr sz="1400">
                <a:solidFill>
                  <a:srgbClr val="FFFFFF"/>
                </a:solidFill>
                <a:latin typeface="Calibri"/>
                <a:ea typeface="Calibri"/>
                <a:cs typeface="Calibri"/>
              </a:rPr>
              <a:t>Hosting and integration costs are unmeasured.</a:t>
            </a:r>
            <a:endParaRPr sz="1400"/>
          </a:p>
        </p:txBody>
      </p:sp>
      <p:sp>
        <p:nvSpPr>
          <p:cNvPr id="10" name="Operational Viability card">
            <a:extLst>
              <a:ext uri="{FF2B5EF4-FFF2-40B4-BE49-F238E27FC236}">
                <a16:creationId xmlns:a16="http://schemas.microsoft.com/office/drawing/2014/main" id="{B5759BA6-FE8F-4F7D-A38E-6C5E0AF235DD}"/>
              </a:ext>
            </a:extLst>
          </p:cNvPr>
          <p:cNvSpPr>
            <a:spLocks noGrp="1"/>
          </p:cNvSpPr>
          <p:nvPr/>
        </p:nvSpPr>
        <p:spPr>
          <a:xfrm>
            <a:off x="8083296"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Operational Viability head">
            <a:extLst>
              <a:ext uri="{FF2B5EF4-FFF2-40B4-BE49-F238E27FC236}">
                <a16:creationId xmlns:a16="http://schemas.microsoft.com/office/drawing/2014/main" id="{F278E489-FE61-4DF6-90BF-A2184B4CED01}"/>
              </a:ext>
            </a:extLst>
          </p:cNvPr>
          <p:cNvSpPr>
            <a:spLocks noGrp="1"/>
          </p:cNvSpPr>
          <p:nvPr/>
        </p:nvSpPr>
        <p:spPr>
          <a:xfrm>
            <a:off x="8357616" y="1874520"/>
            <a:ext cx="31089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OPERATIONAL VIABILITY</a:t>
            </a:r>
            <a:endParaRPr sz="1500"/>
          </a:p>
        </p:txBody>
      </p:sp>
      <p:sp>
        <p:nvSpPr>
          <p:cNvPr id="12" name="Operational Viability body">
            <a:extLst>
              <a:ext uri="{FF2B5EF4-FFF2-40B4-BE49-F238E27FC236}">
                <a16:creationId xmlns:a16="http://schemas.microsoft.com/office/drawing/2014/main" id="{73EAD07D-1697-43B4-89CC-5FCD50FB5832}"/>
              </a:ext>
            </a:extLst>
          </p:cNvPr>
          <p:cNvSpPr>
            <a:spLocks noGrp="1"/>
          </p:cNvSpPr>
          <p:nvPr/>
        </p:nvSpPr>
        <p:spPr>
          <a:xfrm>
            <a:off x="8357616" y="2377440"/>
            <a:ext cx="3108960" cy="3474720"/>
          </a:xfrm>
          <a:prstGeom prst="rect">
            <a:avLst/>
          </a:prstGeom>
          <a:noFill/>
        </p:spPr>
        <p:txBody>
          <a:bodyPr wrap="square" lIns="0" tIns="0" rIns="0" bIns="0" anchor="t"/>
          <a:lstStyle/>
          <a:p>
            <a:pPr marL="342900" indent="-342900">
              <a:spcAft>
                <a:spcPts val="600"/>
              </a:spcAft>
              <a:buSzPct val="100000"/>
              <a:buChar char="•"/>
            </a:pPr>
            <a:r>
              <a:rPr sz="1400">
                <a:solidFill>
                  <a:srgbClr val="FFFFFF"/>
                </a:solidFill>
                <a:latin typeface="Calibri"/>
                <a:ea typeface="Calibri"/>
                <a:cs typeface="Calibri"/>
              </a:rPr>
              <a:t>Local app runs on ports 5173 and 8001.</a:t>
            </a:r>
            <a:endParaRPr sz="1400"/>
          </a:p>
          <a:p>
            <a:pPr marL="342900" indent="-342900">
              <a:spcAft>
                <a:spcPts val="600"/>
              </a:spcAft>
              <a:buSzPct val="100000"/>
              <a:buChar char="•"/>
            </a:pPr>
            <a:r>
              <a:rPr sz="1400">
                <a:solidFill>
                  <a:srgbClr val="FFFFFF"/>
                </a:solidFill>
                <a:latin typeface="Calibri"/>
                <a:ea typeface="Calibri"/>
                <a:cs typeface="Calibri"/>
              </a:rPr>
              <a:t>Extraction rules need broader corpus checks.</a:t>
            </a:r>
            <a:endParaRPr sz="1400"/>
          </a:p>
          <a:p>
            <a:pPr marL="342900" indent="-342900">
              <a:spcAft>
                <a:spcPts val="600"/>
              </a:spcAft>
              <a:buSzPct val="100000"/>
              <a:buChar char="•"/>
            </a:pPr>
            <a:r>
              <a:rPr sz="1400">
                <a:solidFill>
                  <a:srgbClr val="FFFFFF"/>
                </a:solidFill>
                <a:latin typeface="Calibri"/>
                <a:ea typeface="Calibri"/>
                <a:cs typeface="Calibri"/>
              </a:rPr>
              <a:t>Conflicts remain visible for human review.</a:t>
            </a:r>
            <a:endParaRPr sz="1400"/>
          </a:p>
        </p:txBody>
      </p:sp>
      <p:sp>
        <p:nvSpPr>
          <p:cNvPr id="25" name="Slide Number Placeholder 0">
            <a:extLst>
              <a:ext uri="{FF2B5EF4-FFF2-40B4-BE49-F238E27FC236}">
                <a16:creationId xmlns:a16="http://schemas.microsoft.com/office/drawing/2014/main" id="{8107E5C4-5414-4027-86D6-8FE5EAD1A816}"/>
              </a:ext>
            </a:extLst>
          </p:cNvPr>
          <p:cNvSpPr>
            <a:spLocks noGrp="1"/>
          </p:cNvSpPr>
          <p:nvPr>
            <p:ph type="sldNum" idx="4294967295"/>
          </p:nvPr>
        </p:nvSpPr>
        <p:spPr>
          <a:xfrm>
            <a:off x="11155680" y="6428232"/>
            <a:ext cx="576072" cy="274320"/>
          </a:xfrm>
          <a:prstGeom prst="rect">
            <a:avLst/>
          </a:prstGeom>
        </p:spPr>
        <p:txBody>
          <a:bodyPr/>
          <a:lstStyle>
            <a:lvl1pPr>
              <a:buNone/>
              <a:defRPr sz="1000">
                <a:solidFill>
                  <a:srgbClr val="9CC4FF"/>
                </a:solidFill>
                <a:latin typeface="Arial"/>
                <a:ea typeface="Arial"/>
                <a:cs typeface="Arial"/>
              </a:defRPr>
            </a:lvl1pPr>
          </a:lstStyle>
          <a:p>
            <a:pPr algn="r">
              <a:buNone/>
            </a:pPr>
            <a:fld id="{F7021451-1387-4CA6-816F-3879F97B5CBC}" type="slidenum">
              <a:rPr b="0"/>
              <a:t>5</a:t>
            </a:fld>
            <a:endParaRPr/>
          </a:p>
        </p:txBody>
      </p:sp>
    </p:spTree>
    <p:extLst>
      <p:ext uri="{BB962C8B-B14F-4D97-AF65-F5344CB8AC3E}">
        <p14:creationId xmlns:p14="http://schemas.microsoft.com/office/powerpoint/2010/main" val="2016388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49976D94-CDF9-4B2E-9107-53723F2670B1}"/>
              </a:ext>
            </a:extLst>
          </p:cNvPr>
          <p:cNvSpPr>
            <a:spLocks noGrp="1"/>
          </p:cNvSpPr>
          <p:nvPr/>
        </p:nvSpPr>
        <p:spPr>
          <a:xfrm>
            <a:off x="457200" y="960120"/>
            <a:ext cx="11274552" cy="731520"/>
          </a:xfrm>
          <a:prstGeom prst="rect">
            <a:avLst/>
          </a:prstGeom>
          <a:noFill/>
        </p:spPr>
        <p:txBody>
          <a:bodyPr wrap="square" lIns="0" tIns="0" rIns="0" bIns="0" anchor="ctr"/>
          <a:lstStyle/>
          <a:p>
            <a:pPr marL="0" indent="0">
              <a:buNone/>
            </a:pPr>
            <a:r>
              <a:rPr sz="3600" b="1" spc="200">
                <a:solidFill>
                  <a:srgbClr val="FFFFFF"/>
                </a:solidFill>
                <a:latin typeface="Arial"/>
                <a:ea typeface="Arial"/>
                <a:cs typeface="Arial"/>
              </a:rPr>
              <a:t>IMPACT AND BENEFITS</a:t>
            </a:r>
            <a:endParaRPr sz="3600"/>
          </a:p>
        </p:txBody>
      </p:sp>
      <p:sp>
        <p:nvSpPr>
          <p:cNvPr id="3" name="Team tag">
            <a:extLst>
              <a:ext uri="{FF2B5EF4-FFF2-40B4-BE49-F238E27FC236}">
                <a16:creationId xmlns:a16="http://schemas.microsoft.com/office/drawing/2014/main" id="{D513DB1C-2F83-4220-A533-7474E89D6D8A}"/>
              </a:ext>
            </a:extLst>
          </p:cNvPr>
          <p:cNvSpPr>
            <a:spLocks noGrp="1"/>
          </p:cNvSpPr>
          <p:nvPr/>
        </p:nvSpPr>
        <p:spPr>
          <a:xfrm>
            <a:off x="8503920" y="1097280"/>
            <a:ext cx="3227832" cy="320040"/>
          </a:xfrm>
          <a:prstGeom prst="rect">
            <a:avLst/>
          </a:prstGeom>
          <a:noFill/>
        </p:spPr>
        <p:txBody>
          <a:bodyPr wrap="square" lIns="0" tIns="0" rIns="0" bIns="0" anchor="ctr"/>
          <a:lstStyle/>
          <a:p>
            <a:pPr marL="0" indent="0" algn="r">
              <a:buNone/>
            </a:pPr>
            <a:r>
              <a:rPr sz="1200">
                <a:solidFill>
                  <a:srgbClr val="9CC4FF"/>
                </a:solidFill>
                <a:latin typeface="Calibri"/>
                <a:ea typeface="Calibri"/>
                <a:cs typeface="Calibri"/>
              </a:rPr>
              <a:t>DataTrust AI  |  Team ID pending</a:t>
            </a:r>
            <a:endParaRPr sz="1200"/>
          </a:p>
        </p:txBody>
      </p:sp>
      <p:sp>
        <p:nvSpPr>
          <p:cNvPr id="4" name="Social Impact card">
            <a:extLst>
              <a:ext uri="{FF2B5EF4-FFF2-40B4-BE49-F238E27FC236}">
                <a16:creationId xmlns:a16="http://schemas.microsoft.com/office/drawing/2014/main" id="{C192C4B7-72F7-4389-A573-175365065134}"/>
              </a:ext>
            </a:extLst>
          </p:cNvPr>
          <p:cNvSpPr>
            <a:spLocks noGrp="1"/>
          </p:cNvSpPr>
          <p:nvPr/>
        </p:nvSpPr>
        <p:spPr>
          <a:xfrm>
            <a:off x="457200"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5" name="Social Impact badge">
            <a:extLst>
              <a:ext uri="{FF2B5EF4-FFF2-40B4-BE49-F238E27FC236}">
                <a16:creationId xmlns:a16="http://schemas.microsoft.com/office/drawing/2014/main" id="{C5566014-5924-45A0-8383-9FFF71125875}"/>
              </a:ext>
            </a:extLst>
          </p:cNvPr>
          <p:cNvSpPr>
            <a:spLocks noGrp="1"/>
          </p:cNvSpPr>
          <p:nvPr/>
        </p:nvSpPr>
        <p:spPr>
          <a:xfrm>
            <a:off x="731520" y="1965960"/>
            <a:ext cx="548640" cy="548640"/>
          </a:xfrm>
          <a:prstGeom prst="ellipse">
            <a:avLst/>
          </a:prstGeom>
          <a:solidFill>
            <a:schemeClr val="accent1"/>
          </a:solidFill>
          <a:ln w="12700">
            <a:solidFill>
              <a:srgbClr val="FFFFFF"/>
            </a:solidFill>
            <a:prstDash val="solid"/>
          </a:ln>
        </p:spPr>
      </p:sp>
      <p:sp>
        <p:nvSpPr>
          <p:cNvPr id="6" name="Text 4">
            <a:extLst>
              <a:ext uri="{FF2B5EF4-FFF2-40B4-BE49-F238E27FC236}">
                <a16:creationId xmlns:a16="http://schemas.microsoft.com/office/drawing/2014/main" id="{7B284CBA-4B94-41EC-BB97-501CB7E9F40F}"/>
              </a:ext>
            </a:extLst>
          </p:cNvPr>
          <p:cNvSpPr>
            <a:spLocks noGrp="1"/>
          </p:cNvSpPr>
          <p:nvPr/>
        </p:nvSpPr>
        <p:spPr>
          <a:xfrm>
            <a:off x="731520" y="1965960"/>
            <a:ext cx="548640" cy="548640"/>
          </a:xfrm>
          <a:prstGeom prst="rect">
            <a:avLst/>
          </a:prstGeom>
          <a:noFill/>
        </p:spPr>
        <p:txBody>
          <a:bodyPr wrap="square" lIns="0" tIns="0" rIns="0" bIns="0" anchor="ctr"/>
          <a:lstStyle/>
          <a:p>
            <a:pPr marL="0" indent="0" algn="ctr">
              <a:buNone/>
            </a:pPr>
            <a:r>
              <a:rPr sz="1800" b="1">
                <a:solidFill>
                  <a:srgbClr val="FFFFFF"/>
                </a:solidFill>
                <a:latin typeface="Arial"/>
                <a:ea typeface="Arial"/>
                <a:cs typeface="Arial"/>
              </a:rPr>
              <a:t>1</a:t>
            </a:r>
            <a:endParaRPr sz="1800"/>
          </a:p>
        </p:txBody>
      </p:sp>
      <p:sp>
        <p:nvSpPr>
          <p:cNvPr id="7" name="Social Impact head">
            <a:extLst>
              <a:ext uri="{FF2B5EF4-FFF2-40B4-BE49-F238E27FC236}">
                <a16:creationId xmlns:a16="http://schemas.microsoft.com/office/drawing/2014/main" id="{13DBEE0A-6B27-44CC-B1FD-C08CD8EB5500}"/>
              </a:ext>
            </a:extLst>
          </p:cNvPr>
          <p:cNvSpPr>
            <a:spLocks noGrp="1"/>
          </p:cNvSpPr>
          <p:nvPr/>
        </p:nvSpPr>
        <p:spPr>
          <a:xfrm>
            <a:off x="1554480" y="2057400"/>
            <a:ext cx="411480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SOCIAL IMPACT</a:t>
            </a:r>
            <a:endParaRPr sz="1500"/>
          </a:p>
        </p:txBody>
      </p:sp>
      <p:sp>
        <p:nvSpPr>
          <p:cNvPr id="8" name="Social Impact body">
            <a:extLst>
              <a:ext uri="{FF2B5EF4-FFF2-40B4-BE49-F238E27FC236}">
                <a16:creationId xmlns:a16="http://schemas.microsoft.com/office/drawing/2014/main" id="{6F7AC066-E267-444A-B3BB-3D6B81979588}"/>
              </a:ext>
            </a:extLst>
          </p:cNvPr>
          <p:cNvSpPr>
            <a:spLocks noGrp="1"/>
          </p:cNvSpPr>
          <p:nvPr/>
        </p:nvSpPr>
        <p:spPr>
          <a:xfrm>
            <a:off x="1554480" y="2514600"/>
            <a:ext cx="4114800" cy="1097280"/>
          </a:xfrm>
          <a:prstGeom prst="rect">
            <a:avLst/>
          </a:prstGeom>
          <a:noFill/>
        </p:spPr>
        <p:txBody>
          <a:bodyPr wrap="square" lIns="0" tIns="0" rIns="0" bIns="0" anchor="t"/>
          <a:lstStyle/>
          <a:p>
            <a:pPr marL="0" indent="0">
              <a:buNone/>
            </a:pPr>
            <a:r>
              <a:rPr sz="1400">
                <a:solidFill>
                  <a:srgbClr val="FFFFFF"/>
                </a:solidFill>
                <a:latin typeface="Calibri"/>
                <a:ea typeface="Calibri"/>
                <a:cs typeface="Calibri"/>
              </a:rPr>
              <a:t>Hindi users can query English documents.</a:t>
            </a:r>
            <a:endParaRPr sz="1400"/>
          </a:p>
          <a:p>
            <a:pPr marL="0" indent="0">
              <a:buNone/>
            </a:pPr>
            <a:r>
              <a:rPr sz="1400">
                <a:solidFill>
                  <a:srgbClr val="FFFFFF"/>
                </a:solidFill>
                <a:latin typeface="Calibri"/>
                <a:ea typeface="Calibri"/>
                <a:cs typeface="Calibri"/>
              </a:rPr>
              <a:t>Conflicts show both claims and sources.</a:t>
            </a:r>
            <a:endParaRPr sz="1400"/>
          </a:p>
        </p:txBody>
      </p:sp>
      <p:sp>
        <p:nvSpPr>
          <p:cNvPr id="9" name="Environmental Impact card">
            <a:extLst>
              <a:ext uri="{FF2B5EF4-FFF2-40B4-BE49-F238E27FC236}">
                <a16:creationId xmlns:a16="http://schemas.microsoft.com/office/drawing/2014/main" id="{7207B70D-F021-4860-AE3A-217851525400}"/>
              </a:ext>
            </a:extLst>
          </p:cNvPr>
          <p:cNvSpPr>
            <a:spLocks noGrp="1"/>
          </p:cNvSpPr>
          <p:nvPr/>
        </p:nvSpPr>
        <p:spPr>
          <a:xfrm>
            <a:off x="6099048" y="1691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0" name="Environmental Impact badge">
            <a:extLst>
              <a:ext uri="{FF2B5EF4-FFF2-40B4-BE49-F238E27FC236}">
                <a16:creationId xmlns:a16="http://schemas.microsoft.com/office/drawing/2014/main" id="{9FB68E70-8E96-41C6-BD28-959D8DD4B491}"/>
              </a:ext>
            </a:extLst>
          </p:cNvPr>
          <p:cNvSpPr>
            <a:spLocks noGrp="1"/>
          </p:cNvSpPr>
          <p:nvPr/>
        </p:nvSpPr>
        <p:spPr>
          <a:xfrm>
            <a:off x="6373368" y="1965960"/>
            <a:ext cx="548640" cy="548640"/>
          </a:xfrm>
          <a:prstGeom prst="ellipse">
            <a:avLst/>
          </a:prstGeom>
          <a:solidFill>
            <a:schemeClr val="accent1"/>
          </a:solidFill>
          <a:ln w="12700">
            <a:solidFill>
              <a:srgbClr val="FFFFFF"/>
            </a:solidFill>
            <a:prstDash val="solid"/>
          </a:ln>
        </p:spPr>
      </p:sp>
      <p:sp>
        <p:nvSpPr>
          <p:cNvPr id="11" name="Text 9">
            <a:extLst>
              <a:ext uri="{FF2B5EF4-FFF2-40B4-BE49-F238E27FC236}">
                <a16:creationId xmlns:a16="http://schemas.microsoft.com/office/drawing/2014/main" id="{D96E2EEE-96DD-4183-9A05-778FC7788000}"/>
              </a:ext>
            </a:extLst>
          </p:cNvPr>
          <p:cNvSpPr>
            <a:spLocks noGrp="1"/>
          </p:cNvSpPr>
          <p:nvPr/>
        </p:nvSpPr>
        <p:spPr>
          <a:xfrm>
            <a:off x="6373368" y="1965960"/>
            <a:ext cx="548640" cy="548640"/>
          </a:xfrm>
          <a:prstGeom prst="rect">
            <a:avLst/>
          </a:prstGeom>
          <a:noFill/>
        </p:spPr>
        <p:txBody>
          <a:bodyPr wrap="square" lIns="0" tIns="0" rIns="0" bIns="0" anchor="ctr"/>
          <a:lstStyle/>
          <a:p>
            <a:pPr marL="0" indent="0" algn="ctr">
              <a:buNone/>
            </a:pPr>
            <a:r>
              <a:rPr sz="1800" b="1">
                <a:solidFill>
                  <a:srgbClr val="FFFFFF"/>
                </a:solidFill>
                <a:latin typeface="Arial"/>
                <a:ea typeface="Arial"/>
                <a:cs typeface="Arial"/>
              </a:rPr>
              <a:t>2</a:t>
            </a:r>
            <a:endParaRPr sz="1800"/>
          </a:p>
        </p:txBody>
      </p:sp>
      <p:sp>
        <p:nvSpPr>
          <p:cNvPr id="12" name="Environmental Impact head">
            <a:extLst>
              <a:ext uri="{FF2B5EF4-FFF2-40B4-BE49-F238E27FC236}">
                <a16:creationId xmlns:a16="http://schemas.microsoft.com/office/drawing/2014/main" id="{CD71DD86-6980-4F7A-A04A-11589859CEBE}"/>
              </a:ext>
            </a:extLst>
          </p:cNvPr>
          <p:cNvSpPr>
            <a:spLocks noGrp="1"/>
          </p:cNvSpPr>
          <p:nvPr/>
        </p:nvSpPr>
        <p:spPr>
          <a:xfrm>
            <a:off x="7196328" y="2057400"/>
            <a:ext cx="411480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ENVIRONMENTAL IMPACT</a:t>
            </a:r>
            <a:endParaRPr sz="1500"/>
          </a:p>
        </p:txBody>
      </p:sp>
      <p:sp>
        <p:nvSpPr>
          <p:cNvPr id="13" name="Environmental Impact body">
            <a:extLst>
              <a:ext uri="{FF2B5EF4-FFF2-40B4-BE49-F238E27FC236}">
                <a16:creationId xmlns:a16="http://schemas.microsoft.com/office/drawing/2014/main" id="{221396DA-109D-47CB-99DC-E15D90BE21D6}"/>
              </a:ext>
            </a:extLst>
          </p:cNvPr>
          <p:cNvSpPr>
            <a:spLocks noGrp="1"/>
          </p:cNvSpPr>
          <p:nvPr/>
        </p:nvSpPr>
        <p:spPr>
          <a:xfrm>
            <a:off x="7196328" y="2514600"/>
            <a:ext cx="4114800" cy="1097280"/>
          </a:xfrm>
          <a:prstGeom prst="rect">
            <a:avLst/>
          </a:prstGeom>
          <a:noFill/>
        </p:spPr>
        <p:txBody>
          <a:bodyPr wrap="square" lIns="0" tIns="0" rIns="0" bIns="0" anchor="t"/>
          <a:lstStyle/>
          <a:p>
            <a:pPr marL="0" indent="0">
              <a:buNone/>
            </a:pPr>
            <a:r>
              <a:rPr sz="1400">
                <a:solidFill>
                  <a:srgbClr val="FFFFFF"/>
                </a:solidFill>
                <a:latin typeface="Calibri"/>
                <a:ea typeface="Calibri"/>
                <a:cs typeface="Calibri"/>
              </a:rPr>
              <a:t>Updates reindex one document, not the full corpus.</a:t>
            </a:r>
            <a:endParaRPr sz="1400"/>
          </a:p>
          <a:p>
            <a:pPr marL="0" indent="0">
              <a:buNone/>
            </a:pPr>
            <a:r>
              <a:rPr sz="1400">
                <a:solidFill>
                  <a:srgbClr val="FFFFFF"/>
                </a:solidFill>
                <a:latin typeface="Calibri"/>
                <a:ea typeface="Calibri"/>
                <a:cs typeface="Calibri"/>
              </a:rPr>
              <a:t>Energy and carbon savings are not measured.</a:t>
            </a:r>
            <a:endParaRPr sz="1400"/>
          </a:p>
        </p:txBody>
      </p:sp>
      <p:sp>
        <p:nvSpPr>
          <p:cNvPr id="14" name="Technical Impact card">
            <a:extLst>
              <a:ext uri="{FF2B5EF4-FFF2-40B4-BE49-F238E27FC236}">
                <a16:creationId xmlns:a16="http://schemas.microsoft.com/office/drawing/2014/main" id="{99561A0B-8E41-4570-9D99-23FF85B6FF58}"/>
              </a:ext>
            </a:extLst>
          </p:cNvPr>
          <p:cNvSpPr>
            <a:spLocks noGrp="1"/>
          </p:cNvSpPr>
          <p:nvPr/>
        </p:nvSpPr>
        <p:spPr>
          <a:xfrm>
            <a:off x="457200"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15" name="Technical Impact badge">
            <a:extLst>
              <a:ext uri="{FF2B5EF4-FFF2-40B4-BE49-F238E27FC236}">
                <a16:creationId xmlns:a16="http://schemas.microsoft.com/office/drawing/2014/main" id="{9FC94E6F-89AA-4B0A-8D22-48A027C07291}"/>
              </a:ext>
            </a:extLst>
          </p:cNvPr>
          <p:cNvSpPr>
            <a:spLocks noGrp="1"/>
          </p:cNvSpPr>
          <p:nvPr/>
        </p:nvSpPr>
        <p:spPr>
          <a:xfrm>
            <a:off x="731520" y="4251960"/>
            <a:ext cx="548640" cy="548640"/>
          </a:xfrm>
          <a:prstGeom prst="ellipse">
            <a:avLst/>
          </a:prstGeom>
          <a:solidFill>
            <a:schemeClr val="accent1"/>
          </a:solidFill>
          <a:ln w="12700">
            <a:solidFill>
              <a:srgbClr val="FFFFFF"/>
            </a:solidFill>
            <a:prstDash val="solid"/>
          </a:ln>
        </p:spPr>
      </p:sp>
      <p:sp>
        <p:nvSpPr>
          <p:cNvPr id="16" name="Text 14">
            <a:extLst>
              <a:ext uri="{FF2B5EF4-FFF2-40B4-BE49-F238E27FC236}">
                <a16:creationId xmlns:a16="http://schemas.microsoft.com/office/drawing/2014/main" id="{D9C21E8C-4905-46F3-BD48-181BD3EAC2A8}"/>
              </a:ext>
            </a:extLst>
          </p:cNvPr>
          <p:cNvSpPr>
            <a:spLocks noGrp="1"/>
          </p:cNvSpPr>
          <p:nvPr/>
        </p:nvSpPr>
        <p:spPr>
          <a:xfrm>
            <a:off x="731520" y="4251960"/>
            <a:ext cx="548640" cy="548640"/>
          </a:xfrm>
          <a:prstGeom prst="rect">
            <a:avLst/>
          </a:prstGeom>
          <a:noFill/>
        </p:spPr>
        <p:txBody>
          <a:bodyPr wrap="square" lIns="0" tIns="0" rIns="0" bIns="0" anchor="ctr"/>
          <a:lstStyle/>
          <a:p>
            <a:pPr marL="0" indent="0" algn="ctr">
              <a:buNone/>
            </a:pPr>
            <a:r>
              <a:rPr sz="1800" b="1">
                <a:solidFill>
                  <a:srgbClr val="FFFFFF"/>
                </a:solidFill>
                <a:latin typeface="Arial"/>
                <a:ea typeface="Arial"/>
                <a:cs typeface="Arial"/>
              </a:rPr>
              <a:t>3</a:t>
            </a:r>
            <a:endParaRPr sz="1800"/>
          </a:p>
        </p:txBody>
      </p:sp>
      <p:sp>
        <p:nvSpPr>
          <p:cNvPr id="17" name="Technical Impact head">
            <a:extLst>
              <a:ext uri="{FF2B5EF4-FFF2-40B4-BE49-F238E27FC236}">
                <a16:creationId xmlns:a16="http://schemas.microsoft.com/office/drawing/2014/main" id="{32AB9EBC-15CB-42DB-8559-C4FBD780A4D4}"/>
              </a:ext>
            </a:extLst>
          </p:cNvPr>
          <p:cNvSpPr>
            <a:spLocks noGrp="1"/>
          </p:cNvSpPr>
          <p:nvPr/>
        </p:nvSpPr>
        <p:spPr>
          <a:xfrm>
            <a:off x="1554480" y="4343400"/>
            <a:ext cx="411480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TECHNICAL IMPACT</a:t>
            </a:r>
            <a:endParaRPr sz="1500"/>
          </a:p>
        </p:txBody>
      </p:sp>
      <p:sp>
        <p:nvSpPr>
          <p:cNvPr id="18" name="Technical Impact body">
            <a:extLst>
              <a:ext uri="{FF2B5EF4-FFF2-40B4-BE49-F238E27FC236}">
                <a16:creationId xmlns:a16="http://schemas.microsoft.com/office/drawing/2014/main" id="{518069F1-3131-47FA-9426-8163D8505F2E}"/>
              </a:ext>
            </a:extLst>
          </p:cNvPr>
          <p:cNvSpPr>
            <a:spLocks noGrp="1"/>
          </p:cNvSpPr>
          <p:nvPr/>
        </p:nvSpPr>
        <p:spPr>
          <a:xfrm>
            <a:off x="1554480" y="4800600"/>
            <a:ext cx="4114800" cy="1097280"/>
          </a:xfrm>
          <a:prstGeom prst="rect">
            <a:avLst/>
          </a:prstGeom>
          <a:noFill/>
        </p:spPr>
        <p:txBody>
          <a:bodyPr wrap="square" lIns="0" tIns="0" rIns="0" bIns="0" anchor="t"/>
          <a:lstStyle/>
          <a:p>
            <a:pPr marL="0" indent="0">
              <a:buNone/>
            </a:pPr>
            <a:r>
              <a:rPr sz="1400">
                <a:solidFill>
                  <a:srgbClr val="FFFFFF"/>
                </a:solidFill>
                <a:latin typeface="Calibri"/>
                <a:ea typeface="Calibri"/>
                <a:cs typeface="Calibri"/>
              </a:rPr>
              <a:t>500 input docs ingested in 7.7 s (local test).</a:t>
            </a:r>
            <a:endParaRPr sz="1400"/>
          </a:p>
          <a:p>
            <a:pPr marL="0" indent="0">
              <a:buNone/>
            </a:pPr>
            <a:r>
              <a:rPr sz="1400">
                <a:solidFill>
                  <a:srgbClr val="FFFFFF"/>
                </a:solidFill>
                <a:latin typeface="Calibri"/>
                <a:ea typeface="Calibri"/>
                <a:cs typeface="Calibri"/>
              </a:rPr>
              <a:t>Graph: 504 docs, 539 entities, 40 edges.</a:t>
            </a:r>
            <a:endParaRPr sz="1400"/>
          </a:p>
          <a:p>
            <a:pPr marL="0" indent="0">
              <a:buNone/>
            </a:pPr>
            <a:r>
              <a:rPr sz="1400">
                <a:solidFill>
                  <a:srgbClr val="FFFFFF"/>
                </a:solidFill>
                <a:latin typeface="Calibri"/>
                <a:ea typeface="Calibri"/>
                <a:cs typeface="Calibri"/>
              </a:rPr>
              <a:t>21 planted instruction strings tested.</a:t>
            </a:r>
            <a:endParaRPr sz="1400"/>
          </a:p>
        </p:txBody>
      </p:sp>
      <p:sp>
        <p:nvSpPr>
          <p:cNvPr id="19" name="Educational Impact card">
            <a:extLst>
              <a:ext uri="{FF2B5EF4-FFF2-40B4-BE49-F238E27FC236}">
                <a16:creationId xmlns:a16="http://schemas.microsoft.com/office/drawing/2014/main" id="{73A6582C-7222-490A-95F1-556B820AEC5D}"/>
              </a:ext>
            </a:extLst>
          </p:cNvPr>
          <p:cNvSpPr>
            <a:spLocks noGrp="1"/>
          </p:cNvSpPr>
          <p:nvPr/>
        </p:nvSpPr>
        <p:spPr>
          <a:xfrm>
            <a:off x="6099048" y="3977640"/>
            <a:ext cx="5486400" cy="2103120"/>
          </a:xfrm>
          <a:prstGeom prst="roundRect">
            <a:avLst>
              <a:gd name="adj" fmla="val 5217"/>
            </a:avLst>
          </a:prstGeom>
          <a:solidFill>
            <a:srgbClr val="0B1A4A">
              <a:alpha val="75000"/>
            </a:srgbClr>
          </a:solidFill>
          <a:ln w="12700">
            <a:solidFill>
              <a:srgbClr val="1E5BFF"/>
            </a:solidFill>
            <a:prstDash val="solid"/>
          </a:ln>
        </p:spPr>
      </p:sp>
      <p:sp>
        <p:nvSpPr>
          <p:cNvPr id="20" name="Educational Impact badge">
            <a:extLst>
              <a:ext uri="{FF2B5EF4-FFF2-40B4-BE49-F238E27FC236}">
                <a16:creationId xmlns:a16="http://schemas.microsoft.com/office/drawing/2014/main" id="{BEA2EFD4-57D8-4131-ACFD-C4C143AA6DC1}"/>
              </a:ext>
            </a:extLst>
          </p:cNvPr>
          <p:cNvSpPr>
            <a:spLocks noGrp="1"/>
          </p:cNvSpPr>
          <p:nvPr/>
        </p:nvSpPr>
        <p:spPr>
          <a:xfrm>
            <a:off x="6373368" y="4251960"/>
            <a:ext cx="548640" cy="548640"/>
          </a:xfrm>
          <a:prstGeom prst="ellipse">
            <a:avLst/>
          </a:prstGeom>
          <a:solidFill>
            <a:schemeClr val="accent1"/>
          </a:solidFill>
          <a:ln w="12700">
            <a:solidFill>
              <a:srgbClr val="FFFFFF"/>
            </a:solidFill>
            <a:prstDash val="solid"/>
          </a:ln>
        </p:spPr>
      </p:sp>
      <p:sp>
        <p:nvSpPr>
          <p:cNvPr id="21" name="Text 19">
            <a:extLst>
              <a:ext uri="{FF2B5EF4-FFF2-40B4-BE49-F238E27FC236}">
                <a16:creationId xmlns:a16="http://schemas.microsoft.com/office/drawing/2014/main" id="{D2942D8A-CA47-4240-B13B-8B82E990A80D}"/>
              </a:ext>
            </a:extLst>
          </p:cNvPr>
          <p:cNvSpPr>
            <a:spLocks noGrp="1"/>
          </p:cNvSpPr>
          <p:nvPr/>
        </p:nvSpPr>
        <p:spPr>
          <a:xfrm>
            <a:off x="6373368" y="4251960"/>
            <a:ext cx="548640" cy="548640"/>
          </a:xfrm>
          <a:prstGeom prst="rect">
            <a:avLst/>
          </a:prstGeom>
          <a:noFill/>
        </p:spPr>
        <p:txBody>
          <a:bodyPr wrap="square" lIns="0" tIns="0" rIns="0" bIns="0" anchor="ctr"/>
          <a:lstStyle/>
          <a:p>
            <a:pPr marL="0" indent="0" algn="ctr">
              <a:buNone/>
            </a:pPr>
            <a:r>
              <a:rPr sz="1800" b="1">
                <a:solidFill>
                  <a:srgbClr val="FFFFFF"/>
                </a:solidFill>
                <a:latin typeface="Arial"/>
                <a:ea typeface="Arial"/>
                <a:cs typeface="Arial"/>
              </a:rPr>
              <a:t>4</a:t>
            </a:r>
            <a:endParaRPr sz="1800"/>
          </a:p>
        </p:txBody>
      </p:sp>
      <p:sp>
        <p:nvSpPr>
          <p:cNvPr id="22" name="Educational Impact head">
            <a:extLst>
              <a:ext uri="{FF2B5EF4-FFF2-40B4-BE49-F238E27FC236}">
                <a16:creationId xmlns:a16="http://schemas.microsoft.com/office/drawing/2014/main" id="{94A4B706-1E10-4F84-9722-4463EFF67C85}"/>
              </a:ext>
            </a:extLst>
          </p:cNvPr>
          <p:cNvSpPr>
            <a:spLocks noGrp="1"/>
          </p:cNvSpPr>
          <p:nvPr/>
        </p:nvSpPr>
        <p:spPr>
          <a:xfrm>
            <a:off x="7196328" y="4343400"/>
            <a:ext cx="411480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EDUCATIONAL IMPACT</a:t>
            </a:r>
            <a:endParaRPr sz="1500"/>
          </a:p>
        </p:txBody>
      </p:sp>
      <p:sp>
        <p:nvSpPr>
          <p:cNvPr id="23" name="Educational Impact body">
            <a:extLst>
              <a:ext uri="{FF2B5EF4-FFF2-40B4-BE49-F238E27FC236}">
                <a16:creationId xmlns:a16="http://schemas.microsoft.com/office/drawing/2014/main" id="{C03BE820-1CD9-412F-BF77-B7955F919AFA}"/>
              </a:ext>
            </a:extLst>
          </p:cNvPr>
          <p:cNvSpPr>
            <a:spLocks noGrp="1"/>
          </p:cNvSpPr>
          <p:nvPr/>
        </p:nvSpPr>
        <p:spPr>
          <a:xfrm>
            <a:off x="7196328" y="4800600"/>
            <a:ext cx="4114800" cy="1097280"/>
          </a:xfrm>
          <a:prstGeom prst="rect">
            <a:avLst/>
          </a:prstGeom>
          <a:noFill/>
        </p:spPr>
        <p:txBody>
          <a:bodyPr wrap="square" lIns="0" tIns="0" rIns="0" bIns="0" anchor="t"/>
          <a:lstStyle/>
          <a:p>
            <a:pPr marL="0" indent="0">
              <a:buNone/>
            </a:pPr>
            <a:r>
              <a:rPr sz="1400">
                <a:solidFill>
                  <a:srgbClr val="FFFFFF"/>
                </a:solidFill>
                <a:latin typeface="Calibri"/>
                <a:ea typeface="Calibri"/>
                <a:cs typeface="Calibri"/>
              </a:rPr>
              <a:t>Inspect claims, sources and graph paths.</a:t>
            </a:r>
            <a:endParaRPr sz="1400"/>
          </a:p>
          <a:p>
            <a:pPr marL="0" indent="0">
              <a:buNone/>
            </a:pPr>
            <a:r>
              <a:rPr sz="1400">
                <a:solidFill>
                  <a:srgbClr val="FFFFFF"/>
                </a:solidFill>
                <a:latin typeface="Calibri"/>
                <a:ea typeface="Calibri"/>
                <a:cs typeface="Calibri"/>
              </a:rPr>
              <a:t>Evidence replay makes grounded answers teachable.</a:t>
            </a:r>
            <a:endParaRPr sz="1400"/>
          </a:p>
        </p:txBody>
      </p:sp>
      <p:sp>
        <p:nvSpPr>
          <p:cNvPr id="25" name="Slide Number Placeholder 0">
            <a:extLst>
              <a:ext uri="{FF2B5EF4-FFF2-40B4-BE49-F238E27FC236}">
                <a16:creationId xmlns:a16="http://schemas.microsoft.com/office/drawing/2014/main" id="{21CC3903-C09E-4790-98F8-97F8D0460691}"/>
              </a:ext>
            </a:extLst>
          </p:cNvPr>
          <p:cNvSpPr>
            <a:spLocks noGrp="1"/>
          </p:cNvSpPr>
          <p:nvPr>
            <p:ph type="sldNum" idx="4294967295"/>
          </p:nvPr>
        </p:nvSpPr>
        <p:spPr>
          <a:xfrm>
            <a:off x="11155680" y="6428232"/>
            <a:ext cx="576072" cy="274320"/>
          </a:xfrm>
          <a:prstGeom prst="rect">
            <a:avLst/>
          </a:prstGeom>
        </p:spPr>
        <p:txBody>
          <a:bodyPr/>
          <a:lstStyle>
            <a:lvl1pPr>
              <a:buNone/>
              <a:defRPr sz="1000">
                <a:solidFill>
                  <a:srgbClr val="9CC4FF"/>
                </a:solidFill>
                <a:latin typeface="Arial"/>
                <a:ea typeface="Arial"/>
                <a:cs typeface="Arial"/>
              </a:defRPr>
            </a:lvl1pPr>
          </a:lstStyle>
          <a:p>
            <a:pPr algn="r">
              <a:buNone/>
            </a:pPr>
            <a:fld id="{F7021451-1387-4CA6-816F-3879F97B5CBC}" type="slidenum">
              <a:rPr b="0"/>
              <a:t>6</a:t>
            </a:fld>
            <a:endParaRPr/>
          </a:p>
        </p:txBody>
      </p:sp>
    </p:spTree>
    <p:extLst>
      <p:ext uri="{BB962C8B-B14F-4D97-AF65-F5344CB8AC3E}">
        <p14:creationId xmlns:p14="http://schemas.microsoft.com/office/powerpoint/2010/main" val="429842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D0EC107A-6954-496E-8E68-7AE9F11E26BE}"/>
              </a:ext>
            </a:extLst>
          </p:cNvPr>
          <p:cNvSpPr>
            <a:spLocks noGrp="1"/>
          </p:cNvSpPr>
          <p:nvPr/>
        </p:nvSpPr>
        <p:spPr>
          <a:xfrm>
            <a:off x="457200" y="960120"/>
            <a:ext cx="11274552" cy="731520"/>
          </a:xfrm>
          <a:prstGeom prst="rect">
            <a:avLst/>
          </a:prstGeom>
          <a:noFill/>
        </p:spPr>
        <p:txBody>
          <a:bodyPr wrap="square" lIns="0" tIns="0" rIns="0" bIns="0" anchor="ctr"/>
          <a:lstStyle/>
          <a:p>
            <a:pPr marL="0" indent="0">
              <a:buNone/>
            </a:pPr>
            <a:r>
              <a:rPr sz="3600" b="1" spc="200">
                <a:solidFill>
                  <a:srgbClr val="FFFFFF"/>
                </a:solidFill>
                <a:latin typeface="Arial"/>
                <a:ea typeface="Arial"/>
                <a:cs typeface="Arial"/>
              </a:rPr>
              <a:t>BUSINESS MODEL &amp; SUSTAINABILITY</a:t>
            </a:r>
            <a:endParaRPr sz="3600"/>
          </a:p>
        </p:txBody>
      </p:sp>
      <p:sp>
        <p:nvSpPr>
          <p:cNvPr id="3" name="Team tag">
            <a:extLst>
              <a:ext uri="{FF2B5EF4-FFF2-40B4-BE49-F238E27FC236}">
                <a16:creationId xmlns:a16="http://schemas.microsoft.com/office/drawing/2014/main" id="{A5F30C45-C4DF-4B89-AAB6-216E90032C58}"/>
              </a:ext>
            </a:extLst>
          </p:cNvPr>
          <p:cNvSpPr>
            <a:spLocks noGrp="1"/>
          </p:cNvSpPr>
          <p:nvPr/>
        </p:nvSpPr>
        <p:spPr>
          <a:xfrm>
            <a:off x="8503920" y="1097280"/>
            <a:ext cx="3227832" cy="320040"/>
          </a:xfrm>
          <a:prstGeom prst="rect">
            <a:avLst/>
          </a:prstGeom>
          <a:noFill/>
        </p:spPr>
        <p:txBody>
          <a:bodyPr wrap="square" lIns="0" tIns="0" rIns="0" bIns="0" anchor="ctr"/>
          <a:lstStyle/>
          <a:p>
            <a:pPr marL="0" indent="0" algn="r">
              <a:buNone/>
            </a:pPr>
            <a:r>
              <a:rPr sz="1200">
                <a:solidFill>
                  <a:srgbClr val="9CC4FF"/>
                </a:solidFill>
                <a:latin typeface="Calibri"/>
                <a:ea typeface="Calibri"/>
                <a:cs typeface="Calibri"/>
              </a:rPr>
              <a:t>DataTrust AI  |  Team ID pending</a:t>
            </a:r>
            <a:endParaRPr sz="1200"/>
          </a:p>
        </p:txBody>
      </p:sp>
      <p:sp>
        <p:nvSpPr>
          <p:cNvPr id="4" name="Users card">
            <a:extLst>
              <a:ext uri="{FF2B5EF4-FFF2-40B4-BE49-F238E27FC236}">
                <a16:creationId xmlns:a16="http://schemas.microsoft.com/office/drawing/2014/main" id="{03D16733-900C-4036-83B7-71FE46C1417B}"/>
              </a:ext>
            </a:extLst>
          </p:cNvPr>
          <p:cNvSpPr>
            <a:spLocks noGrp="1"/>
          </p:cNvSpPr>
          <p:nvPr/>
        </p:nvSpPr>
        <p:spPr>
          <a:xfrm>
            <a:off x="457200"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5" name="Users head">
            <a:extLst>
              <a:ext uri="{FF2B5EF4-FFF2-40B4-BE49-F238E27FC236}">
                <a16:creationId xmlns:a16="http://schemas.microsoft.com/office/drawing/2014/main" id="{6E4439F8-FB7C-47A4-9746-44024299B533}"/>
              </a:ext>
            </a:extLst>
          </p:cNvPr>
          <p:cNvSpPr>
            <a:spLocks noGrp="1"/>
          </p:cNvSpPr>
          <p:nvPr/>
        </p:nvSpPr>
        <p:spPr>
          <a:xfrm>
            <a:off x="731520" y="1874520"/>
            <a:ext cx="31089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TARGET USERS</a:t>
            </a:r>
            <a:endParaRPr sz="1500"/>
          </a:p>
        </p:txBody>
      </p:sp>
      <p:sp>
        <p:nvSpPr>
          <p:cNvPr id="6" name="Users body">
            <a:extLst>
              <a:ext uri="{FF2B5EF4-FFF2-40B4-BE49-F238E27FC236}">
                <a16:creationId xmlns:a16="http://schemas.microsoft.com/office/drawing/2014/main" id="{B0748EE7-781B-4094-8787-2028CCA5260F}"/>
              </a:ext>
            </a:extLst>
          </p:cNvPr>
          <p:cNvSpPr>
            <a:spLocks noGrp="1"/>
          </p:cNvSpPr>
          <p:nvPr/>
        </p:nvSpPr>
        <p:spPr>
          <a:xfrm>
            <a:off x="731520" y="2377440"/>
            <a:ext cx="3108960" cy="3474720"/>
          </a:xfrm>
          <a:prstGeom prst="rect">
            <a:avLst/>
          </a:prstGeom>
          <a:noFill/>
        </p:spPr>
        <p:txBody>
          <a:bodyPr wrap="square" lIns="0" tIns="0" rIns="0" bIns="0" anchor="t"/>
          <a:lstStyle/>
          <a:p>
            <a:pPr marL="342900" indent="-342900">
              <a:spcAft>
                <a:spcPts val="600"/>
              </a:spcAft>
              <a:buSzPct val="100000"/>
              <a:buChar char="•"/>
            </a:pPr>
            <a:r>
              <a:rPr sz="1400">
                <a:solidFill>
                  <a:srgbClr val="FFFFFF"/>
                </a:solidFill>
                <a:latin typeface="Calibri"/>
                <a:ea typeface="Calibri"/>
                <a:cs typeface="Calibri"/>
              </a:rPr>
              <a:t>Compliance and operations analysts</a:t>
            </a:r>
            <a:endParaRPr sz="1400"/>
          </a:p>
          <a:p>
            <a:pPr marL="342900" indent="-342900">
              <a:spcAft>
                <a:spcPts val="600"/>
              </a:spcAft>
              <a:buSzPct val="100000"/>
              <a:buChar char="•"/>
            </a:pPr>
            <a:r>
              <a:rPr sz="1400">
                <a:solidFill>
                  <a:srgbClr val="FFFFFF"/>
                </a:solidFill>
                <a:latin typeface="Calibri"/>
                <a:ea typeface="Calibri"/>
                <a:cs typeface="Calibri"/>
              </a:rPr>
              <a:t>Data teams combining SQL and documents</a:t>
            </a:r>
            <a:endParaRPr sz="1400"/>
          </a:p>
          <a:p>
            <a:pPr marL="342900" indent="-342900">
              <a:spcAft>
                <a:spcPts val="600"/>
              </a:spcAft>
              <a:buSzPct val="100000"/>
              <a:buChar char="•"/>
            </a:pPr>
            <a:r>
              <a:rPr sz="1400">
                <a:solidFill>
                  <a:srgbClr val="FFFFFF"/>
                </a:solidFill>
                <a:latin typeface="Calibri"/>
                <a:ea typeface="Calibri"/>
                <a:cs typeface="Calibri"/>
              </a:rPr>
              <a:t>Hindi users working with English records</a:t>
            </a:r>
            <a:endParaRPr sz="1400"/>
          </a:p>
        </p:txBody>
      </p:sp>
      <p:sp>
        <p:nvSpPr>
          <p:cNvPr id="7" name="Revenue card">
            <a:extLst>
              <a:ext uri="{FF2B5EF4-FFF2-40B4-BE49-F238E27FC236}">
                <a16:creationId xmlns:a16="http://schemas.microsoft.com/office/drawing/2014/main" id="{1F39B524-A837-49EB-8FA2-9F144F64241E}"/>
              </a:ext>
            </a:extLst>
          </p:cNvPr>
          <p:cNvSpPr>
            <a:spLocks noGrp="1"/>
          </p:cNvSpPr>
          <p:nvPr/>
        </p:nvSpPr>
        <p:spPr>
          <a:xfrm>
            <a:off x="4270248"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8" name="Rev head">
            <a:extLst>
              <a:ext uri="{FF2B5EF4-FFF2-40B4-BE49-F238E27FC236}">
                <a16:creationId xmlns:a16="http://schemas.microsoft.com/office/drawing/2014/main" id="{7A819027-232F-410C-980C-5DF81BD0A013}"/>
              </a:ext>
            </a:extLst>
          </p:cNvPr>
          <p:cNvSpPr>
            <a:spLocks noGrp="1"/>
          </p:cNvSpPr>
          <p:nvPr/>
        </p:nvSpPr>
        <p:spPr>
          <a:xfrm>
            <a:off x="4544568" y="1874520"/>
            <a:ext cx="31089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REVENUE &amp; COST MODEL</a:t>
            </a:r>
            <a:endParaRPr sz="1500"/>
          </a:p>
        </p:txBody>
      </p:sp>
      <p:sp>
        <p:nvSpPr>
          <p:cNvPr id="9" name="Rev body">
            <a:extLst>
              <a:ext uri="{FF2B5EF4-FFF2-40B4-BE49-F238E27FC236}">
                <a16:creationId xmlns:a16="http://schemas.microsoft.com/office/drawing/2014/main" id="{C0CF8A77-C404-4E3C-A580-2DD7A0BF0319}"/>
              </a:ext>
            </a:extLst>
          </p:cNvPr>
          <p:cNvSpPr>
            <a:spLocks noGrp="1"/>
          </p:cNvSpPr>
          <p:nvPr/>
        </p:nvSpPr>
        <p:spPr>
          <a:xfrm>
            <a:off x="4544568" y="2377440"/>
            <a:ext cx="3108960" cy="3474720"/>
          </a:xfrm>
          <a:prstGeom prst="rect">
            <a:avLst/>
          </a:prstGeom>
          <a:noFill/>
        </p:spPr>
        <p:txBody>
          <a:bodyPr wrap="square" lIns="0" tIns="0" rIns="0" bIns="0" anchor="t"/>
          <a:lstStyle/>
          <a:p>
            <a:pPr marL="342900" indent="-342900">
              <a:spcAft>
                <a:spcPts val="600"/>
              </a:spcAft>
              <a:buSzPct val="100000"/>
              <a:buChar char="•"/>
            </a:pPr>
            <a:r>
              <a:rPr sz="1400">
                <a:solidFill>
                  <a:srgbClr val="FFFFFF"/>
                </a:solidFill>
                <a:latin typeface="Calibri"/>
                <a:ea typeface="Calibri"/>
                <a:cs typeface="Calibri"/>
              </a:rPr>
              <a:t>Current stage: working prototype</a:t>
            </a:r>
            <a:endParaRPr sz="1400"/>
          </a:p>
          <a:p>
            <a:pPr marL="342900" indent="-342900">
              <a:spcAft>
                <a:spcPts val="600"/>
              </a:spcAft>
              <a:buSzPct val="100000"/>
              <a:buChar char="•"/>
            </a:pPr>
            <a:r>
              <a:rPr sz="1400">
                <a:solidFill>
                  <a:srgbClr val="FFFFFF"/>
                </a:solidFill>
                <a:latin typeface="Calibri"/>
                <a:ea typeface="Calibri"/>
                <a:cs typeface="Calibri"/>
              </a:rPr>
              <a:t>Proposed: private institutional deployment</a:t>
            </a:r>
            <a:endParaRPr sz="1400"/>
          </a:p>
          <a:p>
            <a:pPr marL="342900" indent="-342900">
              <a:spcAft>
                <a:spcPts val="600"/>
              </a:spcAft>
              <a:buSzPct val="100000"/>
              <a:buChar char="•"/>
            </a:pPr>
            <a:r>
              <a:rPr sz="1400">
                <a:solidFill>
                  <a:srgbClr val="FFFFFF"/>
                </a:solidFill>
                <a:latin typeface="Calibri"/>
                <a:ea typeface="Calibri"/>
                <a:cs typeface="Calibri"/>
              </a:rPr>
              <a:t>Costs: hosting, integrations and support</a:t>
            </a:r>
            <a:endParaRPr sz="1400"/>
          </a:p>
        </p:txBody>
      </p:sp>
      <p:sp>
        <p:nvSpPr>
          <p:cNvPr id="10" name="Sustain card">
            <a:extLst>
              <a:ext uri="{FF2B5EF4-FFF2-40B4-BE49-F238E27FC236}">
                <a16:creationId xmlns:a16="http://schemas.microsoft.com/office/drawing/2014/main" id="{41A4A359-B3A0-4223-B5E3-3D34278F8835}"/>
              </a:ext>
            </a:extLst>
          </p:cNvPr>
          <p:cNvSpPr>
            <a:spLocks noGrp="1"/>
          </p:cNvSpPr>
          <p:nvPr/>
        </p:nvSpPr>
        <p:spPr>
          <a:xfrm>
            <a:off x="8074152" y="1691640"/>
            <a:ext cx="3657600" cy="4434840"/>
          </a:xfrm>
          <a:prstGeom prst="roundRect">
            <a:avLst>
              <a:gd name="adj" fmla="val 3000"/>
            </a:avLst>
          </a:prstGeom>
          <a:solidFill>
            <a:srgbClr val="0B1A4A">
              <a:alpha val="75000"/>
            </a:srgbClr>
          </a:solidFill>
          <a:ln w="12700">
            <a:solidFill>
              <a:srgbClr val="1E5BFF"/>
            </a:solidFill>
            <a:prstDash val="solid"/>
          </a:ln>
        </p:spPr>
      </p:sp>
      <p:sp>
        <p:nvSpPr>
          <p:cNvPr id="11" name="Sus head">
            <a:extLst>
              <a:ext uri="{FF2B5EF4-FFF2-40B4-BE49-F238E27FC236}">
                <a16:creationId xmlns:a16="http://schemas.microsoft.com/office/drawing/2014/main" id="{CF69F010-B67A-4180-8C61-CD73CCBAA9A6}"/>
              </a:ext>
            </a:extLst>
          </p:cNvPr>
          <p:cNvSpPr>
            <a:spLocks noGrp="1"/>
          </p:cNvSpPr>
          <p:nvPr/>
        </p:nvSpPr>
        <p:spPr>
          <a:xfrm>
            <a:off x="8348472" y="1874520"/>
            <a:ext cx="310896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SUSTAINABILITY</a:t>
            </a:r>
            <a:endParaRPr sz="1500"/>
          </a:p>
        </p:txBody>
      </p:sp>
      <p:sp>
        <p:nvSpPr>
          <p:cNvPr id="12" name="Sus body">
            <a:extLst>
              <a:ext uri="{FF2B5EF4-FFF2-40B4-BE49-F238E27FC236}">
                <a16:creationId xmlns:a16="http://schemas.microsoft.com/office/drawing/2014/main" id="{1D440CB4-778C-42D3-AA08-961991B65639}"/>
              </a:ext>
            </a:extLst>
          </p:cNvPr>
          <p:cNvSpPr>
            <a:spLocks noGrp="1"/>
          </p:cNvSpPr>
          <p:nvPr/>
        </p:nvSpPr>
        <p:spPr>
          <a:xfrm>
            <a:off x="8348472" y="2377440"/>
            <a:ext cx="3108960" cy="3474720"/>
          </a:xfrm>
          <a:prstGeom prst="rect">
            <a:avLst/>
          </a:prstGeom>
          <a:noFill/>
        </p:spPr>
        <p:txBody>
          <a:bodyPr wrap="square" lIns="0" tIns="0" rIns="0" bIns="0" anchor="t"/>
          <a:lstStyle/>
          <a:p>
            <a:pPr marL="342900" indent="-342900">
              <a:spcAft>
                <a:spcPts val="600"/>
              </a:spcAft>
              <a:buSzPct val="100000"/>
              <a:buChar char="•"/>
            </a:pPr>
            <a:r>
              <a:rPr sz="1400">
                <a:solidFill>
                  <a:srgbClr val="FFFFFF"/>
                </a:solidFill>
                <a:latin typeface="Calibri"/>
                <a:ea typeface="Calibri"/>
                <a:cs typeface="Calibri"/>
              </a:rPr>
              <a:t>Proposed: pilot with one team</a:t>
            </a:r>
            <a:endParaRPr sz="1400"/>
          </a:p>
          <a:p>
            <a:pPr marL="342900" indent="-342900">
              <a:spcAft>
                <a:spcPts val="600"/>
              </a:spcAft>
              <a:buSzPct val="100000"/>
              <a:buChar char="•"/>
            </a:pPr>
            <a:r>
              <a:rPr sz="1400">
                <a:solidFill>
                  <a:srgbClr val="FFFFFF"/>
                </a:solidFill>
                <a:latin typeface="Calibri"/>
                <a:ea typeface="Calibri"/>
                <a:cs typeface="Calibri"/>
              </a:rPr>
              <a:t>Add source connectors as needed</a:t>
            </a:r>
            <a:endParaRPr sz="1400"/>
          </a:p>
          <a:p>
            <a:pPr marL="342900" indent="-342900">
              <a:spcAft>
                <a:spcPts val="600"/>
              </a:spcAft>
              <a:buSzPct val="100000"/>
              <a:buChar char="•"/>
            </a:pPr>
            <a:r>
              <a:rPr sz="1400">
                <a:solidFill>
                  <a:srgbClr val="FFFFFF"/>
                </a:solidFill>
                <a:latin typeface="Calibri"/>
                <a:ea typeface="Calibri"/>
                <a:cs typeface="Calibri"/>
              </a:rPr>
              <a:t>Measure cost and update speed before scaling</a:t>
            </a:r>
            <a:endParaRPr sz="1400"/>
          </a:p>
        </p:txBody>
      </p:sp>
      <p:sp>
        <p:nvSpPr>
          <p:cNvPr id="25" name="Slide Number Placeholder 0">
            <a:extLst>
              <a:ext uri="{FF2B5EF4-FFF2-40B4-BE49-F238E27FC236}">
                <a16:creationId xmlns:a16="http://schemas.microsoft.com/office/drawing/2014/main" id="{8972E406-BFF5-4FD0-9108-DA023FA88ADF}"/>
              </a:ext>
            </a:extLst>
          </p:cNvPr>
          <p:cNvSpPr>
            <a:spLocks noGrp="1"/>
          </p:cNvSpPr>
          <p:nvPr>
            <p:ph type="sldNum" idx="4294967295"/>
          </p:nvPr>
        </p:nvSpPr>
        <p:spPr>
          <a:xfrm>
            <a:off x="11155680" y="6428232"/>
            <a:ext cx="576072" cy="274320"/>
          </a:xfrm>
          <a:prstGeom prst="rect">
            <a:avLst/>
          </a:prstGeom>
        </p:spPr>
        <p:txBody>
          <a:bodyPr/>
          <a:lstStyle>
            <a:lvl1pPr>
              <a:buNone/>
              <a:defRPr sz="1000">
                <a:solidFill>
                  <a:srgbClr val="9CC4FF"/>
                </a:solidFill>
                <a:latin typeface="Arial"/>
                <a:ea typeface="Arial"/>
                <a:cs typeface="Arial"/>
              </a:defRPr>
            </a:lvl1pPr>
          </a:lstStyle>
          <a:p>
            <a:pPr algn="r">
              <a:buNone/>
            </a:pPr>
            <a:fld id="{F7021451-1387-4CA6-816F-3879F97B5CBC}" type="slidenum">
              <a:rPr b="0"/>
              <a:t>7</a:t>
            </a:fld>
            <a:endParaRPr/>
          </a:p>
        </p:txBody>
      </p:sp>
    </p:spTree>
    <p:extLst>
      <p:ext uri="{BB962C8B-B14F-4D97-AF65-F5344CB8AC3E}">
        <p14:creationId xmlns:p14="http://schemas.microsoft.com/office/powerpoint/2010/main" val="5707839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a:extLst>
              <a:ext uri="{FF2B5EF4-FFF2-40B4-BE49-F238E27FC236}">
                <a16:creationId xmlns:a16="http://schemas.microsoft.com/office/drawing/2014/main" id="{B7B406E3-FBB9-40B8-B1B8-94683ACC8954}"/>
              </a:ext>
            </a:extLst>
          </p:cNvPr>
          <p:cNvSpPr>
            <a:spLocks noGrp="1"/>
          </p:cNvSpPr>
          <p:nvPr/>
        </p:nvSpPr>
        <p:spPr>
          <a:xfrm>
            <a:off x="457200" y="960120"/>
            <a:ext cx="11274552" cy="731520"/>
          </a:xfrm>
          <a:prstGeom prst="rect">
            <a:avLst/>
          </a:prstGeom>
          <a:noFill/>
        </p:spPr>
        <p:txBody>
          <a:bodyPr wrap="square" lIns="0" tIns="0" rIns="0" bIns="0" anchor="ctr"/>
          <a:lstStyle/>
          <a:p>
            <a:pPr marL="0" indent="0">
              <a:buNone/>
            </a:pPr>
            <a:r>
              <a:rPr sz="3600" b="1" spc="200">
                <a:solidFill>
                  <a:srgbClr val="FFFFFF"/>
                </a:solidFill>
                <a:latin typeface="Arial"/>
                <a:ea typeface="Arial"/>
                <a:cs typeface="Arial"/>
              </a:rPr>
              <a:t>RESEARCH AND REFERENCES</a:t>
            </a:r>
            <a:endParaRPr sz="3600"/>
          </a:p>
        </p:txBody>
      </p:sp>
      <p:sp>
        <p:nvSpPr>
          <p:cNvPr id="3" name="Team tag">
            <a:extLst>
              <a:ext uri="{FF2B5EF4-FFF2-40B4-BE49-F238E27FC236}">
                <a16:creationId xmlns:a16="http://schemas.microsoft.com/office/drawing/2014/main" id="{12E3B3E9-A06D-4113-890F-A7D2DC38C7A1}"/>
              </a:ext>
            </a:extLst>
          </p:cNvPr>
          <p:cNvSpPr>
            <a:spLocks noGrp="1"/>
          </p:cNvSpPr>
          <p:nvPr/>
        </p:nvSpPr>
        <p:spPr>
          <a:xfrm>
            <a:off x="8503920" y="1097280"/>
            <a:ext cx="3227832" cy="320040"/>
          </a:xfrm>
          <a:prstGeom prst="rect">
            <a:avLst/>
          </a:prstGeom>
          <a:noFill/>
        </p:spPr>
        <p:txBody>
          <a:bodyPr wrap="square" lIns="0" tIns="0" rIns="0" bIns="0" anchor="ctr"/>
          <a:lstStyle/>
          <a:p>
            <a:pPr marL="0" indent="0" algn="r">
              <a:buNone/>
            </a:pPr>
            <a:r>
              <a:rPr sz="1200">
                <a:solidFill>
                  <a:srgbClr val="9CC4FF"/>
                </a:solidFill>
                <a:latin typeface="Calibri"/>
                <a:ea typeface="Calibri"/>
                <a:cs typeface="Calibri"/>
              </a:rPr>
              <a:t>DataTrust AI  |  Team ID pending</a:t>
            </a:r>
            <a:endParaRPr sz="1200"/>
          </a:p>
        </p:txBody>
      </p:sp>
      <p:sp>
        <p:nvSpPr>
          <p:cNvPr id="4" name="References card">
            <a:extLst>
              <a:ext uri="{FF2B5EF4-FFF2-40B4-BE49-F238E27FC236}">
                <a16:creationId xmlns:a16="http://schemas.microsoft.com/office/drawing/2014/main" id="{025D9C11-FCF2-4428-BE6B-4C4EDAD1C452}"/>
              </a:ext>
            </a:extLst>
          </p:cNvPr>
          <p:cNvSpPr>
            <a:spLocks noGrp="1"/>
          </p:cNvSpPr>
          <p:nvPr/>
        </p:nvSpPr>
        <p:spPr>
          <a:xfrm>
            <a:off x="457200" y="1691640"/>
            <a:ext cx="11274552" cy="4434840"/>
          </a:xfrm>
          <a:prstGeom prst="roundRect">
            <a:avLst>
              <a:gd name="adj" fmla="val 2474"/>
            </a:avLst>
          </a:prstGeom>
          <a:solidFill>
            <a:srgbClr val="0B1A4A">
              <a:alpha val="75000"/>
            </a:srgbClr>
          </a:solidFill>
          <a:ln w="12700">
            <a:solidFill>
              <a:srgbClr val="1E5BFF"/>
            </a:solidFill>
            <a:prstDash val="solid"/>
          </a:ln>
        </p:spPr>
      </p:sp>
      <p:sp>
        <p:nvSpPr>
          <p:cNvPr id="5" name="Ref head">
            <a:extLst>
              <a:ext uri="{FF2B5EF4-FFF2-40B4-BE49-F238E27FC236}">
                <a16:creationId xmlns:a16="http://schemas.microsoft.com/office/drawing/2014/main" id="{3C6BB596-438D-4804-8097-4F3E494175CF}"/>
              </a:ext>
            </a:extLst>
          </p:cNvPr>
          <p:cNvSpPr>
            <a:spLocks noGrp="1"/>
          </p:cNvSpPr>
          <p:nvPr/>
        </p:nvSpPr>
        <p:spPr>
          <a:xfrm>
            <a:off x="731520" y="1874520"/>
            <a:ext cx="10515600" cy="320040"/>
          </a:xfrm>
          <a:prstGeom prst="rect">
            <a:avLst/>
          </a:prstGeom>
          <a:noFill/>
        </p:spPr>
        <p:txBody>
          <a:bodyPr wrap="square" lIns="0" tIns="0" rIns="0" bIns="0" anchor="ctr"/>
          <a:lstStyle/>
          <a:p>
            <a:pPr marL="0" indent="0">
              <a:buNone/>
            </a:pPr>
            <a:r>
              <a:rPr sz="1500" b="1" spc="200">
                <a:solidFill>
                  <a:srgbClr val="4DA3FF"/>
                </a:solidFill>
                <a:latin typeface="Arial"/>
                <a:ea typeface="Arial"/>
                <a:cs typeface="Arial"/>
              </a:rPr>
              <a:t>KEY TECH &amp; RESEARCH SOURCES</a:t>
            </a:r>
            <a:endParaRPr sz="1500"/>
          </a:p>
        </p:txBody>
      </p:sp>
      <p:sp>
        <p:nvSpPr>
          <p:cNvPr id="6" name="Ref body">
            <a:extLst>
              <a:ext uri="{FF2B5EF4-FFF2-40B4-BE49-F238E27FC236}">
                <a16:creationId xmlns:a16="http://schemas.microsoft.com/office/drawing/2014/main" id="{B323AC0B-2051-4D78-939A-C98883EE891C}"/>
              </a:ext>
            </a:extLst>
          </p:cNvPr>
          <p:cNvSpPr>
            <a:spLocks noGrp="1"/>
          </p:cNvSpPr>
          <p:nvPr/>
        </p:nvSpPr>
        <p:spPr>
          <a:xfrm>
            <a:off x="731520" y="2377440"/>
            <a:ext cx="10698480" cy="3474720"/>
          </a:xfrm>
          <a:prstGeom prst="rect">
            <a:avLst/>
          </a:prstGeom>
          <a:noFill/>
        </p:spPr>
        <p:txBody>
          <a:bodyPr wrap="square" lIns="0" tIns="0" rIns="0" bIns="0" anchor="t"/>
          <a:lstStyle>
            <a:defPPr algn="l">
              <a:defRPr sz="1600">
                <a:solidFill>
                  <a:srgbClr val="FFFFFF"/>
                </a:solidFill>
                <a:latin typeface="Calibri"/>
                <a:ea typeface="Calibri"/>
                <a:cs typeface="Calibri"/>
              </a:defRPr>
            </a:defPPr>
            <a:lvl1pPr algn="l">
              <a:buNone/>
              <a:defRPr sz="1600">
                <a:solidFill>
                  <a:srgbClr val="FFFFFF"/>
                </a:solidFill>
                <a:latin typeface="Calibri"/>
                <a:ea typeface="Calibri"/>
                <a:cs typeface="Calibri"/>
              </a:defRPr>
            </a:lvl1pPr>
            <a:lvl2pPr algn="l">
              <a:buNone/>
              <a:defRPr sz="1600">
                <a:solidFill>
                  <a:srgbClr val="FFFFFF"/>
                </a:solidFill>
                <a:latin typeface="Calibri"/>
                <a:ea typeface="Calibri"/>
                <a:cs typeface="Calibri"/>
              </a:defRPr>
            </a:lvl2pPr>
            <a:lvl3pPr algn="l">
              <a:buNone/>
              <a:defRPr sz="1600">
                <a:solidFill>
                  <a:srgbClr val="FFFFFF"/>
                </a:solidFill>
                <a:latin typeface="Calibri"/>
                <a:ea typeface="Calibri"/>
                <a:cs typeface="Calibri"/>
              </a:defRPr>
            </a:lvl3pPr>
            <a:lvl4pPr algn="l">
              <a:buNone/>
              <a:defRPr sz="1600">
                <a:solidFill>
                  <a:srgbClr val="FFFFFF"/>
                </a:solidFill>
                <a:latin typeface="Calibri"/>
                <a:ea typeface="Calibri"/>
                <a:cs typeface="Calibri"/>
              </a:defRPr>
            </a:lvl4pPr>
            <a:lvl5pPr algn="l">
              <a:buNone/>
              <a:defRPr sz="1600">
                <a:solidFill>
                  <a:srgbClr val="FFFFFF"/>
                </a:solidFill>
                <a:latin typeface="Calibri"/>
                <a:ea typeface="Calibri"/>
                <a:cs typeface="Calibri"/>
              </a:defRPr>
            </a:lvl5pPr>
            <a:lvl6pPr algn="l">
              <a:buNone/>
              <a:defRPr sz="1600">
                <a:solidFill>
                  <a:srgbClr val="FFFFFF"/>
                </a:solidFill>
                <a:latin typeface="Calibri"/>
                <a:ea typeface="Calibri"/>
                <a:cs typeface="Calibri"/>
              </a:defRPr>
            </a:lvl6pPr>
            <a:lvl7pPr algn="l">
              <a:buNone/>
              <a:defRPr sz="1600">
                <a:solidFill>
                  <a:srgbClr val="FFFFFF"/>
                </a:solidFill>
                <a:latin typeface="Calibri"/>
                <a:ea typeface="Calibri"/>
                <a:cs typeface="Calibri"/>
              </a:defRPr>
            </a:lvl7pPr>
            <a:lvl8pPr algn="l">
              <a:buNone/>
              <a:defRPr sz="1600">
                <a:solidFill>
                  <a:srgbClr val="FFFFFF"/>
                </a:solidFill>
                <a:latin typeface="Calibri"/>
                <a:ea typeface="Calibri"/>
                <a:cs typeface="Calibri"/>
              </a:defRPr>
            </a:lvl8pPr>
            <a:lvl9pPr algn="l">
              <a:buNone/>
              <a:defRPr sz="1600">
                <a:solidFill>
                  <a:srgbClr val="FFFFFF"/>
                </a:solidFill>
                <a:latin typeface="Calibri"/>
                <a:ea typeface="Calibri"/>
                <a:cs typeface="Calibri"/>
              </a:defRPr>
            </a:lvl9pPr>
          </a:lstStyle>
          <a:p>
            <a:pPr marL="342900" indent="-342900" algn="l">
              <a:spcAft>
                <a:spcPts val="600"/>
              </a:spcAft>
              <a:buChar char="•"/>
              <a:defRPr sz="1600">
                <a:solidFill>
                  <a:srgbClr val="FFFFFF"/>
                </a:solidFill>
                <a:latin typeface="Calibri"/>
                <a:ea typeface="Calibri"/>
                <a:cs typeface="Calibri"/>
              </a:defRPr>
            </a:pPr>
            <a:r>
              <a:rPr sz="1600">
                <a:solidFill>
                  <a:srgbClr val="FFFFFF"/>
                </a:solidFill>
                <a:latin typeface="Calibri"/>
                <a:ea typeface="Calibri"/>
                <a:cs typeface="Calibri"/>
              </a:rPr>
              <a:t>README.md — architecture, setup and Phase 2 API</a:t>
            </a:r>
          </a:p>
          <a:p>
            <a:pPr marL="342900" indent="-342900" algn="l">
              <a:spcAft>
                <a:spcPts val="600"/>
              </a:spcAft>
              <a:buChar char="•"/>
              <a:defRPr sz="1600">
                <a:solidFill>
                  <a:srgbClr val="FFFFFF"/>
                </a:solidFill>
                <a:latin typeface="Calibri"/>
                <a:ea typeface="Calibri"/>
                <a:cs typeface="Calibri"/>
              </a:defRPr>
            </a:pPr>
            <a:r>
              <a:rPr sz="1600">
                <a:solidFill>
                  <a:srgbClr val="FFFFFF"/>
                </a:solidFill>
                <a:latin typeface="Calibri"/>
                <a:ea typeface="Calibri"/>
                <a:cs typeface="Calibri"/>
              </a:rPr>
              <a:t>document_store.py + graph_engine.py — index and graph updates</a:t>
            </a:r>
          </a:p>
          <a:p>
            <a:pPr marL="342900" indent="-342900" algn="l">
              <a:spcAft>
                <a:spcPts val="600"/>
              </a:spcAft>
              <a:buChar char="•"/>
              <a:defRPr sz="1600">
                <a:solidFill>
                  <a:srgbClr val="FFFFFF"/>
                </a:solidFill>
                <a:latin typeface="Calibri"/>
                <a:ea typeface="Calibri"/>
                <a:cs typeface="Calibri"/>
              </a:defRPr>
            </a:pPr>
            <a:r>
              <a:rPr sz="1600">
                <a:solidFill>
                  <a:srgbClr val="FFFFFF"/>
                </a:solidFill>
                <a:latin typeface="Calibri"/>
                <a:ea typeface="Calibri"/>
                <a:cs typeface="Calibri"/>
              </a:rPr>
              <a:t>validation_engine.py — evidence paths and conflict answers</a:t>
            </a:r>
          </a:p>
          <a:p>
            <a:pPr marL="342900" indent="-342900" algn="l">
              <a:spcAft>
                <a:spcPts val="600"/>
              </a:spcAft>
              <a:buChar char="•"/>
              <a:defRPr sz="1600">
                <a:solidFill>
                  <a:srgbClr val="FFFFFF"/>
                </a:solidFill>
                <a:latin typeface="Calibri"/>
                <a:ea typeface="Calibri"/>
                <a:cs typeface="Calibri"/>
              </a:defRPr>
            </a:pPr>
            <a:r>
              <a:rPr sz="1600">
                <a:solidFill>
                  <a:srgbClr val="FFFFFF"/>
                </a:solidFill>
                <a:latin typeface="Calibri"/>
                <a:ea typeface="Calibri"/>
                <a:cs typeface="Calibri"/>
              </a:rPr>
              <a:t>test_phase2_documents.py — 500 docs, conflicts, injection and Hindi checks</a:t>
            </a:r>
          </a:p>
          <a:p>
            <a:pPr marL="342900" indent="-342900" algn="l">
              <a:spcAft>
                <a:spcPts val="600"/>
              </a:spcAft>
              <a:buChar char="•"/>
              <a:defRPr sz="1600">
                <a:solidFill>
                  <a:srgbClr val="FFFFFF"/>
                </a:solidFill>
                <a:latin typeface="Calibri"/>
                <a:ea typeface="Calibri"/>
                <a:cs typeface="Calibri"/>
              </a:defRPr>
            </a:pPr>
            <a:r>
              <a:rPr sz="1600">
                <a:solidFill>
                  <a:srgbClr val="FFFFFF"/>
                </a:solidFill>
                <a:latin typeface="Calibri"/>
                <a:ea typeface="Calibri"/>
                <a:cs typeface="Calibri"/>
              </a:rPr>
              <a:t>document_safety.py + retrieval_engine.py — filtering and cross-language retrieval</a:t>
            </a:r>
          </a:p>
          <a:p>
            <a:pPr marL="342900" indent="-342900" algn="l">
              <a:spcAft>
                <a:spcPts val="600"/>
              </a:spcAft>
              <a:buChar char="•"/>
              <a:defRPr sz="1600">
                <a:solidFill>
                  <a:srgbClr val="FFFFFF"/>
                </a:solidFill>
                <a:latin typeface="Calibri"/>
                <a:ea typeface="Calibri"/>
                <a:cs typeface="Calibri"/>
              </a:defRPr>
            </a:pPr>
            <a:r>
              <a:rPr sz="1600">
                <a:solidFill>
                  <a:srgbClr val="FFFFFF"/>
                </a:solidFill>
                <a:latin typeface="Calibri"/>
                <a:ea typeface="Calibri"/>
                <a:cs typeface="Calibri"/>
              </a:rPr>
              <a:t>scripts/benchmark_phase2.py — verifies six Phase 2 requirements</a:t>
            </a:r>
          </a:p>
          <a:p>
            <a:pPr marL="342900" indent="-342900" algn="l">
              <a:spcAft>
                <a:spcPts val="600"/>
              </a:spcAft>
              <a:buChar char="•"/>
              <a:defRPr sz="1600">
                <a:solidFill>
                  <a:srgbClr val="FFFFFF"/>
                </a:solidFill>
                <a:latin typeface="Calibri"/>
                <a:ea typeface="Calibri"/>
                <a:cs typeface="Calibri"/>
              </a:defRPr>
            </a:pPr>
            <a:r>
              <a:rPr sz="1600">
                <a:solidFill>
                  <a:srgbClr val="FFFFFF"/>
                </a:solidFill>
                <a:latin typeface="Calibri"/>
                <a:ea typeface="Calibri"/>
                <a:cs typeface="Calibri"/>
              </a:rPr>
              <a:t>DataStudioView.tsx + EvidencePathReplayPanel.tsx — document and evidence UI</a:t>
            </a:r>
          </a:p>
          <a:p>
            <a:pPr marL="342900" indent="-342900" algn="l">
              <a:spcAft>
                <a:spcPts val="600"/>
              </a:spcAft>
              <a:buChar char="•"/>
              <a:defRPr sz="1600">
                <a:solidFill>
                  <a:srgbClr val="FFFFFF"/>
                </a:solidFill>
                <a:latin typeface="Calibri"/>
                <a:ea typeface="Calibri"/>
                <a:cs typeface="Calibri"/>
              </a:defRPr>
            </a:pPr>
            <a:r>
              <a:rPr sz="1600">
                <a:solidFill>
                  <a:srgbClr val="FFFFFF"/>
                </a:solidFill>
                <a:latin typeface="Calibri"/>
                <a:ea typeface="Calibri"/>
                <a:cs typeface="Calibri"/>
              </a:rPr>
              <a:t>Live app: </a:t>
            </a:r>
            <a:r>
              <a:rPr sz="1600" u="sng">
                <a:solidFill>
                  <a:srgbClr val="FFFFFF"/>
                </a:solidFill>
                <a:latin typeface="Calibri"/>
                <a:ea typeface="Calibri"/>
                <a:cs typeface="Calibri"/>
                <a:hlinkClick r:id="rId3"/>
              </a:rPr>
              <a:t>https://data-trust-ai-26.vercel.app/</a:t>
            </a:r>
          </a:p>
          <a:p>
            <a:pPr marL="342900" indent="-342900" algn="l">
              <a:spcAft>
                <a:spcPts val="600"/>
              </a:spcAft>
              <a:buChar char="•"/>
              <a:defRPr sz="1600">
                <a:solidFill>
                  <a:srgbClr val="FFFFFF"/>
                </a:solidFill>
                <a:latin typeface="Calibri"/>
                <a:ea typeface="Calibri"/>
                <a:cs typeface="Calibri"/>
              </a:defRPr>
            </a:pPr>
            <a:r>
              <a:rPr sz="1600">
                <a:solidFill>
                  <a:srgbClr val="FFFFFF"/>
                </a:solidFill>
                <a:latin typeface="Calibri"/>
                <a:ea typeface="Calibri"/>
                <a:cs typeface="Calibri"/>
              </a:rPr>
              <a:t>Vercel project: </a:t>
            </a:r>
            <a:r>
              <a:rPr sz="1600" u="sng">
                <a:solidFill>
                  <a:srgbClr val="FFFFFF"/>
                </a:solidFill>
                <a:latin typeface="Calibri"/>
                <a:ea typeface="Calibri"/>
                <a:cs typeface="Calibri"/>
                <a:hlinkClick r:id="rId4"/>
              </a:rPr>
              <a:t>https://vercel.com/kc100official-cmds-projects/data-trust-ai-26</a:t>
            </a:r>
          </a:p>
        </p:txBody>
      </p:sp>
      <p:sp>
        <p:nvSpPr>
          <p:cNvPr id="25" name="Slide Number Placeholder 0">
            <a:extLst>
              <a:ext uri="{FF2B5EF4-FFF2-40B4-BE49-F238E27FC236}">
                <a16:creationId xmlns:a16="http://schemas.microsoft.com/office/drawing/2014/main" id="{C30F8C26-0289-42B7-9517-86DB47617212}"/>
              </a:ext>
            </a:extLst>
          </p:cNvPr>
          <p:cNvSpPr>
            <a:spLocks noGrp="1"/>
          </p:cNvSpPr>
          <p:nvPr>
            <p:ph type="sldNum" idx="4294967295"/>
          </p:nvPr>
        </p:nvSpPr>
        <p:spPr>
          <a:xfrm>
            <a:off x="11155680" y="6428232"/>
            <a:ext cx="576072" cy="274320"/>
          </a:xfrm>
          <a:prstGeom prst="rect">
            <a:avLst/>
          </a:prstGeom>
        </p:spPr>
        <p:txBody>
          <a:bodyPr/>
          <a:lstStyle>
            <a:lvl1pPr>
              <a:buNone/>
              <a:defRPr sz="1000">
                <a:solidFill>
                  <a:srgbClr val="9CC4FF"/>
                </a:solidFill>
                <a:latin typeface="Arial"/>
                <a:ea typeface="Arial"/>
                <a:cs typeface="Arial"/>
              </a:defRPr>
            </a:lvl1pPr>
          </a:lstStyle>
          <a:p>
            <a:pPr algn="r">
              <a:buNone/>
            </a:pPr>
            <a:fld id="{F7021451-1387-4CA6-816F-3879F97B5CBC}" type="slidenum">
              <a:rPr b="0"/>
              <a:t>8</a:t>
            </a:fld>
            <a:endParaRPr/>
          </a:p>
        </p:txBody>
      </p:sp>
    </p:spTree>
    <p:extLst>
      <p:ext uri="{BB962C8B-B14F-4D97-AF65-F5344CB8AC3E}">
        <p14:creationId xmlns:p14="http://schemas.microsoft.com/office/powerpoint/2010/main" val="6652695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a:extLst>
              <a:ext uri="{FF2B5EF4-FFF2-40B4-BE49-F238E27FC236}">
                <a16:creationId xmlns:a16="http://schemas.microsoft.com/office/drawing/2014/main" id="{8B50CCD4-B35A-44F8-8F8E-74A8CD8B62CC}"/>
              </a:ext>
            </a:extLst>
          </p:cNvPr>
          <p:cNvPicPr>
            <a:picLocks noChangeAspect="1"/>
          </p:cNvPicPr>
          <p:nvPr/>
        </p:nvPicPr>
        <p:blipFill>
          <a:blip r:embed="rId3"/>
          <a:stretch>
            <a:fillRect/>
          </a:stretch>
        </p:blipFill>
        <p:spPr>
          <a:xfrm>
            <a:off x="548640" y="1828800"/>
            <a:ext cx="4754880" cy="2163776"/>
          </a:xfrm>
          <a:prstGeom prst="rect">
            <a:avLst/>
          </a:prstGeom>
        </p:spPr>
      </p:pic>
      <p:sp>
        <p:nvSpPr>
          <p:cNvPr id="3" name="Text 0">
            <a:extLst>
              <a:ext uri="{FF2B5EF4-FFF2-40B4-BE49-F238E27FC236}">
                <a16:creationId xmlns:a16="http://schemas.microsoft.com/office/drawing/2014/main" id="{CDED595D-A33E-48DB-8CD9-81E8CDF1D4F2}"/>
              </a:ext>
            </a:extLst>
          </p:cNvPr>
          <p:cNvSpPr>
            <a:spLocks noGrp="1"/>
          </p:cNvSpPr>
          <p:nvPr/>
        </p:nvSpPr>
        <p:spPr>
          <a:xfrm>
            <a:off x="548640" y="4297680"/>
            <a:ext cx="7315200" cy="822960"/>
          </a:xfrm>
          <a:prstGeom prst="rect">
            <a:avLst/>
          </a:prstGeom>
          <a:noFill/>
        </p:spPr>
        <p:txBody>
          <a:bodyPr wrap="square" lIns="0" tIns="0" rIns="0" bIns="0" anchor="ctr"/>
          <a:lstStyle/>
          <a:p>
            <a:pPr marL="0" indent="0">
              <a:buNone/>
            </a:pPr>
            <a:r>
              <a:rPr sz="4400" b="1" spc="400">
                <a:solidFill>
                  <a:srgbClr val="FFFFFF"/>
                </a:solidFill>
                <a:latin typeface="Arial"/>
                <a:ea typeface="Arial"/>
                <a:cs typeface="Arial"/>
              </a:rPr>
              <a:t>THANK YOU</a:t>
            </a:r>
            <a:endParaRPr sz="4400"/>
          </a:p>
        </p:txBody>
      </p:sp>
      <p:sp>
        <p:nvSpPr>
          <p:cNvPr id="4" name="Text 1">
            <a:extLst>
              <a:ext uri="{FF2B5EF4-FFF2-40B4-BE49-F238E27FC236}">
                <a16:creationId xmlns:a16="http://schemas.microsoft.com/office/drawing/2014/main" id="{6F27D164-6D56-42F1-806F-C6E437DAC0C1}"/>
              </a:ext>
            </a:extLst>
          </p:cNvPr>
          <p:cNvSpPr>
            <a:spLocks noGrp="1"/>
          </p:cNvSpPr>
          <p:nvPr/>
        </p:nvSpPr>
        <p:spPr>
          <a:xfrm>
            <a:off x="548640" y="5120640"/>
            <a:ext cx="7315200" cy="365760"/>
          </a:xfrm>
          <a:prstGeom prst="rect">
            <a:avLst/>
          </a:prstGeom>
          <a:noFill/>
        </p:spPr>
        <p:txBody>
          <a:bodyPr wrap="square" lIns="0" tIns="0" rIns="0" bIns="0" anchor="ctr"/>
          <a:lstStyle/>
          <a:p>
            <a:pPr marL="0" indent="0">
              <a:buNone/>
            </a:pPr>
            <a:r>
              <a:rPr sz="1600">
                <a:solidFill>
                  <a:srgbClr val="9CC4FF"/>
                </a:solidFill>
                <a:latin typeface="Calibri"/>
                <a:ea typeface="Calibri"/>
                <a:cs typeface="Calibri"/>
              </a:rPr>
              <a:t>DataTrust AI  |  Team ID: not provided  |  Contact: not provided</a:t>
            </a:r>
            <a:endParaRPr sz="1600"/>
          </a:p>
        </p:txBody>
      </p:sp>
      <p:sp>
        <p:nvSpPr>
          <p:cNvPr id="5" name="Text 2">
            <a:extLst>
              <a:ext uri="{FF2B5EF4-FFF2-40B4-BE49-F238E27FC236}">
                <a16:creationId xmlns:a16="http://schemas.microsoft.com/office/drawing/2014/main" id="{9DB75615-C4E7-4E16-B86E-87DAAAABCCCC}"/>
              </a:ext>
            </a:extLst>
          </p:cNvPr>
          <p:cNvSpPr>
            <a:spLocks noGrp="1"/>
          </p:cNvSpPr>
          <p:nvPr/>
        </p:nvSpPr>
        <p:spPr>
          <a:xfrm>
            <a:off x="548640" y="6035040"/>
            <a:ext cx="7315200" cy="320040"/>
          </a:xfrm>
          <a:prstGeom prst="rect">
            <a:avLst/>
          </a:prstGeom>
          <a:noFill/>
        </p:spPr>
        <p:txBody>
          <a:bodyPr wrap="square" lIns="0" tIns="0" rIns="0" bIns="0" anchor="ctr"/>
          <a:lstStyle/>
          <a:p>
            <a:pPr marL="0" indent="0">
              <a:buNone/>
            </a:pPr>
            <a:r>
              <a:rPr sz="1300" b="1" spc="500">
                <a:solidFill>
                  <a:srgbClr val="4DA3FF"/>
                </a:solidFill>
                <a:latin typeface="Arial"/>
                <a:ea typeface="Arial"/>
                <a:cs typeface="Arial"/>
              </a:rPr>
              <a:t>CREATE / AN / IMPACT</a:t>
            </a:r>
            <a:endParaRPr sz="1300"/>
          </a:p>
        </p:txBody>
      </p:sp>
    </p:spTree>
    <p:extLst>
      <p:ext uri="{BB962C8B-B14F-4D97-AF65-F5344CB8AC3E}">
        <p14:creationId xmlns:p14="http://schemas.microsoft.com/office/powerpoint/2010/main" val="2110246639"/>
      </p:ext>
    </p:extLst>
  </p:cSld>
  <p:clrMapOvr>
    <a:masterClrMapping/>
  </p:clrMapOvr>
</p:sld>
</file>

<file path=ppt/theme/theme1.xml><?xml version="1.0" encoding="utf-8"?>
<a:theme xmlns:a="http://schemas.openxmlformats.org/drawingml/2006/main" name="Hypnexis">
  <a:themeElements>
    <a:clrScheme name="Hypnexis">
      <a:dk1>
        <a:srgbClr val="040A20"/>
      </a:dk1>
      <a:lt1>
        <a:srgbClr val="FFFFFF"/>
      </a:lt1>
      <a:dk2>
        <a:srgbClr val="0B1A4A"/>
      </a:dk2>
      <a:lt2>
        <a:srgbClr val="CFE0FF"/>
      </a:lt2>
      <a:accent1>
        <a:srgbClr val="1E5BFF"/>
      </a:accent1>
      <a:accent2>
        <a:srgbClr val="4DA3FF"/>
      </a:accent2>
      <a:accent3>
        <a:srgbClr val="0A2A8F"/>
      </a:accent3>
      <a:accent4>
        <a:srgbClr val="9CC4FF"/>
      </a:accent4>
      <a:accent5>
        <a:srgbClr val="6C8CFF"/>
      </a:accent5>
      <a:accent6>
        <a:srgbClr val="00C2FF"/>
      </a:accent6>
      <a:hlink>
        <a:srgbClr val="4DA3FF"/>
      </a:hlink>
      <a:folHlink>
        <a:srgbClr val="9CC4FF"/>
      </a:folHlink>
    </a:clrScheme>
    <a:fontScheme name="Hypnex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Hypnexi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Hypnexis">
  <a:themeElements>
    <a:clrScheme name="Hypnexis">
      <a:dk1>
        <a:srgbClr val="040A20"/>
      </a:dk1>
      <a:lt1>
        <a:srgbClr val="FFFFFF"/>
      </a:lt1>
      <a:dk2>
        <a:srgbClr val="0B1A4A"/>
      </a:dk2>
      <a:lt2>
        <a:srgbClr val="CFE0FF"/>
      </a:lt2>
      <a:accent1>
        <a:srgbClr val="1E5BFF"/>
      </a:accent1>
      <a:accent2>
        <a:srgbClr val="4DA3FF"/>
      </a:accent2>
      <a:accent3>
        <a:srgbClr val="0A2A8F"/>
      </a:accent3>
      <a:accent4>
        <a:srgbClr val="9CC4FF"/>
      </a:accent4>
      <a:accent5>
        <a:srgbClr val="6C8CFF"/>
      </a:accent5>
      <a:accent6>
        <a:srgbClr val="00C2FF"/>
      </a:accent6>
      <a:hlink>
        <a:srgbClr val="4DA3FF"/>
      </a:hlink>
      <a:folHlink>
        <a:srgbClr val="9CC4FF"/>
      </a:folHlink>
    </a:clrScheme>
    <a:fontScheme name="Hypnexis">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Hypnexis">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1209</Words>
  <Application>Microsoft Office PowerPoint</Application>
  <DocSecurity>0</DocSecurity>
  <PresentationFormat>Widescreen</PresentationFormat>
  <Paragraphs>147</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Hypnexis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Krishna chauhan</cp:lastModifiedBy>
  <cp:revision>1</cp:revision>
  <dcterms:created xsi:type="dcterms:W3CDTF">2026-10-24T15:14:47Z</dcterms:created>
  <dcterms:modified xsi:type="dcterms:W3CDTF">2026-10-24T16:32:38Z</dcterms:modified>
</cp:coreProperties>
</file>