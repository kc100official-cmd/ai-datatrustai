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d75c4be85b34e39" /><Relationship Type="http://schemas.openxmlformats.org/officeDocument/2006/relationships/extended-properties" Target="/docProps/app.xml" Id="R3cfe115d76d24aed" /><Relationship Type="http://schemas.openxmlformats.org/officeDocument/2006/relationships/officeDocument" Target="/ppt/presentation.xml" Id="R84fd610304af4135" /></Relationships>
</file>

<file path=ppt/presentation.xml><?xml version="1.0" encoding="utf-8"?>
<p:presentation xmlns:p="http://schemas.openxmlformats.org/presentationml/2006/main">
  <p:sldMasterIdLst>
    <p:sldMasterId xmlns:r="http://schemas.openxmlformats.org/officeDocument/2006/relationships" id="2147483648" r:id="R790b97f1206d424a"/>
  </p:sldMasterIdLst>
  <p:notesMasterIdLst>
    <p:notesMasterId xmlns:r="http://schemas.openxmlformats.org/officeDocument/2006/relationships" r:id="R5a3de079b2824a2a"/>
  </p:notesMasterIdLst>
  <p:sldIdLst>
    <p:sldId xmlns:r="http://schemas.openxmlformats.org/officeDocument/2006/relationships" id="256" r:id="Rb5aaf3d1489041ab"/>
    <p:sldId xmlns:r="http://schemas.openxmlformats.org/officeDocument/2006/relationships" id="257" r:id="R8633d15412004123"/>
    <p:sldId xmlns:r="http://schemas.openxmlformats.org/officeDocument/2006/relationships" id="258" r:id="R55a00aa5bcc145a9"/>
    <p:sldId xmlns:r="http://schemas.openxmlformats.org/officeDocument/2006/relationships" id="259" r:id="Rf5764b8d29e849e5"/>
    <p:sldId xmlns:r="http://schemas.openxmlformats.org/officeDocument/2006/relationships" id="260" r:id="R465dc218ce63471b"/>
    <p:sldId xmlns:r="http://schemas.openxmlformats.org/officeDocument/2006/relationships" id="261" r:id="R2865bc9376c84446"/>
    <p:sldId xmlns:r="http://schemas.openxmlformats.org/officeDocument/2006/relationships" id="262" r:id="R18589e310d8a4f80"/>
    <p:sldId xmlns:r="http://schemas.openxmlformats.org/officeDocument/2006/relationships" id="263" r:id="R89133f078533456c"/>
    <p:sldId xmlns:r="http://schemas.openxmlformats.org/officeDocument/2006/relationships" id="264" r:id="Rfd593fed001a4ac5"/>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b4e8030bf5a4f97" /><Relationship Type="http://schemas.openxmlformats.org/officeDocument/2006/relationships/slideMaster" Target="/ppt/slideMasters/slideMaster1.xml" Id="R790b97f1206d424a" /><Relationship Type="http://schemas.openxmlformats.org/officeDocument/2006/relationships/notesMaster" Target="/ppt/notesMasters/notesMaster1.xml" Id="R5a3de079b2824a2a" /><Relationship Type="http://schemas.openxmlformats.org/officeDocument/2006/relationships/presProps" Target="/ppt/presProps.xml" Id="R17bebd6ec6624848" /><Relationship Type="http://schemas.openxmlformats.org/officeDocument/2006/relationships/viewProps" Target="/ppt/viewProps.xml" Id="Rd3c5528c85c94df9" /><Relationship Type="http://schemas.openxmlformats.org/officeDocument/2006/relationships/tableStyles" Target="/ppt/tableStyles.xml" Id="R2d2e91a50a044247" /><Relationship Type="http://schemas.openxmlformats.org/officeDocument/2006/relationships/slide" Target="/ppt/slides/slide1.xml" Id="Rb5aaf3d1489041ab" /><Relationship Type="http://schemas.openxmlformats.org/officeDocument/2006/relationships/slide" Target="/ppt/slides/slide2.xml" Id="R8633d15412004123" /><Relationship Type="http://schemas.openxmlformats.org/officeDocument/2006/relationships/slide" Target="/ppt/slides/slide3.xml" Id="R55a00aa5bcc145a9" /><Relationship Type="http://schemas.openxmlformats.org/officeDocument/2006/relationships/slide" Target="/ppt/slides/slide4.xml" Id="Rf5764b8d29e849e5" /><Relationship Type="http://schemas.openxmlformats.org/officeDocument/2006/relationships/slide" Target="/ppt/slides/slide5.xml" Id="R465dc218ce63471b" /><Relationship Type="http://schemas.openxmlformats.org/officeDocument/2006/relationships/slide" Target="/ppt/slides/slide6.xml" Id="R2865bc9376c84446" /><Relationship Type="http://schemas.openxmlformats.org/officeDocument/2006/relationships/slide" Target="/ppt/slides/slide7.xml" Id="R18589e310d8a4f80" /><Relationship Type="http://schemas.openxmlformats.org/officeDocument/2006/relationships/slide" Target="/ppt/slides/slide8.xml" Id="R89133f078533456c" /><Relationship Type="http://schemas.openxmlformats.org/officeDocument/2006/relationships/slide" Target="/ppt/slides/slide9.xml" Id="Rfd593fed001a4ac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c0f1331b5542c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Hypnexis">
  <a:themeElements>
    <a:clrScheme name="Hypnexis">
      <a:dk1>
        <a:srgbClr val="040A20"/>
      </a:dk1>
      <a:lt1>
        <a:srgbClr val="FFFFFF"/>
      </a:lt1>
      <a:dk2>
        <a:srgbClr val="0B1A4A"/>
      </a:dk2>
      <a:lt2>
        <a:srgbClr val="CFE0FF"/>
      </a:lt2>
      <a:accent1>
        <a:srgbClr val="1E5BFF"/>
      </a:accent1>
      <a:accent2>
        <a:srgbClr val="4DA3FF"/>
      </a:accent2>
      <a:accent3>
        <a:srgbClr val="0A2A8F"/>
      </a:accent3>
      <a:accent4>
        <a:srgbClr val="9CC4FF"/>
      </a:accent4>
      <a:accent5>
        <a:srgbClr val="6C8CFF"/>
      </a:accent5>
      <a:accent6>
        <a:srgbClr val="00C2FF"/>
      </a:accent6>
      <a:hlink>
        <a:srgbClr val="4DA3FF"/>
      </a:hlink>
      <a:folHlink>
        <a:srgbClr val="9CC4FF"/>
      </a:folHlink>
    </a:clrScheme>
    <a:fontScheme name="Hypnexi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Hypnexi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83c7b60b055486c" /><Relationship Type="http://schemas.openxmlformats.org/officeDocument/2006/relationships/notesMaster" Target="/ppt/notesMasters/notesMaster1.xml" Id="R6c4292e0378e41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7a2deee6f6454e67" /><Relationship Type="http://schemas.openxmlformats.org/officeDocument/2006/relationships/notesMaster" Target="/ppt/notesMasters/notesMaster1.xml" Id="Rb040f72219824f2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b484178b5f4092" /><Relationship Type="http://schemas.openxmlformats.org/officeDocument/2006/relationships/notesMaster" Target="/ppt/notesMasters/notesMaster1.xml" Id="R6910ed68370e44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5f21a8333049a5" /><Relationship Type="http://schemas.openxmlformats.org/officeDocument/2006/relationships/notesMaster" Target="/ppt/notesMasters/notesMaster1.xml" Id="Rb8e93fd22a674d0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276f3582ab4f71" /><Relationship Type="http://schemas.openxmlformats.org/officeDocument/2006/relationships/notesMaster" Target="/ppt/notesMasters/notesMaster1.xml" Id="Rcdb8752c463a40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4511698975d3493d" /><Relationship Type="http://schemas.openxmlformats.org/officeDocument/2006/relationships/notesMaster" Target="/ppt/notesMasters/notesMaster1.xml" Id="Rab569985892d4d70" /></Relationships>
</file>

<file path=ppt/notesSlides/_rels/notesSlide7.xml.rels>&#65279;<?xml version="1.0" encoding="utf-8"?><Relationships xmlns="http://schemas.openxmlformats.org/package/2006/relationships"><Relationship Type="http://schemas.openxmlformats.org/officeDocument/2006/relationships/slide" Target="/ppt/slides/slide7.xml" Id="Rc3be60598fad4a04" /><Relationship Type="http://schemas.openxmlformats.org/officeDocument/2006/relationships/notesMaster" Target="/ppt/notesMasters/notesMaster1.xml" Id="Rb9940ca6ade949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9cf768242843d6" /><Relationship Type="http://schemas.openxmlformats.org/officeDocument/2006/relationships/notesMaster" Target="/ppt/notesMasters/notesMaster1.xml" Id="Ra823bcb20b2e4aec" /></Relationships>
</file>

<file path=ppt/notesSlides/_rels/notesSlide9.xml.rels>&#65279;<?xml version="1.0" encoding="utf-8"?><Relationships xmlns="http://schemas.openxmlformats.org/package/2006/relationships"><Relationship Type="http://schemas.openxmlformats.org/officeDocument/2006/relationships/slide" Target="/ppt/slides/slide9.xml" Id="Rcec4030ced4c424d" /><Relationship Type="http://schemas.openxmlformats.org/officeDocument/2006/relationships/notesMaster" Target="/ppt/notesMasters/notesMaster1.xml" Id="R4ea2e232eb3847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title is a concise description of the user-supplied Phase 2 extension. Team ID, official problem statement ID, and contact details were not included in the source 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(Phase 2 section); backend/app/document_store.py; backend/app/graph_engine.py; backend/tests/test_phase2_documents.py. The 7.7-second result is from an isolated local test database with 500 generated input documents. The graph total includes four seeded sample documents.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(Architecture Overview and Phase 2); backend/app/router_engine.py; backend/app/sql_engine.py; backend/app/database.py; backend/app/document_safety.py; backend/app/document_store.py; backend/app/graph_engine.py; backend/app/community_engine.py; backend/app/retrieval_engine.py; backend/app/validation_engine.py.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frontend/src/App.tsx; frontend/src/components/DataStudioView.tsx; frontend/src/components/EvidencePathReplayPanel.tsx. The user flow summarizes the current local application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(Quick Start and Phase 2); backend/app/main.py; backend/app/models.py; backend/app/document_store.py; backend/app/graph_engine.py. This deck describes the local prototype; operational constraints are identified as implementation 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result: 500 generated documents ingested in 7,675.74 ms in an isolated local test run; resulting graph size was 504 documents, 539 entities, and 40 relationships. The 504 document total includes four sample documents. Injection filtering was exercised with 21 planted instruction strings. No energy or carbon measurements were made. Source: backend/tests/test_phase2_documents.py and local benchmark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deployment and revenue model on this slide is a proposal for future pilots, not current revenue or a confirmed commercial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references are project source files; no external research claims were added. The benchmark is synthetic and should not be presented as a production-corpus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ID and contact information were not supplied and are marked accordingly.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909003c1cd1468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9f514d8b7b641c9" /><Relationship Type="http://schemas.openxmlformats.org/officeDocument/2006/relationships/image" Target="/ppt/media/image.png" Id="R182ed6032e6b46b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08f2c8fc48b4115" /><Relationship Type="http://schemas.openxmlformats.org/officeDocument/2006/relationships/image" Target="/ppt/media/image2.png" Id="R29a5da07fee64bf6" /><Relationship Type="http://schemas.openxmlformats.org/officeDocument/2006/relationships/image" Target="/ppt/media/image3.png" Id="Radc93f661490424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b450a48a2834d26" /><Relationship Type="http://schemas.openxmlformats.org/officeDocument/2006/relationships/image" Target="/ppt/media/image4.png" Id="R509ecc844cd04638" /><Relationship Type="http://schemas.openxmlformats.org/officeDocument/2006/relationships/image" Target="/ppt/media/image3.png" Id="Ra614313445af4b56"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HYPNEXIS_TITLE">
    <p:bg>
      <p:bgPr>
        <a:blipFill xmlns:a="http://schemas.openxmlformats.org/drawingml/2006/main" rotWithShape="1">
          <a:blip xmlns:r="http://schemas.openxmlformats.org/officeDocument/2006/relationships" r:embed="R182ed6032e6b46ba">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reserve="1">
  <p:cSld name="HYPNEXIS_CONTENT">
    <p:bg>
      <p:bgPr>
        <a:blipFill xmlns:a="http://schemas.openxmlformats.org/drawingml/2006/main" rotWithShape="1">
          <a:blip xmlns:r="http://schemas.openxmlformats.org/officeDocument/2006/relationships" r:embed="R29a5da07fee64bf6">
            <a:lum/>
          </a:blip>
          <a:srcRect l="0" t="0" r="0" b="0"/>
          <a:stretch>
            <a:fillRect l="0" t="0" r="0" b="0"/>
          </a:stretch>
        </a:blip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791916B4-1EDC-4744-B1C8-EE3353233638}"/>
              </a:ext>
            </a:extLst>
          </p:cNvPr>
          <p:cNvPicPr>
            <a:picLocks xmlns:a="http://schemas.openxmlformats.org/drawingml/2006/main" noChangeAspect="1"/>
          </p:cNvPicPr>
          <p:nvPr/>
        </p:nvPicPr>
        <p:blipFill>
          <a:blip xmlns:r="http://schemas.openxmlformats.org/officeDocument/2006/relationships" xmlns:a="http://schemas.openxmlformats.org/drawingml/2006/main" r:embed="Radc93f6614904241"/>
          <a:stretch xmlns:a="http://schemas.openxmlformats.org/drawingml/2006/main">
            <a:fillRect l="0" t="0" r="0" b="0"/>
          </a:stretch>
        </p:blipFill>
        <p:spPr>
          <a:xfrm xmlns:a="http://schemas.openxmlformats.org/drawingml/2006/main">
            <a:off x="457200" y="292608"/>
            <a:ext cx="1105163" cy="50292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93C7982D-3483-4FAA-A050-451DFF207BC2}"/>
              </a:ext>
            </a:extLst>
          </p:cNvPr>
          <p:cNvSpPr>
            <a:spLocks xmlns:a="http://schemas.openxmlformats.org/drawingml/2006/main" noGrp="1"/>
          </p:cNvSpPr>
          <p:nvPr/>
        </p:nvSpPr>
        <p:spPr>
          <a:xfrm xmlns:a="http://schemas.openxmlformats.org/drawingml/2006/main">
            <a:off x="2926080" y="365760"/>
            <a:ext cx="8778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spc="300">
                <a:solidFill>
                  <a:srgbClr val="9CC4FF"/>
                </a:solidFill>
                <a:latin typeface="Arial"/>
                <a:ea typeface="Arial"/>
                <a:cs typeface="Arial"/>
              </a:rPr>
              <a:t>36-HOUR HACKATHON  |  24–25 OCTOBER 2026  |  MANIPAL UNIVERSITY JAIPUR</a:t>
            </a:r>
            <a:endParaRPr sz="1100"/>
          </a:p>
        </p:txBody>
      </p:sp>
      <p:sp>
        <p:nvSpPr>
          <p:cNvPr id="4" name="Shape 1">
            <a:extLst xmlns:a="http://schemas.openxmlformats.org/drawingml/2006/main">
              <a:ext uri="{FF2B5EF4-FFF2-40B4-BE49-F238E27FC236}">
                <a16:creationId xmlns:a16="http://schemas.microsoft.com/office/drawing/2014/main" id="{1CD84AFF-29BA-4F49-B24B-61A567CBA20D}"/>
              </a:ext>
            </a:extLst>
          </p:cNvPr>
          <p:cNvSpPr>
            <a:spLocks xmlns:a="http://schemas.openxmlformats.org/drawingml/2006/main" noGrp="1"/>
          </p:cNvSpPr>
          <p:nvPr/>
        </p:nvSpPr>
        <p:spPr>
          <a:xfrm xmlns:a="http://schemas.openxmlformats.org/drawingml/2006/main">
            <a:off x="457200" y="6355080"/>
            <a:ext cx="11274552" cy="9144"/>
          </a:xfrm>
          <a:prstGeom xmlns:a="http://schemas.openxmlformats.org/drawingml/2006/main" prst="rect">
            <a:avLst/>
          </a:prstGeom>
          <a:solidFill xmlns:a="http://schemas.openxmlformats.org/drawingml/2006/main">
            <a:srgbClr val="1E5BFF">
              <a:alpha val="50000"/>
            </a:srgbClr>
          </a:solidFill>
        </p:spPr>
      </p:sp>
      <p:sp>
        <p:nvSpPr>
          <p:cNvPr id="5" name="Text 2">
            <a:extLst xmlns:a="http://schemas.openxmlformats.org/drawingml/2006/main">
              <a:ext uri="{FF2B5EF4-FFF2-40B4-BE49-F238E27FC236}">
                <a16:creationId xmlns:a16="http://schemas.microsoft.com/office/drawing/2014/main" id="{7E4BE5D0-489E-4CD5-974B-C8975701175A}"/>
              </a:ext>
            </a:extLst>
          </p:cNvPr>
          <p:cNvSpPr>
            <a:spLocks xmlns:a="http://schemas.openxmlformats.org/drawingml/2006/main" noGrp="1"/>
          </p:cNvSpPr>
          <p:nvPr/>
        </p:nvSpPr>
        <p:spPr>
          <a:xfrm xmlns:a="http://schemas.openxmlformats.org/drawingml/2006/main">
            <a:off x="457200" y="6428232"/>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9CC4FF"/>
                </a:solidFill>
                <a:latin typeface="Calibri"/>
                <a:ea typeface="Calibri"/>
                <a:cs typeface="Calibri"/>
              </a:rPr>
              <a:t>Department of Computer and Communications Engineering  •  Manipal University Jaipur</a:t>
            </a:r>
            <a:endParaRPr sz="1000"/>
          </a:p>
        </p:txBody>
      </p:sp>
      <p:sp>
        <p:nvSpPr>
          <p:cNvPr id="25" name="Slide Number Placeholder 0">
            <a:extLst xmlns:a="http://schemas.openxmlformats.org/drawingml/2006/main">
              <a:ext uri="{FF2B5EF4-FFF2-40B4-BE49-F238E27FC236}">
                <a16:creationId xmlns:a16="http://schemas.microsoft.com/office/drawing/2014/main" id="{51DB9800-8A78-4D8F-BEDE-4F8240E59459}"/>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a:t>
            </a:fld>
            <a:endParaRPr/>
          </a:p>
        </p:txBody>
      </p:sp>
    </p:spTree>
  </p:cSld>
</p:sldLayout>
</file>

<file path=ppt/slideLayouts/slideLayout4.xml><?xml version="1.0" encoding="utf-8"?>
<p:sldLayout xmlns:p="http://schemas.openxmlformats.org/presentationml/2006/main" preserve="1">
  <p:cSld name="HYPNEXIS_SECTION">
    <p:bg>
      <p:bgPr>
        <a:blipFill xmlns:a="http://schemas.openxmlformats.org/drawingml/2006/main" rotWithShape="1">
          <a:blip xmlns:r="http://schemas.openxmlformats.org/officeDocument/2006/relationships" r:embed="R509ecc844cd04638">
            <a:lum/>
          </a:blip>
          <a:srcRect l="0" t="0" r="0" b="0"/>
          <a:stretch>
            <a:fillRect l="0" t="0" r="0" b="0"/>
          </a:stretch>
        </a:blip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9D66ABCC-63F7-485E-9D4B-E0D863B7B4F6}"/>
              </a:ext>
            </a:extLst>
          </p:cNvPr>
          <p:cNvPicPr>
            <a:picLocks xmlns:a="http://schemas.openxmlformats.org/drawingml/2006/main" noChangeAspect="1"/>
          </p:cNvPicPr>
          <p:nvPr/>
        </p:nvPicPr>
        <p:blipFill>
          <a:blip xmlns:r="http://schemas.openxmlformats.org/officeDocument/2006/relationships" xmlns:a="http://schemas.openxmlformats.org/drawingml/2006/main" r:embed="Ra614313445af4b56"/>
          <a:stretch xmlns:a="http://schemas.openxmlformats.org/drawingml/2006/main">
            <a:fillRect l="0" t="0" r="0" b="0"/>
          </a:stretch>
        </p:blipFill>
        <p:spPr>
          <a:xfrm xmlns:a="http://schemas.openxmlformats.org/drawingml/2006/main">
            <a:off x="457200" y="292608"/>
            <a:ext cx="1005840" cy="457200"/>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e444b53e44a4768" /><Relationship Type="http://schemas.openxmlformats.org/officeDocument/2006/relationships/slideLayout" Target="/ppt/slideLayouts/slideLayout1.xml" Id="Rfb302096aef141f7" /><Relationship Type="http://schemas.openxmlformats.org/officeDocument/2006/relationships/slideLayout" Target="/ppt/slideLayouts/slideLayout2.xml" Id="R16009edb1e0b4edc" /><Relationship Type="http://schemas.openxmlformats.org/officeDocument/2006/relationships/slideLayout" Target="/ppt/slideLayouts/slideLayout3.xml" Id="R9b1e31971ec94509" /><Relationship Type="http://schemas.openxmlformats.org/officeDocument/2006/relationships/slideLayout" Target="/ppt/slideLayouts/slideLayout4.xml" Id="R29d4dca207f84ff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D0DBC955-8C1C-4A06-AE5B-250E81D1B601}"/>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302096aef141f7"/>
    <p:sldLayoutId xmlns:r="http://schemas.openxmlformats.org/officeDocument/2006/relationships" id="2147483650" r:id="R16009edb1e0b4edc"/>
    <p:sldLayoutId xmlns:r="http://schemas.openxmlformats.org/officeDocument/2006/relationships" id="2147483651" r:id="R9b1e31971ec94509"/>
    <p:sldLayoutId xmlns:r="http://schemas.openxmlformats.org/officeDocument/2006/relationships" id="2147483652" r:id="R29d4dca207f84ff4"/>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Hypnexis">
  <a:themeElements>
    <a:clrScheme name="Hypnexis">
      <a:dk1>
        <a:srgbClr val="040A20"/>
      </a:dk1>
      <a:lt1>
        <a:srgbClr val="FFFFFF"/>
      </a:lt1>
      <a:dk2>
        <a:srgbClr val="0B1A4A"/>
      </a:dk2>
      <a:lt2>
        <a:srgbClr val="CFE0FF"/>
      </a:lt2>
      <a:accent1>
        <a:srgbClr val="1E5BFF"/>
      </a:accent1>
      <a:accent2>
        <a:srgbClr val="4DA3FF"/>
      </a:accent2>
      <a:accent3>
        <a:srgbClr val="0A2A8F"/>
      </a:accent3>
      <a:accent4>
        <a:srgbClr val="9CC4FF"/>
      </a:accent4>
      <a:accent5>
        <a:srgbClr val="6C8CFF"/>
      </a:accent5>
      <a:accent6>
        <a:srgbClr val="00C2FF"/>
      </a:accent6>
      <a:hlink>
        <a:srgbClr val="4DA3FF"/>
      </a:hlink>
      <a:folHlink>
        <a:srgbClr val="9CC4FF"/>
      </a:folHlink>
    </a:clrScheme>
    <a:fontScheme name="Hypnexi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Hypnexi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91e8e66dffbf428b" /><Relationship Type="http://schemas.openxmlformats.org/officeDocument/2006/relationships/image" Target="/ppt/media/image3.png" Id="R6dfb9696c71943e5" /><Relationship Type="http://schemas.openxmlformats.org/officeDocument/2006/relationships/notesSlide" Target="/ppt/notesSlides/notesSlide1.xml" Id="Rda21c2b7e51e45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6c701eec0e5d4b26" /><Relationship Type="http://schemas.openxmlformats.org/officeDocument/2006/relationships/notesSlide" Target="/ppt/notesSlides/notesSlide2.xml" Id="R18f5b089649b4227"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fb69ea176b7b44ce" /><Relationship Type="http://schemas.openxmlformats.org/officeDocument/2006/relationships/notesSlide" Target="/ppt/notesSlides/notesSlide3.xml" Id="R60beb84bfc1348fc"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3400291c4d8742a4" /><Relationship Type="http://schemas.openxmlformats.org/officeDocument/2006/relationships/notesSlide" Target="/ppt/notesSlides/notesSlide4.xml" Id="Re48a91cc85ca4174"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a14b6d8fdba64b5e" /><Relationship Type="http://schemas.openxmlformats.org/officeDocument/2006/relationships/notesSlide" Target="/ppt/notesSlides/notesSlide5.xml" Id="Ra1a4272e43154f68"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c5454c7d68e34049" /><Relationship Type="http://schemas.openxmlformats.org/officeDocument/2006/relationships/notesSlide" Target="/ppt/notesSlides/notesSlide6.xml" Id="R5c7251ed64da4b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6db3f166b5ba4fb5" /><Relationship Type="http://schemas.openxmlformats.org/officeDocument/2006/relationships/notesSlide" Target="/ppt/notesSlides/notesSlide7.xml" Id="R70650ab9069449f4"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d689f859212c424e" /><Relationship Type="http://schemas.openxmlformats.org/officeDocument/2006/relationships/hyperlink" Target="https://data-trust-ai-26.vercel.app/" TargetMode="External" Id="Rd45bf6f0756d4769" /><Relationship Type="http://schemas.openxmlformats.org/officeDocument/2006/relationships/hyperlink" Target="https://vercel.com/kc100official-cmds-projects/data-trust-ai-26" TargetMode="External" Id="R2f913fa10af04901" /><Relationship Type="http://schemas.openxmlformats.org/officeDocument/2006/relationships/notesSlide" Target="/ppt/notesSlides/notesSlide8.xml" Id="R2033f30641df4d99"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d89bc194f08a4436" /><Relationship Type="http://schemas.openxmlformats.org/officeDocument/2006/relationships/image" Target="/ppt/media/image3.png" Id="Rf53cf636ba964adc" /><Relationship Type="http://schemas.openxmlformats.org/officeDocument/2006/relationships/notesSlide" Target="/ppt/notesSlides/notesSlide9.xml" Id="R44dfa817b852416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EB06D67-1A21-445D-9D7A-097CDE9B041D}"/>
              </a:ext>
            </a:extLst>
          </p:cNvPr>
          <p:cNvSpPr>
            <a:spLocks xmlns:a="http://schemas.openxmlformats.org/drawingml/2006/main" noGrp="1"/>
          </p:cNvSpPr>
          <p:nvPr/>
        </p:nvSpPr>
        <p:spPr>
          <a:xfrm xmlns:a="http://schemas.openxmlformats.org/drawingml/2006/main">
            <a:off x="548640" y="365760"/>
            <a:ext cx="6400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spc="400">
                <a:solidFill>
                  <a:srgbClr val="FFFFFF"/>
                </a:solidFill>
                <a:latin typeface="Arial"/>
                <a:ea typeface="Arial"/>
                <a:cs typeface="Arial"/>
              </a:rPr>
              <a:t>MANIPAL UNIVERSITY JAIPUR</a:t>
            </a:r>
            <a:endParaRPr sz="1400"/>
          </a:p>
        </p:txBody>
      </p:sp>
      <p:sp>
        <p:nvSpPr>
          <p:cNvPr id="3" name="Text 1">
            <a:extLst xmlns:a="http://schemas.openxmlformats.org/drawingml/2006/main">
              <a:ext uri="{FF2B5EF4-FFF2-40B4-BE49-F238E27FC236}">
                <a16:creationId xmlns:a16="http://schemas.microsoft.com/office/drawing/2014/main" id="{D4D26A88-170B-4C26-BD5D-DE5D6C44ABCF}"/>
              </a:ext>
            </a:extLst>
          </p:cNvPr>
          <p:cNvSpPr>
            <a:spLocks xmlns:a="http://schemas.openxmlformats.org/drawingml/2006/main" noGrp="1"/>
          </p:cNvSpPr>
          <p:nvPr/>
        </p:nvSpPr>
        <p:spPr>
          <a:xfrm xmlns:a="http://schemas.openxmlformats.org/drawingml/2006/main">
            <a:off x="548640" y="68580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9CC4FF"/>
                </a:solidFill>
                <a:latin typeface="Calibri"/>
                <a:ea typeface="Calibri"/>
                <a:cs typeface="Calibri"/>
              </a:rPr>
              <a:t>Department of Computer and Communications Engineering</a:t>
            </a:r>
            <a:endParaRPr sz="1200"/>
          </a:p>
        </p:txBody>
      </p:sp>
      <p:pic>
        <p:nvPicPr>
          <p:cNvPr id="4" name="Image 0">
            <a:extLst xmlns:a="http://schemas.openxmlformats.org/drawingml/2006/main">
              <a:ext uri="{FF2B5EF4-FFF2-40B4-BE49-F238E27FC236}">
                <a16:creationId xmlns:a16="http://schemas.microsoft.com/office/drawing/2014/main" id="{5CF9BA9B-3551-453B-B4FE-5BD3EFF63A56}"/>
              </a:ext>
            </a:extLst>
          </p:cNvPr>
          <p:cNvPicPr>
            <a:picLocks xmlns:a="http://schemas.openxmlformats.org/drawingml/2006/main" noChangeAspect="1"/>
          </p:cNvPicPr>
          <p:nvPr/>
        </p:nvPicPr>
        <p:blipFill>
          <a:blip xmlns:r="http://schemas.openxmlformats.org/officeDocument/2006/relationships" xmlns:a="http://schemas.openxmlformats.org/drawingml/2006/main" r:embed="R6dfb9696c71943e5"/>
          <a:stretch xmlns:a="http://schemas.openxmlformats.org/drawingml/2006/main">
            <a:fillRect l="0" t="0" r="0" b="0"/>
          </a:stretch>
        </p:blipFill>
        <p:spPr>
          <a:xfrm xmlns:a="http://schemas.openxmlformats.org/drawingml/2006/main">
            <a:off x="548640" y="1600200"/>
            <a:ext cx="5120640" cy="2330220"/>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AC732F80-81C3-4058-9903-F962FAF0752B}"/>
              </a:ext>
            </a:extLst>
          </p:cNvPr>
          <p:cNvSpPr>
            <a:spLocks xmlns:a="http://schemas.openxmlformats.org/drawingml/2006/main" noGrp="1"/>
          </p:cNvSpPr>
          <p:nvPr/>
        </p:nvSpPr>
        <p:spPr>
          <a:xfrm xmlns:a="http://schemas.openxmlformats.org/drawingml/2006/main">
            <a:off x="548640" y="4526280"/>
            <a:ext cx="6400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spc="300">
                <a:solidFill>
                  <a:srgbClr val="4DA3FF"/>
                </a:solidFill>
                <a:latin typeface="Arial"/>
                <a:ea typeface="Arial"/>
                <a:cs typeface="Arial"/>
              </a:rPr>
              <a:t>36-HOUR HACKATHON  •  24–25 OCTOBER 2026</a:t>
            </a:r>
            <a:endParaRPr sz="1400"/>
          </a:p>
        </p:txBody>
      </p:sp>
      <p:sp>
        <p:nvSpPr>
          <p:cNvPr id="6" name="Text 3">
            <a:extLst xmlns:a="http://schemas.openxmlformats.org/drawingml/2006/main">
              <a:ext uri="{FF2B5EF4-FFF2-40B4-BE49-F238E27FC236}">
                <a16:creationId xmlns:a16="http://schemas.microsoft.com/office/drawing/2014/main" id="{71644C5F-6F57-44BA-B2F0-7A74E654C387}"/>
              </a:ext>
            </a:extLst>
          </p:cNvPr>
          <p:cNvSpPr>
            <a:spLocks xmlns:a="http://schemas.openxmlformats.org/drawingml/2006/main" noGrp="1"/>
          </p:cNvSpPr>
          <p:nvPr/>
        </p:nvSpPr>
        <p:spPr>
          <a:xfrm xmlns:a="http://schemas.openxmlformats.org/drawingml/2006/main">
            <a:off x="548640" y="4892040"/>
            <a:ext cx="6400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spc="400">
                <a:solidFill>
                  <a:srgbClr val="FFFFFF"/>
                </a:solidFill>
                <a:latin typeface="Arial"/>
                <a:ea typeface="Arial"/>
                <a:cs typeface="Arial"/>
              </a:rPr>
              <a:t>BUILD / INNOVATE / CREATE</a:t>
            </a:r>
            <a:endParaRPr sz="1200"/>
          </a:p>
        </p:txBody>
      </p:sp>
      <p:sp>
        <p:nvSpPr>
          <p:cNvPr id="7" name="Team details card">
            <a:extLst xmlns:a="http://schemas.openxmlformats.org/drawingml/2006/main">
              <a:ext uri="{FF2B5EF4-FFF2-40B4-BE49-F238E27FC236}">
                <a16:creationId xmlns:a16="http://schemas.microsoft.com/office/drawing/2014/main" id="{804B443D-8478-4E8D-9C9B-296680864FA9}"/>
              </a:ext>
            </a:extLst>
          </p:cNvPr>
          <p:cNvSpPr>
            <a:spLocks xmlns:a="http://schemas.openxmlformats.org/drawingml/2006/main" noGrp="1"/>
          </p:cNvSpPr>
          <p:nvPr/>
        </p:nvSpPr>
        <p:spPr>
          <a:xfrm xmlns:a="http://schemas.openxmlformats.org/drawingml/2006/main">
            <a:off x="6949440" y="1371600"/>
            <a:ext cx="4754880" cy="4480560"/>
          </a:xfrm>
          <a:prstGeom xmlns:a="http://schemas.openxmlformats.org/drawingml/2006/main" prst="roundRect">
            <a:avLst>
              <a:gd name="adj" fmla="val 2449"/>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8" name="Text 5">
            <a:extLst xmlns:a="http://schemas.openxmlformats.org/drawingml/2006/main">
              <a:ext uri="{FF2B5EF4-FFF2-40B4-BE49-F238E27FC236}">
                <a16:creationId xmlns:a16="http://schemas.microsoft.com/office/drawing/2014/main" id="{8852F30D-068E-44F8-AD5F-9E1E64F28C74}"/>
              </a:ext>
            </a:extLst>
          </p:cNvPr>
          <p:cNvSpPr>
            <a:spLocks xmlns:a="http://schemas.openxmlformats.org/drawingml/2006/main" noGrp="1"/>
          </p:cNvSpPr>
          <p:nvPr/>
        </p:nvSpPr>
        <p:spPr>
          <a:xfrm xmlns:a="http://schemas.openxmlformats.org/drawingml/2006/main">
            <a:off x="7223760" y="1554480"/>
            <a:ext cx="4297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4DA3FF"/>
                </a:solidFill>
                <a:latin typeface="Arial"/>
                <a:ea typeface="Arial"/>
                <a:cs typeface="Arial"/>
              </a:rPr>
              <a:t>TEAM NAME</a:t>
            </a:r>
            <a:endParaRPr sz="1100"/>
          </a:p>
        </p:txBody>
      </p:sp>
      <p:sp>
        <p:nvSpPr>
          <p:cNvPr id="9" name="Text 6">
            <a:extLst xmlns:a="http://schemas.openxmlformats.org/drawingml/2006/main">
              <a:ext uri="{FF2B5EF4-FFF2-40B4-BE49-F238E27FC236}">
                <a16:creationId xmlns:a16="http://schemas.microsoft.com/office/drawing/2014/main" id="{84D6079E-40FF-4892-B878-704BA73014E5}"/>
              </a:ext>
            </a:extLst>
          </p:cNvPr>
          <p:cNvSpPr>
            <a:spLocks xmlns:a="http://schemas.openxmlformats.org/drawingml/2006/main" noGrp="1"/>
          </p:cNvSpPr>
          <p:nvPr/>
        </p:nvSpPr>
        <p:spPr>
          <a:xfrm xmlns:a="http://schemas.openxmlformats.org/drawingml/2006/main">
            <a:off x="7223760" y="1801368"/>
            <a:ext cx="4297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FFFFF"/>
                </a:solidFill>
                <a:latin typeface="Calibri"/>
                <a:ea typeface="Calibri"/>
                <a:cs typeface="Calibri"/>
              </a:rPr>
              <a:t>DataTrust AI</a:t>
            </a:r>
            <a:endParaRPr sz="1600"/>
          </a:p>
        </p:txBody>
      </p:sp>
      <p:sp>
        <p:nvSpPr>
          <p:cNvPr id="10" name="Text 7">
            <a:extLst xmlns:a="http://schemas.openxmlformats.org/drawingml/2006/main">
              <a:ext uri="{FF2B5EF4-FFF2-40B4-BE49-F238E27FC236}">
                <a16:creationId xmlns:a16="http://schemas.microsoft.com/office/drawing/2014/main" id="{B0C528E0-94DE-43F1-A7F9-61434F80B540}"/>
              </a:ext>
            </a:extLst>
          </p:cNvPr>
          <p:cNvSpPr>
            <a:spLocks xmlns:a="http://schemas.openxmlformats.org/drawingml/2006/main" noGrp="1"/>
          </p:cNvSpPr>
          <p:nvPr/>
        </p:nvSpPr>
        <p:spPr>
          <a:xfrm xmlns:a="http://schemas.openxmlformats.org/drawingml/2006/main">
            <a:off x="7223760" y="2249424"/>
            <a:ext cx="4297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4DA3FF"/>
                </a:solidFill>
                <a:latin typeface="Arial"/>
                <a:ea typeface="Arial"/>
                <a:cs typeface="Arial"/>
              </a:rPr>
              <a:t>TEAM ID</a:t>
            </a:r>
            <a:endParaRPr sz="1100"/>
          </a:p>
        </p:txBody>
      </p:sp>
      <p:sp>
        <p:nvSpPr>
          <p:cNvPr id="11" name="Text 8">
            <a:extLst xmlns:a="http://schemas.openxmlformats.org/drawingml/2006/main">
              <a:ext uri="{FF2B5EF4-FFF2-40B4-BE49-F238E27FC236}">
                <a16:creationId xmlns:a16="http://schemas.microsoft.com/office/drawing/2014/main" id="{72674527-C9B5-424A-AAC3-90163EAD80BA}"/>
              </a:ext>
            </a:extLst>
          </p:cNvPr>
          <p:cNvSpPr>
            <a:spLocks xmlns:a="http://schemas.openxmlformats.org/drawingml/2006/main" noGrp="1"/>
          </p:cNvSpPr>
          <p:nvPr/>
        </p:nvSpPr>
        <p:spPr>
          <a:xfrm xmlns:a="http://schemas.openxmlformats.org/drawingml/2006/main">
            <a:off x="7223760" y="2496312"/>
            <a:ext cx="4297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FFFFF"/>
                </a:solidFill>
                <a:latin typeface="Calibri"/>
                <a:ea typeface="Calibri"/>
                <a:cs typeface="Calibri"/>
              </a:rPr>
              <a:t>Not provided</a:t>
            </a:r>
            <a:endParaRPr sz="1600"/>
          </a:p>
        </p:txBody>
      </p:sp>
      <p:sp>
        <p:nvSpPr>
          <p:cNvPr id="12" name="Text 9">
            <a:extLst xmlns:a="http://schemas.openxmlformats.org/drawingml/2006/main">
              <a:ext uri="{FF2B5EF4-FFF2-40B4-BE49-F238E27FC236}">
                <a16:creationId xmlns:a16="http://schemas.microsoft.com/office/drawing/2014/main" id="{172169E3-1D03-486C-87E4-FBC7061B2FF3}"/>
              </a:ext>
            </a:extLst>
          </p:cNvPr>
          <p:cNvSpPr>
            <a:spLocks xmlns:a="http://schemas.openxmlformats.org/drawingml/2006/main" noGrp="1"/>
          </p:cNvSpPr>
          <p:nvPr/>
        </p:nvSpPr>
        <p:spPr>
          <a:xfrm xmlns:a="http://schemas.openxmlformats.org/drawingml/2006/main">
            <a:off x="7223760" y="2944368"/>
            <a:ext cx="4297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4DA3FF"/>
                </a:solidFill>
                <a:latin typeface="Arial"/>
                <a:ea typeface="Arial"/>
                <a:cs typeface="Arial"/>
              </a:rPr>
              <a:t>PROBLEM STATEMENT ID</a:t>
            </a:r>
            <a:endParaRPr sz="1100"/>
          </a:p>
        </p:txBody>
      </p:sp>
      <p:sp>
        <p:nvSpPr>
          <p:cNvPr id="13" name="Text 10">
            <a:extLst xmlns:a="http://schemas.openxmlformats.org/drawingml/2006/main">
              <a:ext uri="{FF2B5EF4-FFF2-40B4-BE49-F238E27FC236}">
                <a16:creationId xmlns:a16="http://schemas.microsoft.com/office/drawing/2014/main" id="{8C685641-14E8-4B47-AF80-C2C07BDFB7E0}"/>
              </a:ext>
            </a:extLst>
          </p:cNvPr>
          <p:cNvSpPr>
            <a:spLocks xmlns:a="http://schemas.openxmlformats.org/drawingml/2006/main" noGrp="1"/>
          </p:cNvSpPr>
          <p:nvPr/>
        </p:nvSpPr>
        <p:spPr>
          <a:xfrm xmlns:a="http://schemas.openxmlformats.org/drawingml/2006/main">
            <a:off x="7223760" y="3191256"/>
            <a:ext cx="4297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FFFFF"/>
                </a:solidFill>
                <a:latin typeface="Calibri"/>
                <a:ea typeface="Calibri"/>
                <a:cs typeface="Calibri"/>
              </a:rPr>
              <a:t>Not provided</a:t>
            </a:r>
            <a:endParaRPr sz="1600"/>
          </a:p>
        </p:txBody>
      </p:sp>
      <p:sp>
        <p:nvSpPr>
          <p:cNvPr id="14" name="Text 11">
            <a:extLst xmlns:a="http://schemas.openxmlformats.org/drawingml/2006/main">
              <a:ext uri="{FF2B5EF4-FFF2-40B4-BE49-F238E27FC236}">
                <a16:creationId xmlns:a16="http://schemas.microsoft.com/office/drawing/2014/main" id="{F084796D-E9F4-485E-A32A-ACD399788F25}"/>
              </a:ext>
            </a:extLst>
          </p:cNvPr>
          <p:cNvSpPr>
            <a:spLocks xmlns:a="http://schemas.openxmlformats.org/drawingml/2006/main" noGrp="1"/>
          </p:cNvSpPr>
          <p:nvPr/>
        </p:nvSpPr>
        <p:spPr>
          <a:xfrm xmlns:a="http://schemas.openxmlformats.org/drawingml/2006/main">
            <a:off x="7223760" y="3639312"/>
            <a:ext cx="4297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4DA3FF"/>
                </a:solidFill>
                <a:latin typeface="Arial"/>
                <a:ea typeface="Arial"/>
                <a:cs typeface="Arial"/>
              </a:rPr>
              <a:t>PROBLEM STATEMENT TITLE</a:t>
            </a:r>
            <a:endParaRPr sz="1100"/>
          </a:p>
        </p:txBody>
      </p:sp>
      <p:sp>
        <p:nvSpPr>
          <p:cNvPr id="15" name="Text 12">
            <a:extLst xmlns:a="http://schemas.openxmlformats.org/drawingml/2006/main">
              <a:ext uri="{FF2B5EF4-FFF2-40B4-BE49-F238E27FC236}">
                <a16:creationId xmlns:a16="http://schemas.microsoft.com/office/drawing/2014/main" id="{9234747F-79CA-49B9-B74F-DF8991F3A063}"/>
              </a:ext>
            </a:extLst>
          </p:cNvPr>
          <p:cNvSpPr>
            <a:spLocks xmlns:a="http://schemas.openxmlformats.org/drawingml/2006/main" noGrp="1"/>
          </p:cNvSpPr>
          <p:nvPr/>
        </p:nvSpPr>
        <p:spPr>
          <a:xfrm xmlns:a="http://schemas.openxmlformats.org/drawingml/2006/main">
            <a:off x="7223760" y="3886200"/>
            <a:ext cx="4297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FFFFF"/>
                </a:solidFill>
                <a:latin typeface="Calibri"/>
                <a:ea typeface="Calibri"/>
                <a:cs typeface="Calibri"/>
              </a:rPr>
              <a:t>Trustworthy Knowledge Base</a:t>
            </a:r>
            <a:endParaRPr sz="1600"/>
          </a:p>
        </p:txBody>
      </p:sp>
      <p:sp>
        <p:nvSpPr>
          <p:cNvPr id="16" name="Text 13">
            <a:extLst xmlns:a="http://schemas.openxmlformats.org/drawingml/2006/main">
              <a:ext uri="{FF2B5EF4-FFF2-40B4-BE49-F238E27FC236}">
                <a16:creationId xmlns:a16="http://schemas.microsoft.com/office/drawing/2014/main" id="{8CA84D9E-40BB-46D4-986A-98F0BC5CDFD6}"/>
              </a:ext>
            </a:extLst>
          </p:cNvPr>
          <p:cNvSpPr>
            <a:spLocks xmlns:a="http://schemas.openxmlformats.org/drawingml/2006/main" noGrp="1"/>
          </p:cNvSpPr>
          <p:nvPr/>
        </p:nvSpPr>
        <p:spPr>
          <a:xfrm xmlns:a="http://schemas.openxmlformats.org/drawingml/2006/main">
            <a:off x="7223760" y="4334256"/>
            <a:ext cx="4297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4DA3FF"/>
                </a:solidFill>
                <a:latin typeface="Arial"/>
                <a:ea typeface="Arial"/>
                <a:cs typeface="Arial"/>
              </a:rPr>
              <a:t>THEME / DOMAIN</a:t>
            </a:r>
            <a:endParaRPr sz="1100"/>
          </a:p>
        </p:txBody>
      </p:sp>
      <p:sp>
        <p:nvSpPr>
          <p:cNvPr id="17" name="Text 14">
            <a:extLst xmlns:a="http://schemas.openxmlformats.org/drawingml/2006/main">
              <a:ext uri="{FF2B5EF4-FFF2-40B4-BE49-F238E27FC236}">
                <a16:creationId xmlns:a16="http://schemas.microsoft.com/office/drawing/2014/main" id="{1F52FE81-9616-40C5-A9CC-B7ACCAA46CA3}"/>
              </a:ext>
            </a:extLst>
          </p:cNvPr>
          <p:cNvSpPr>
            <a:spLocks xmlns:a="http://schemas.openxmlformats.org/drawingml/2006/main" noGrp="1"/>
          </p:cNvSpPr>
          <p:nvPr/>
        </p:nvSpPr>
        <p:spPr>
          <a:xfrm xmlns:a="http://schemas.openxmlformats.org/drawingml/2006/main">
            <a:off x="7223760" y="4581144"/>
            <a:ext cx="4297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FFFFF"/>
                </a:solidFill>
                <a:latin typeface="Calibri"/>
                <a:ea typeface="Calibri"/>
                <a:cs typeface="Calibri"/>
              </a:rPr>
              <a:t>AI &amp; Data Engineering</a:t>
            </a:r>
            <a:endParaRPr sz="1600"/>
          </a:p>
        </p:txBody>
      </p:sp>
      <p:sp>
        <p:nvSpPr>
          <p:cNvPr id="18" name="Text 15">
            <a:extLst xmlns:a="http://schemas.openxmlformats.org/drawingml/2006/main">
              <a:ext uri="{FF2B5EF4-FFF2-40B4-BE49-F238E27FC236}">
                <a16:creationId xmlns:a16="http://schemas.microsoft.com/office/drawing/2014/main" id="{20253905-8201-408E-9CFA-E53A47C3FCDD}"/>
              </a:ext>
            </a:extLst>
          </p:cNvPr>
          <p:cNvSpPr>
            <a:spLocks xmlns:a="http://schemas.openxmlformats.org/drawingml/2006/main" noGrp="1"/>
          </p:cNvSpPr>
          <p:nvPr/>
        </p:nvSpPr>
        <p:spPr>
          <a:xfrm xmlns:a="http://schemas.openxmlformats.org/drawingml/2006/main">
            <a:off x="7223760" y="5029200"/>
            <a:ext cx="4297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4DA3FF"/>
                </a:solidFill>
                <a:latin typeface="Arial"/>
                <a:ea typeface="Arial"/>
                <a:cs typeface="Arial"/>
              </a:rPr>
              <a:t>CATEGORY</a:t>
            </a:r>
            <a:endParaRPr sz="1100"/>
          </a:p>
        </p:txBody>
      </p:sp>
      <p:sp>
        <p:nvSpPr>
          <p:cNvPr id="19" name="Text 16">
            <a:extLst xmlns:a="http://schemas.openxmlformats.org/drawingml/2006/main">
              <a:ext uri="{FF2B5EF4-FFF2-40B4-BE49-F238E27FC236}">
                <a16:creationId xmlns:a16="http://schemas.microsoft.com/office/drawing/2014/main" id="{BAC84DB8-D7FD-457F-9C78-2E0F780FB5CC}"/>
              </a:ext>
            </a:extLst>
          </p:cNvPr>
          <p:cNvSpPr>
            <a:spLocks xmlns:a="http://schemas.openxmlformats.org/drawingml/2006/main" noGrp="1"/>
          </p:cNvSpPr>
          <p:nvPr/>
        </p:nvSpPr>
        <p:spPr>
          <a:xfrm xmlns:a="http://schemas.openxmlformats.org/drawingml/2006/main">
            <a:off x="7223760" y="5276088"/>
            <a:ext cx="4297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FFFFF"/>
                </a:solidFill>
                <a:latin typeface="Calibri"/>
                <a:ea typeface="Calibri"/>
                <a:cs typeface="Calibri"/>
              </a:rPr>
              <a:t>Software</a:t>
            </a:r>
            <a:endParaRPr sz="1600"/>
          </a:p>
        </p:txBody>
      </p:sp>
      <p:sp>
        <p:nvSpPr>
          <p:cNvPr id="20" name="Text 17">
            <a:extLst xmlns:a="http://schemas.openxmlformats.org/drawingml/2006/main">
              <a:ext uri="{FF2B5EF4-FFF2-40B4-BE49-F238E27FC236}">
                <a16:creationId xmlns:a16="http://schemas.microsoft.com/office/drawing/2014/main" id="{F8DEB9C2-BD8F-438F-B9AB-D090C7BF9863}"/>
              </a:ext>
            </a:extLst>
          </p:cNvPr>
          <p:cNvSpPr>
            <a:spLocks xmlns:a="http://schemas.openxmlformats.org/drawingml/2006/main" noGrp="1"/>
          </p:cNvSpPr>
          <p:nvPr/>
        </p:nvSpPr>
        <p:spPr>
          <a:xfrm xmlns:a="http://schemas.openxmlformats.org/drawingml/2006/main">
            <a:off x="548640" y="6355080"/>
            <a:ext cx="11064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9CC4FF"/>
                </a:solidFill>
                <a:latin typeface="Calibri"/>
                <a:ea typeface="Calibri"/>
                <a:cs typeface="Calibri"/>
              </a:rPr>
              <a:t>hypnexismuj.com   |   @hypnexis.muj   |   hypnexis2026@muj.manipal.edu</a:t>
            </a:r>
            <a:endParaRPr sz="1100"/>
          </a:p>
        </p:txBody>
      </p:sp>
    </p:spTree>
    <p:extLst>
      <p:ext uri="{BB962C8B-B14F-4D97-AF65-F5344CB8AC3E}">
        <p14:creationId xmlns:p14="http://schemas.microsoft.com/office/powerpoint/2010/main" val="146482305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DB928BE-0B02-4F1D-82C9-C314CA855DF4}"/>
              </a:ext>
            </a:extLst>
          </p:cNvPr>
          <p:cNvSpPr>
            <a:spLocks xmlns:a="http://schemas.openxmlformats.org/drawingml/2006/main" noGrp="1"/>
          </p:cNvSpPr>
          <p:nvPr/>
        </p:nvSpPr>
        <p:spPr>
          <a:xfrm xmlns:a="http://schemas.openxmlformats.org/drawingml/2006/main">
            <a:off x="457200" y="960120"/>
            <a:ext cx="1127455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600" b="1" spc="200">
                <a:solidFill>
                  <a:srgbClr val="FFFFFF"/>
                </a:solidFill>
                <a:latin typeface="Arial"/>
                <a:ea typeface="Arial"/>
                <a:cs typeface="Arial"/>
              </a:rPr>
              <a:t>DATATRUST AI</a:t>
            </a:r>
            <a:endParaRPr sz="3600"/>
          </a:p>
        </p:txBody>
      </p:sp>
      <p:sp>
        <p:nvSpPr>
          <p:cNvPr id="3" name="Team tag">
            <a:extLst xmlns:a="http://schemas.openxmlformats.org/drawingml/2006/main">
              <a:ext uri="{FF2B5EF4-FFF2-40B4-BE49-F238E27FC236}">
                <a16:creationId xmlns:a16="http://schemas.microsoft.com/office/drawing/2014/main" id="{3A0094AC-1A8F-4DDC-8C19-1ED642196279}"/>
              </a:ext>
            </a:extLst>
          </p:cNvPr>
          <p:cNvSpPr>
            <a:spLocks xmlns:a="http://schemas.openxmlformats.org/drawingml/2006/main" noGrp="1"/>
          </p:cNvSpPr>
          <p:nvPr/>
        </p:nvSpPr>
        <p:spPr>
          <a:xfrm xmlns:a="http://schemas.openxmlformats.org/drawingml/2006/main">
            <a:off x="8503920" y="1097280"/>
            <a:ext cx="322783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9CC4FF"/>
                </a:solidFill>
                <a:latin typeface="Calibri"/>
                <a:ea typeface="Calibri"/>
                <a:cs typeface="Calibri"/>
              </a:rPr>
              <a:t>DataTrust AI  |  Team ID pending</a:t>
            </a:r>
            <a:endParaRPr sz="1200"/>
          </a:p>
        </p:txBody>
      </p:sp>
      <p:sp>
        <p:nvSpPr>
          <p:cNvPr id="4" name="Problem card">
            <a:extLst xmlns:a="http://schemas.openxmlformats.org/drawingml/2006/main">
              <a:ext uri="{FF2B5EF4-FFF2-40B4-BE49-F238E27FC236}">
                <a16:creationId xmlns:a16="http://schemas.microsoft.com/office/drawing/2014/main" id="{E6FD2254-DAEE-4243-822B-B39DC44ED9A1}"/>
              </a:ext>
            </a:extLst>
          </p:cNvPr>
          <p:cNvSpPr>
            <a:spLocks xmlns:a="http://schemas.openxmlformats.org/drawingml/2006/main" noGrp="1"/>
          </p:cNvSpPr>
          <p:nvPr/>
        </p:nvSpPr>
        <p:spPr>
          <a:xfrm xmlns:a="http://schemas.openxmlformats.org/drawingml/2006/main">
            <a:off x="457200" y="1691640"/>
            <a:ext cx="5486400" cy="4434840"/>
          </a:xfrm>
          <a:prstGeom xmlns:a="http://schemas.openxmlformats.org/drawingml/2006/main" prst="roundRect">
            <a:avLst>
              <a:gd name="adj" fmla="val 2474"/>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5" name="Problem head">
            <a:extLst xmlns:a="http://schemas.openxmlformats.org/drawingml/2006/main">
              <a:ext uri="{FF2B5EF4-FFF2-40B4-BE49-F238E27FC236}">
                <a16:creationId xmlns:a16="http://schemas.microsoft.com/office/drawing/2014/main" id="{690D0E3F-A0A1-4604-BBEE-A33BA98168A0}"/>
              </a:ext>
            </a:extLst>
          </p:cNvPr>
          <p:cNvSpPr>
            <a:spLocks xmlns:a="http://schemas.openxmlformats.org/drawingml/2006/main" noGrp="1"/>
          </p:cNvSpPr>
          <p:nvPr/>
        </p:nvSpPr>
        <p:spPr>
          <a:xfrm xmlns:a="http://schemas.openxmlformats.org/drawingml/2006/main">
            <a:off x="731520" y="1874520"/>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PROBLEM STATEMENT</a:t>
            </a:r>
            <a:endParaRPr sz="1500"/>
          </a:p>
        </p:txBody>
      </p:sp>
      <p:sp>
        <p:nvSpPr>
          <p:cNvPr id="6" name="Problem body">
            <a:extLst xmlns:a="http://schemas.openxmlformats.org/drawingml/2006/main">
              <a:ext uri="{FF2B5EF4-FFF2-40B4-BE49-F238E27FC236}">
                <a16:creationId xmlns:a16="http://schemas.microsoft.com/office/drawing/2014/main" id="{44491090-5A3B-4EFB-873A-976C629AE6E4}"/>
              </a:ext>
            </a:extLst>
          </p:cNvPr>
          <p:cNvSpPr>
            <a:spLocks xmlns:a="http://schemas.openxmlformats.org/drawingml/2006/main" noGrp="1"/>
          </p:cNvSpPr>
          <p:nvPr/>
        </p:nvSpPr>
        <p:spPr>
          <a:xfrm xmlns:a="http://schemas.openxmlformats.org/drawingml/2006/main">
            <a:off x="731520" y="228600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lgn="l">
              <a:defRPr sz="1400">
                <a:solidFill>
                  <a:srgbClr val="FFFFFF"/>
                </a:solidFill>
                <a:latin typeface="Calibri"/>
                <a:ea typeface="Calibri"/>
                <a:cs typeface="Calibri"/>
              </a:defRPr>
            </a:defPPr>
            <a:lvl1pPr algn="l">
              <a:buNone/>
              <a:defRPr sz="1400">
                <a:solidFill>
                  <a:srgbClr val="FFFFFF"/>
                </a:solidFill>
                <a:latin typeface="Calibri"/>
                <a:ea typeface="Calibri"/>
                <a:cs typeface="Calibri"/>
              </a:defRPr>
            </a:lvl1pPr>
            <a:lvl2pPr algn="l">
              <a:buNone/>
              <a:defRPr sz="1400">
                <a:solidFill>
                  <a:srgbClr val="FFFFFF"/>
                </a:solidFill>
                <a:latin typeface="Calibri"/>
                <a:ea typeface="Calibri"/>
                <a:cs typeface="Calibri"/>
              </a:defRPr>
            </a:lvl2pPr>
            <a:lvl3pPr algn="l">
              <a:buNone/>
              <a:defRPr sz="1400">
                <a:solidFill>
                  <a:srgbClr val="FFFFFF"/>
                </a:solidFill>
                <a:latin typeface="Calibri"/>
                <a:ea typeface="Calibri"/>
                <a:cs typeface="Calibri"/>
              </a:defRPr>
            </a:lvl3pPr>
            <a:lvl4pPr algn="l">
              <a:buNone/>
              <a:defRPr sz="1400">
                <a:solidFill>
                  <a:srgbClr val="FFFFFF"/>
                </a:solidFill>
                <a:latin typeface="Calibri"/>
                <a:ea typeface="Calibri"/>
                <a:cs typeface="Calibri"/>
              </a:defRPr>
            </a:lvl4pPr>
            <a:lvl5pPr algn="l">
              <a:buNone/>
              <a:defRPr sz="1400">
                <a:solidFill>
                  <a:srgbClr val="FFFFFF"/>
                </a:solidFill>
                <a:latin typeface="Calibri"/>
                <a:ea typeface="Calibri"/>
                <a:cs typeface="Calibri"/>
              </a:defRPr>
            </a:lvl5pPr>
            <a:lvl6pPr algn="l">
              <a:buNone/>
              <a:defRPr sz="1400">
                <a:solidFill>
                  <a:srgbClr val="FFFFFF"/>
                </a:solidFill>
                <a:latin typeface="Calibri"/>
                <a:ea typeface="Calibri"/>
                <a:cs typeface="Calibri"/>
              </a:defRPr>
            </a:lvl6pPr>
            <a:lvl7pPr algn="l">
              <a:buNone/>
              <a:defRPr sz="1400">
                <a:solidFill>
                  <a:srgbClr val="FFFFFF"/>
                </a:solidFill>
                <a:latin typeface="Calibri"/>
                <a:ea typeface="Calibri"/>
                <a:cs typeface="Calibri"/>
              </a:defRPr>
            </a:lvl7pPr>
            <a:lvl8pPr algn="l">
              <a:buNone/>
              <a:defRPr sz="1400">
                <a:solidFill>
                  <a:srgbClr val="FFFFFF"/>
                </a:solidFill>
                <a:latin typeface="Calibri"/>
                <a:ea typeface="Calibri"/>
                <a:cs typeface="Calibri"/>
              </a:defRPr>
            </a:lvl8pPr>
            <a:lvl9pPr algn="l">
              <a:buNone/>
              <a:defRPr sz="1400">
                <a:solidFill>
                  <a:srgbClr val="FFFFFF"/>
                </a:solidFill>
                <a:latin typeface="Calibri"/>
                <a:ea typeface="Calibri"/>
                <a:cs typeface="Calibri"/>
              </a:defRPr>
            </a:lvl9pPr>
          </a:lstStyle>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Edits can leave stale terms, claims, or graph links.</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One source must not erase a conflicting claim from another.</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Embedded instructions can try to steer retrieval.</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Hindi questions can miss relevant English records.</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Example: ERP lists Helios ACTIVE; DOC-2026-04 says SUSPENDED.</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Without source paths, reviewers cannot verify an answer.</a:t>
            </a:r>
          </a:p>
        </p:txBody>
      </p:sp>
      <p:sp>
        <p:nvSpPr>
          <p:cNvPr id="7" name="Solution card">
            <a:extLst xmlns:a="http://schemas.openxmlformats.org/drawingml/2006/main">
              <a:ext uri="{FF2B5EF4-FFF2-40B4-BE49-F238E27FC236}">
                <a16:creationId xmlns:a16="http://schemas.microsoft.com/office/drawing/2014/main" id="{B9179F29-2F02-45DA-9D09-CB735845190B}"/>
              </a:ext>
            </a:extLst>
          </p:cNvPr>
          <p:cNvSpPr>
            <a:spLocks xmlns:a="http://schemas.openxmlformats.org/drawingml/2006/main" noGrp="1"/>
          </p:cNvSpPr>
          <p:nvPr/>
        </p:nvSpPr>
        <p:spPr>
          <a:xfrm xmlns:a="http://schemas.openxmlformats.org/drawingml/2006/main">
            <a:off x="6245352" y="1691640"/>
            <a:ext cx="5486400" cy="2743200"/>
          </a:xfrm>
          <a:prstGeom xmlns:a="http://schemas.openxmlformats.org/drawingml/2006/main" prst="roundRect">
            <a:avLst>
              <a:gd name="adj" fmla="val 4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8" name="Solution head">
            <a:extLst xmlns:a="http://schemas.openxmlformats.org/drawingml/2006/main">
              <a:ext uri="{FF2B5EF4-FFF2-40B4-BE49-F238E27FC236}">
                <a16:creationId xmlns:a16="http://schemas.microsoft.com/office/drawing/2014/main" id="{85A324C7-CF03-4039-99A6-64D81ABCF7BB}"/>
              </a:ext>
            </a:extLst>
          </p:cNvPr>
          <p:cNvSpPr>
            <a:spLocks xmlns:a="http://schemas.openxmlformats.org/drawingml/2006/main" noGrp="1"/>
          </p:cNvSpPr>
          <p:nvPr/>
        </p:nvSpPr>
        <p:spPr>
          <a:xfrm xmlns:a="http://schemas.openxmlformats.org/drawingml/2006/main">
            <a:off x="6519672" y="1874520"/>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OUR SOLUTION</a:t>
            </a:r>
            <a:endParaRPr sz="1500"/>
          </a:p>
        </p:txBody>
      </p:sp>
      <p:sp>
        <p:nvSpPr>
          <p:cNvPr id="9" name="Solution body">
            <a:extLst xmlns:a="http://schemas.openxmlformats.org/drawingml/2006/main">
              <a:ext uri="{FF2B5EF4-FFF2-40B4-BE49-F238E27FC236}">
                <a16:creationId xmlns:a16="http://schemas.microsoft.com/office/drawing/2014/main" id="{00938271-0837-458B-85A2-4B8B1B012934}"/>
              </a:ext>
            </a:extLst>
          </p:cNvPr>
          <p:cNvSpPr>
            <a:spLocks xmlns:a="http://schemas.openxmlformats.org/drawingml/2006/main" noGrp="1"/>
          </p:cNvSpPr>
          <p:nvPr/>
        </p:nvSpPr>
        <p:spPr>
          <a:xfrm xmlns:a="http://schemas.openxmlformats.org/drawingml/2006/main">
            <a:off x="6519672" y="2286000"/>
            <a:ext cx="493776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lgn="l">
              <a:defRPr sz="1400">
                <a:solidFill>
                  <a:srgbClr val="FFFFFF"/>
                </a:solidFill>
                <a:latin typeface="Calibri"/>
                <a:ea typeface="Calibri"/>
                <a:cs typeface="Calibri"/>
              </a:defRPr>
            </a:defPPr>
            <a:lvl1pPr algn="l">
              <a:buNone/>
              <a:defRPr sz="1400">
                <a:solidFill>
                  <a:srgbClr val="FFFFFF"/>
                </a:solidFill>
                <a:latin typeface="Calibri"/>
                <a:ea typeface="Calibri"/>
                <a:cs typeface="Calibri"/>
              </a:defRPr>
            </a:lvl1pPr>
            <a:lvl2pPr algn="l">
              <a:buNone/>
              <a:defRPr sz="1400">
                <a:solidFill>
                  <a:srgbClr val="FFFFFF"/>
                </a:solidFill>
                <a:latin typeface="Calibri"/>
                <a:ea typeface="Calibri"/>
                <a:cs typeface="Calibri"/>
              </a:defRPr>
            </a:lvl2pPr>
            <a:lvl3pPr algn="l">
              <a:buNone/>
              <a:defRPr sz="1400">
                <a:solidFill>
                  <a:srgbClr val="FFFFFF"/>
                </a:solidFill>
                <a:latin typeface="Calibri"/>
                <a:ea typeface="Calibri"/>
                <a:cs typeface="Calibri"/>
              </a:defRPr>
            </a:lvl3pPr>
            <a:lvl4pPr algn="l">
              <a:buNone/>
              <a:defRPr sz="1400">
                <a:solidFill>
                  <a:srgbClr val="FFFFFF"/>
                </a:solidFill>
                <a:latin typeface="Calibri"/>
                <a:ea typeface="Calibri"/>
                <a:cs typeface="Calibri"/>
              </a:defRPr>
            </a:lvl4pPr>
            <a:lvl5pPr algn="l">
              <a:buNone/>
              <a:defRPr sz="1400">
                <a:solidFill>
                  <a:srgbClr val="FFFFFF"/>
                </a:solidFill>
                <a:latin typeface="Calibri"/>
                <a:ea typeface="Calibri"/>
                <a:cs typeface="Calibri"/>
              </a:defRPr>
            </a:lvl5pPr>
            <a:lvl6pPr algn="l">
              <a:buNone/>
              <a:defRPr sz="1400">
                <a:solidFill>
                  <a:srgbClr val="FFFFFF"/>
                </a:solidFill>
                <a:latin typeface="Calibri"/>
                <a:ea typeface="Calibri"/>
                <a:cs typeface="Calibri"/>
              </a:defRPr>
            </a:lvl6pPr>
            <a:lvl7pPr algn="l">
              <a:buNone/>
              <a:defRPr sz="1400">
                <a:solidFill>
                  <a:srgbClr val="FFFFFF"/>
                </a:solidFill>
                <a:latin typeface="Calibri"/>
                <a:ea typeface="Calibri"/>
                <a:cs typeface="Calibri"/>
              </a:defRPr>
            </a:lvl7pPr>
            <a:lvl8pPr algn="l">
              <a:buNone/>
              <a:defRPr sz="1400">
                <a:solidFill>
                  <a:srgbClr val="FFFFFF"/>
                </a:solidFill>
                <a:latin typeface="Calibri"/>
                <a:ea typeface="Calibri"/>
                <a:cs typeface="Calibri"/>
              </a:defRPr>
            </a:lvl8pPr>
            <a:lvl9pPr algn="l">
              <a:buNone/>
              <a:defRPr sz="1400">
                <a:solidFill>
                  <a:srgbClr val="FFFFFF"/>
                </a:solidFill>
                <a:latin typeface="Calibri"/>
                <a:ea typeface="Calibri"/>
                <a:cs typeface="Calibri"/>
              </a:defRPr>
            </a:lvl9pPr>
          </a:lstStyle>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Add, edit, and delete one document without a corpus rebuild.</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Keep conflicting claims and their source records visible.</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Filter instruction-bearing text before indexing.</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Answer Hindi questions over English documents.</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Return source excerpts and a supporting graph path.</a:t>
            </a:r>
          </a:p>
        </p:txBody>
      </p:sp>
      <p:sp>
        <p:nvSpPr>
          <p:cNvPr id="10" name="Visual card">
            <a:extLst xmlns:a="http://schemas.openxmlformats.org/drawingml/2006/main">
              <a:ext uri="{FF2B5EF4-FFF2-40B4-BE49-F238E27FC236}">
                <a16:creationId xmlns:a16="http://schemas.microsoft.com/office/drawing/2014/main" id="{79769746-62D1-4116-A972-F8266C7C3B55}"/>
              </a:ext>
            </a:extLst>
          </p:cNvPr>
          <p:cNvSpPr>
            <a:spLocks xmlns:a="http://schemas.openxmlformats.org/drawingml/2006/main" noGrp="1"/>
          </p:cNvSpPr>
          <p:nvPr/>
        </p:nvSpPr>
        <p:spPr>
          <a:xfrm xmlns:a="http://schemas.openxmlformats.org/drawingml/2006/main">
            <a:off x="6245352" y="4617720"/>
            <a:ext cx="5486400" cy="1508760"/>
          </a:xfrm>
          <a:prstGeom xmlns:a="http://schemas.openxmlformats.org/drawingml/2006/main" prst="roundRect">
            <a:avLst>
              <a:gd name="adj" fmla="val 7273"/>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11" name="Image placeholder text">
            <a:extLst xmlns:a="http://schemas.openxmlformats.org/drawingml/2006/main">
              <a:ext uri="{FF2B5EF4-FFF2-40B4-BE49-F238E27FC236}">
                <a16:creationId xmlns:a16="http://schemas.microsoft.com/office/drawing/2014/main" id="{E7EF1465-EAAB-4A16-A020-85708C678F04}"/>
              </a:ext>
            </a:extLst>
          </p:cNvPr>
          <p:cNvSpPr>
            <a:spLocks xmlns:a="http://schemas.openxmlformats.org/drawingml/2006/main" noGrp="1"/>
          </p:cNvSpPr>
          <p:nvPr/>
        </p:nvSpPr>
        <p:spPr>
          <a:xfrm xmlns:a="http://schemas.openxmlformats.org/drawingml/2006/main">
            <a:off x="6245352" y="4617720"/>
            <a:ext cx="5486400" cy="1508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defPPr algn="ctr">
              <a:defRPr sz="1500" b="1" i="0">
                <a:solidFill>
                  <a:srgbClr val="FFFFFF"/>
                </a:solidFill>
                <a:latin typeface="Arial"/>
                <a:ea typeface="Arial"/>
                <a:cs typeface="Arial"/>
              </a:defRPr>
            </a:defPPr>
            <a:lvl1pPr algn="ctr">
              <a:buNone/>
              <a:defRPr sz="1500" b="1" i="0">
                <a:solidFill>
                  <a:srgbClr val="FFFFFF"/>
                </a:solidFill>
                <a:latin typeface="Arial"/>
                <a:ea typeface="Arial"/>
                <a:cs typeface="Arial"/>
              </a:defRPr>
            </a:lvl1pPr>
            <a:lvl2pPr algn="ctr">
              <a:buNone/>
              <a:defRPr sz="1500" b="1" i="0">
                <a:solidFill>
                  <a:srgbClr val="FFFFFF"/>
                </a:solidFill>
                <a:latin typeface="Arial"/>
                <a:ea typeface="Arial"/>
                <a:cs typeface="Arial"/>
              </a:defRPr>
            </a:lvl2pPr>
            <a:lvl3pPr algn="ctr">
              <a:buNone/>
              <a:defRPr sz="1500" b="1" i="0">
                <a:solidFill>
                  <a:srgbClr val="FFFFFF"/>
                </a:solidFill>
                <a:latin typeface="Arial"/>
                <a:ea typeface="Arial"/>
                <a:cs typeface="Arial"/>
              </a:defRPr>
            </a:lvl3pPr>
            <a:lvl4pPr algn="ctr">
              <a:buNone/>
              <a:defRPr sz="1500" b="1" i="0">
                <a:solidFill>
                  <a:srgbClr val="FFFFFF"/>
                </a:solidFill>
                <a:latin typeface="Arial"/>
                <a:ea typeface="Arial"/>
                <a:cs typeface="Arial"/>
              </a:defRPr>
            </a:lvl4pPr>
            <a:lvl5pPr algn="ctr">
              <a:buNone/>
              <a:defRPr sz="1500" b="1" i="0">
                <a:solidFill>
                  <a:srgbClr val="FFFFFF"/>
                </a:solidFill>
                <a:latin typeface="Arial"/>
                <a:ea typeface="Arial"/>
                <a:cs typeface="Arial"/>
              </a:defRPr>
            </a:lvl5pPr>
            <a:lvl6pPr algn="ctr">
              <a:buNone/>
              <a:defRPr sz="1500" b="1" i="0">
                <a:solidFill>
                  <a:srgbClr val="FFFFFF"/>
                </a:solidFill>
                <a:latin typeface="Arial"/>
                <a:ea typeface="Arial"/>
                <a:cs typeface="Arial"/>
              </a:defRPr>
            </a:lvl6pPr>
            <a:lvl7pPr algn="ctr">
              <a:buNone/>
              <a:defRPr sz="1500" b="1" i="0">
                <a:solidFill>
                  <a:srgbClr val="FFFFFF"/>
                </a:solidFill>
                <a:latin typeface="Arial"/>
                <a:ea typeface="Arial"/>
                <a:cs typeface="Arial"/>
              </a:defRPr>
            </a:lvl7pPr>
            <a:lvl8pPr algn="ctr">
              <a:buNone/>
              <a:defRPr sz="1500" b="1" i="0">
                <a:solidFill>
                  <a:srgbClr val="FFFFFF"/>
                </a:solidFill>
                <a:latin typeface="Arial"/>
                <a:ea typeface="Arial"/>
                <a:cs typeface="Arial"/>
              </a:defRPr>
            </a:lvl8pPr>
            <a:lvl9pPr algn="ctr">
              <a:buNone/>
              <a:defRPr sz="1500" b="1" i="0">
                <a:solidFill>
                  <a:srgbClr val="FFFFFF"/>
                </a:solidFill>
                <a:latin typeface="Arial"/>
                <a:ea typeface="Arial"/>
                <a:cs typeface="Arial"/>
              </a:defRPr>
            </a:lvl9pPr>
          </a:lstStyle>
          <a:p xmlns:a="http://schemas.openxmlformats.org/drawingml/2006/main">
            <a:pPr marL="0" indent="0" algn="ctr">
              <a:buNone/>
              <a:defRPr sz="1500" b="1" i="0">
                <a:solidFill>
                  <a:srgbClr val="FFFFFF"/>
                </a:solidFill>
                <a:latin typeface="Arial"/>
                <a:ea typeface="Arial"/>
                <a:cs typeface="Arial"/>
              </a:defRPr>
            </a:pPr>
            <a:r>
              <a:rPr sz="1500" b="1" i="0">
                <a:solidFill>
                  <a:srgbClr val="FFFFFF"/>
                </a:solidFill>
                <a:latin typeface="Arial"/>
                <a:ea typeface="Arial"/>
                <a:cs typeface="Arial"/>
              </a:rPr>
              <a:t>500 generated documents in 7.7 seconds</a:t>
            </a:r>
            <a:endParaRPr sz="1400"/>
          </a:p>
          <a:p xmlns:a="http://schemas.openxmlformats.org/drawingml/2006/main">
            <a:pPr marL="0" indent="0" algn="ctr">
              <a:buNone/>
              <a:defRPr sz="1500" b="1" i="0">
                <a:solidFill>
                  <a:srgbClr val="FFFFFF"/>
                </a:solidFill>
                <a:latin typeface="Arial"/>
                <a:ea typeface="Arial"/>
                <a:cs typeface="Arial"/>
              </a:defRPr>
            </a:pPr>
            <a:r>
              <a:rPr sz="1500" b="1" i="0">
                <a:solidFill>
                  <a:srgbClr val="FFFFFF"/>
                </a:solidFill>
                <a:latin typeface="Arial"/>
                <a:ea typeface="Arial"/>
                <a:cs typeface="Arial"/>
              </a:rPr>
              <a:t>504 docs · 539 entities · 40 edges</a:t>
            </a:r>
            <a:endParaRPr sz="1400"/>
          </a:p>
          <a:p xmlns:a="http://schemas.openxmlformats.org/drawingml/2006/main">
            <a:pPr marL="0" indent="0" algn="ctr">
              <a:buNone/>
              <a:defRPr sz="1500" b="1" i="0">
                <a:solidFill>
                  <a:srgbClr val="FFFFFF"/>
                </a:solidFill>
                <a:latin typeface="Arial"/>
                <a:ea typeface="Arial"/>
                <a:cs typeface="Arial"/>
              </a:defRPr>
            </a:pPr>
            <a:r>
              <a:rPr sz="1500" b="1" i="0">
                <a:solidFill>
                  <a:srgbClr val="FFFFFF"/>
                </a:solidFill>
                <a:latin typeface="Arial"/>
                <a:ea typeface="Arial"/>
                <a:cs typeface="Arial"/>
              </a:rPr>
              <a:t>21 planted instruction strings tested</a:t>
            </a:r>
            <a:endParaRPr sz="1400"/>
          </a:p>
          <a:p xmlns:a="http://schemas.openxmlformats.org/drawingml/2006/main">
            <a:pPr marL="0" indent="0" algn="ctr">
              <a:buNone/>
              <a:defRPr sz="1500" b="1" i="0">
                <a:solidFill>
                  <a:srgbClr val="FFFFFF"/>
                </a:solidFill>
                <a:latin typeface="Arial"/>
                <a:ea typeface="Arial"/>
                <a:cs typeface="Arial"/>
              </a:defRPr>
            </a:pPr>
            <a:r>
              <a:rPr sz="1500" b="1" i="0">
                <a:solidFill>
                  <a:srgbClr val="FFFFFF"/>
                </a:solidFill>
                <a:latin typeface="Arial"/>
                <a:ea typeface="Arial"/>
                <a:cs typeface="Arial"/>
              </a:rPr>
              <a:t>Isolated local benchmark</a:t>
            </a:r>
            <a:endParaRPr sz="1400"/>
          </a:p>
        </p:txBody>
      </p:sp>
      <p:sp>
        <p:nvSpPr>
          <p:cNvPr id="25" name="Slide Number Placeholder 0">
            <a:extLst xmlns:a="http://schemas.openxmlformats.org/drawingml/2006/main">
              <a:ext uri="{FF2B5EF4-FFF2-40B4-BE49-F238E27FC236}">
                <a16:creationId xmlns:a16="http://schemas.microsoft.com/office/drawing/2014/main" id="{FD038C33-4A8E-4BF3-B3B4-27969BF93B5E}"/>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2</a:t>
            </a:fld>
            <a:endParaRPr/>
          </a:p>
        </p:txBody>
      </p:sp>
    </p:spTree>
    <p:extLst>
      <p:ext uri="{BB962C8B-B14F-4D97-AF65-F5344CB8AC3E}">
        <p14:creationId xmlns:p14="http://schemas.microsoft.com/office/powerpoint/2010/main" val="52561976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FA75ADD-4D6E-434F-8393-FFFBC3356BA4}"/>
              </a:ext>
            </a:extLst>
          </p:cNvPr>
          <p:cNvSpPr>
            <a:spLocks xmlns:a="http://schemas.openxmlformats.org/drawingml/2006/main" noGrp="1"/>
          </p:cNvSpPr>
          <p:nvPr/>
        </p:nvSpPr>
        <p:spPr>
          <a:xfrm xmlns:a="http://schemas.openxmlformats.org/drawingml/2006/main">
            <a:off x="457200" y="960120"/>
            <a:ext cx="1127455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600" b="1" spc="200">
                <a:solidFill>
                  <a:srgbClr val="FFFFFF"/>
                </a:solidFill>
                <a:latin typeface="Arial"/>
                <a:ea typeface="Arial"/>
                <a:cs typeface="Arial"/>
              </a:rPr>
              <a:t>TECHNICAL APPROACH</a:t>
            </a:r>
            <a:endParaRPr sz="3600"/>
          </a:p>
        </p:txBody>
      </p:sp>
      <p:sp>
        <p:nvSpPr>
          <p:cNvPr id="3" name="Team tag">
            <a:extLst xmlns:a="http://schemas.openxmlformats.org/drawingml/2006/main">
              <a:ext uri="{FF2B5EF4-FFF2-40B4-BE49-F238E27FC236}">
                <a16:creationId xmlns:a16="http://schemas.microsoft.com/office/drawing/2014/main" id="{C1EA5B08-FE3C-4939-BEC1-392DCAD87C85}"/>
              </a:ext>
            </a:extLst>
          </p:cNvPr>
          <p:cNvSpPr>
            <a:spLocks xmlns:a="http://schemas.openxmlformats.org/drawingml/2006/main" noGrp="1"/>
          </p:cNvSpPr>
          <p:nvPr/>
        </p:nvSpPr>
        <p:spPr>
          <a:xfrm xmlns:a="http://schemas.openxmlformats.org/drawingml/2006/main">
            <a:off x="8503920" y="1097280"/>
            <a:ext cx="322783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9CC4FF"/>
                </a:solidFill>
                <a:latin typeface="Calibri"/>
                <a:ea typeface="Calibri"/>
                <a:cs typeface="Calibri"/>
              </a:rPr>
              <a:t>DataTrust AI  |  Team ID pending</a:t>
            </a:r>
            <a:endParaRPr sz="1200"/>
          </a:p>
        </p:txBody>
      </p:sp>
      <p:sp>
        <p:nvSpPr>
          <p:cNvPr id="4" name="Architecture card">
            <a:extLst xmlns:a="http://schemas.openxmlformats.org/drawingml/2006/main">
              <a:ext uri="{FF2B5EF4-FFF2-40B4-BE49-F238E27FC236}">
                <a16:creationId xmlns:a16="http://schemas.microsoft.com/office/drawing/2014/main" id="{6C7972C3-55CA-4383-BAD6-A507F91DC820}"/>
              </a:ext>
            </a:extLst>
          </p:cNvPr>
          <p:cNvSpPr>
            <a:spLocks xmlns:a="http://schemas.openxmlformats.org/drawingml/2006/main" noGrp="1"/>
          </p:cNvSpPr>
          <p:nvPr/>
        </p:nvSpPr>
        <p:spPr>
          <a:xfrm xmlns:a="http://schemas.openxmlformats.org/drawingml/2006/main">
            <a:off x="457200" y="1691640"/>
            <a:ext cx="5486400" cy="4434840"/>
          </a:xfrm>
          <a:prstGeom xmlns:a="http://schemas.openxmlformats.org/drawingml/2006/main" prst="roundRect">
            <a:avLst>
              <a:gd name="adj" fmla="val 2474"/>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5" name="Arch head">
            <a:extLst xmlns:a="http://schemas.openxmlformats.org/drawingml/2006/main">
              <a:ext uri="{FF2B5EF4-FFF2-40B4-BE49-F238E27FC236}">
                <a16:creationId xmlns:a16="http://schemas.microsoft.com/office/drawing/2014/main" id="{4B2A7553-B886-4F02-B6D3-2CB488691A5A}"/>
              </a:ext>
            </a:extLst>
          </p:cNvPr>
          <p:cNvSpPr>
            <a:spLocks xmlns:a="http://schemas.openxmlformats.org/drawingml/2006/main" noGrp="1"/>
          </p:cNvSpPr>
          <p:nvPr/>
        </p:nvSpPr>
        <p:spPr>
          <a:xfrm xmlns:a="http://schemas.openxmlformats.org/drawingml/2006/main">
            <a:off x="731520" y="1874520"/>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SYSTEM ARCHITECTURE</a:t>
            </a:r>
            <a:endParaRPr sz="1500"/>
          </a:p>
        </p:txBody>
      </p:sp>
      <p:sp>
        <p:nvSpPr>
          <p:cNvPr id="6" name="Arch body">
            <a:extLst xmlns:a="http://schemas.openxmlformats.org/drawingml/2006/main">
              <a:ext uri="{FF2B5EF4-FFF2-40B4-BE49-F238E27FC236}">
                <a16:creationId xmlns:a16="http://schemas.microsoft.com/office/drawing/2014/main" id="{55B52155-67A4-4574-9FAC-2A9F7A3AEC1A}"/>
              </a:ext>
            </a:extLst>
          </p:cNvPr>
          <p:cNvSpPr>
            <a:spLocks xmlns:a="http://schemas.openxmlformats.org/drawingml/2006/main" noGrp="1"/>
          </p:cNvSpPr>
          <p:nvPr/>
        </p:nvSpPr>
        <p:spPr>
          <a:xfrm xmlns:a="http://schemas.openxmlformats.org/drawingml/2006/main">
            <a:off x="731520" y="228600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lgn="l">
              <a:defRPr sz="1400">
                <a:solidFill>
                  <a:srgbClr val="FFFFFF"/>
                </a:solidFill>
                <a:latin typeface="Calibri"/>
                <a:ea typeface="Calibri"/>
                <a:cs typeface="Calibri"/>
              </a:defRPr>
            </a:defPPr>
            <a:lvl1pPr algn="l">
              <a:buNone/>
              <a:defRPr sz="1400">
                <a:solidFill>
                  <a:srgbClr val="FFFFFF"/>
                </a:solidFill>
                <a:latin typeface="Calibri"/>
                <a:ea typeface="Calibri"/>
                <a:cs typeface="Calibri"/>
              </a:defRPr>
            </a:lvl1pPr>
            <a:lvl2pPr algn="l">
              <a:buNone/>
              <a:defRPr sz="1400">
                <a:solidFill>
                  <a:srgbClr val="FFFFFF"/>
                </a:solidFill>
                <a:latin typeface="Calibri"/>
                <a:ea typeface="Calibri"/>
                <a:cs typeface="Calibri"/>
              </a:defRPr>
            </a:lvl2pPr>
            <a:lvl3pPr algn="l">
              <a:buNone/>
              <a:defRPr sz="1400">
                <a:solidFill>
                  <a:srgbClr val="FFFFFF"/>
                </a:solidFill>
                <a:latin typeface="Calibri"/>
                <a:ea typeface="Calibri"/>
                <a:cs typeface="Calibri"/>
              </a:defRPr>
            </a:lvl3pPr>
            <a:lvl4pPr algn="l">
              <a:buNone/>
              <a:defRPr sz="1400">
                <a:solidFill>
                  <a:srgbClr val="FFFFFF"/>
                </a:solidFill>
                <a:latin typeface="Calibri"/>
                <a:ea typeface="Calibri"/>
                <a:cs typeface="Calibri"/>
              </a:defRPr>
            </a:lvl4pPr>
            <a:lvl5pPr algn="l">
              <a:buNone/>
              <a:defRPr sz="1400">
                <a:solidFill>
                  <a:srgbClr val="FFFFFF"/>
                </a:solidFill>
                <a:latin typeface="Calibri"/>
                <a:ea typeface="Calibri"/>
                <a:cs typeface="Calibri"/>
              </a:defRPr>
            </a:lvl5pPr>
            <a:lvl6pPr algn="l">
              <a:buNone/>
              <a:defRPr sz="1400">
                <a:solidFill>
                  <a:srgbClr val="FFFFFF"/>
                </a:solidFill>
                <a:latin typeface="Calibri"/>
                <a:ea typeface="Calibri"/>
                <a:cs typeface="Calibri"/>
              </a:defRPr>
            </a:lvl6pPr>
            <a:lvl7pPr algn="l">
              <a:buNone/>
              <a:defRPr sz="1400">
                <a:solidFill>
                  <a:srgbClr val="FFFFFF"/>
                </a:solidFill>
                <a:latin typeface="Calibri"/>
                <a:ea typeface="Calibri"/>
                <a:cs typeface="Calibri"/>
              </a:defRPr>
            </a:lvl7pPr>
            <a:lvl8pPr algn="l">
              <a:buNone/>
              <a:defRPr sz="1400">
                <a:solidFill>
                  <a:srgbClr val="FFFFFF"/>
                </a:solidFill>
                <a:latin typeface="Calibri"/>
                <a:ea typeface="Calibri"/>
                <a:cs typeface="Calibri"/>
              </a:defRPr>
            </a:lvl8pPr>
            <a:lvl9pPr algn="l">
              <a:buNone/>
              <a:defRPr sz="1400">
                <a:solidFill>
                  <a:srgbClr val="FFFFFF"/>
                </a:solidFill>
                <a:latin typeface="Calibri"/>
                <a:ea typeface="Calibri"/>
                <a:cs typeface="Calibri"/>
              </a:defRPr>
            </a:lvl9pPr>
          </a:lstStyle>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FastAPI accepts single documents and batches.</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Safety filters remove instruction-bearing text before indexing.</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SQLite stores documents, term postings, claims, entities, and edges.</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Create, edit, and delete operations update only the affected document.</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Hindi and romanized-Hindi terms expand toward English evidence.</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Conflict checks keep each claim linked to its source excerpt.</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Answers carry a verification status and graph evidence path.</a:t>
            </a:r>
          </a:p>
        </p:txBody>
      </p:sp>
      <p:sp>
        <p:nvSpPr>
          <p:cNvPr id="7" name="Tech card">
            <a:extLst xmlns:a="http://schemas.openxmlformats.org/drawingml/2006/main">
              <a:ext uri="{FF2B5EF4-FFF2-40B4-BE49-F238E27FC236}">
                <a16:creationId xmlns:a16="http://schemas.microsoft.com/office/drawing/2014/main" id="{DB185296-33B6-46DE-A0F7-95BD16C87BB0}"/>
              </a:ext>
            </a:extLst>
          </p:cNvPr>
          <p:cNvSpPr>
            <a:spLocks xmlns:a="http://schemas.openxmlformats.org/drawingml/2006/main" noGrp="1"/>
          </p:cNvSpPr>
          <p:nvPr/>
        </p:nvSpPr>
        <p:spPr>
          <a:xfrm xmlns:a="http://schemas.openxmlformats.org/drawingml/2006/main">
            <a:off x="6245352" y="1691640"/>
            <a:ext cx="5486400" cy="2148840"/>
          </a:xfrm>
          <a:prstGeom xmlns:a="http://schemas.openxmlformats.org/drawingml/2006/main" prst="roundRect">
            <a:avLst>
              <a:gd name="adj" fmla="val 5106"/>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8" name="Tech head">
            <a:extLst xmlns:a="http://schemas.openxmlformats.org/drawingml/2006/main">
              <a:ext uri="{FF2B5EF4-FFF2-40B4-BE49-F238E27FC236}">
                <a16:creationId xmlns:a16="http://schemas.microsoft.com/office/drawing/2014/main" id="{8F5DB58A-8B59-436A-A212-6A67B6903198}"/>
              </a:ext>
            </a:extLst>
          </p:cNvPr>
          <p:cNvSpPr>
            <a:spLocks xmlns:a="http://schemas.openxmlformats.org/drawingml/2006/main" noGrp="1"/>
          </p:cNvSpPr>
          <p:nvPr/>
        </p:nvSpPr>
        <p:spPr>
          <a:xfrm xmlns:a="http://schemas.openxmlformats.org/drawingml/2006/main">
            <a:off x="6519672" y="1874520"/>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CORE TECHNOLOGIES</a:t>
            </a:r>
            <a:endParaRPr sz="1500"/>
          </a:p>
        </p:txBody>
      </p:sp>
      <p:sp>
        <p:nvSpPr>
          <p:cNvPr id="9" name="Tech body">
            <a:extLst xmlns:a="http://schemas.openxmlformats.org/drawingml/2006/main">
              <a:ext uri="{FF2B5EF4-FFF2-40B4-BE49-F238E27FC236}">
                <a16:creationId xmlns:a16="http://schemas.microsoft.com/office/drawing/2014/main" id="{75518A5F-EBAB-420F-B744-7D84ADD92F1F}"/>
              </a:ext>
            </a:extLst>
          </p:cNvPr>
          <p:cNvSpPr>
            <a:spLocks xmlns:a="http://schemas.openxmlformats.org/drawingml/2006/main" noGrp="1"/>
          </p:cNvSpPr>
          <p:nvPr/>
        </p:nvSpPr>
        <p:spPr>
          <a:xfrm xmlns:a="http://schemas.openxmlformats.org/drawingml/2006/main">
            <a:off x="6519672" y="2286000"/>
            <a:ext cx="493776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lgn="l">
              <a:defRPr sz="1400">
                <a:solidFill>
                  <a:srgbClr val="FFFFFF"/>
                </a:solidFill>
                <a:latin typeface="Calibri"/>
                <a:ea typeface="Calibri"/>
                <a:cs typeface="Calibri"/>
              </a:defRPr>
            </a:defPPr>
            <a:lvl1pPr algn="l">
              <a:buNone/>
              <a:defRPr sz="1400">
                <a:solidFill>
                  <a:srgbClr val="FFFFFF"/>
                </a:solidFill>
                <a:latin typeface="Calibri"/>
                <a:ea typeface="Calibri"/>
                <a:cs typeface="Calibri"/>
              </a:defRPr>
            </a:lvl1pPr>
            <a:lvl2pPr algn="l">
              <a:buNone/>
              <a:defRPr sz="1400">
                <a:solidFill>
                  <a:srgbClr val="FFFFFF"/>
                </a:solidFill>
                <a:latin typeface="Calibri"/>
                <a:ea typeface="Calibri"/>
                <a:cs typeface="Calibri"/>
              </a:defRPr>
            </a:lvl2pPr>
            <a:lvl3pPr algn="l">
              <a:buNone/>
              <a:defRPr sz="1400">
                <a:solidFill>
                  <a:srgbClr val="FFFFFF"/>
                </a:solidFill>
                <a:latin typeface="Calibri"/>
                <a:ea typeface="Calibri"/>
                <a:cs typeface="Calibri"/>
              </a:defRPr>
            </a:lvl3pPr>
            <a:lvl4pPr algn="l">
              <a:buNone/>
              <a:defRPr sz="1400">
                <a:solidFill>
                  <a:srgbClr val="FFFFFF"/>
                </a:solidFill>
                <a:latin typeface="Calibri"/>
                <a:ea typeface="Calibri"/>
                <a:cs typeface="Calibri"/>
              </a:defRPr>
            </a:lvl4pPr>
            <a:lvl5pPr algn="l">
              <a:buNone/>
              <a:defRPr sz="1400">
                <a:solidFill>
                  <a:srgbClr val="FFFFFF"/>
                </a:solidFill>
                <a:latin typeface="Calibri"/>
                <a:ea typeface="Calibri"/>
                <a:cs typeface="Calibri"/>
              </a:defRPr>
            </a:lvl5pPr>
            <a:lvl6pPr algn="l">
              <a:buNone/>
              <a:defRPr sz="1400">
                <a:solidFill>
                  <a:srgbClr val="FFFFFF"/>
                </a:solidFill>
                <a:latin typeface="Calibri"/>
                <a:ea typeface="Calibri"/>
                <a:cs typeface="Calibri"/>
              </a:defRPr>
            </a:lvl6pPr>
            <a:lvl7pPr algn="l">
              <a:buNone/>
              <a:defRPr sz="1400">
                <a:solidFill>
                  <a:srgbClr val="FFFFFF"/>
                </a:solidFill>
                <a:latin typeface="Calibri"/>
                <a:ea typeface="Calibri"/>
                <a:cs typeface="Calibri"/>
              </a:defRPr>
            </a:lvl7pPr>
            <a:lvl8pPr algn="l">
              <a:buNone/>
              <a:defRPr sz="1400">
                <a:solidFill>
                  <a:srgbClr val="FFFFFF"/>
                </a:solidFill>
                <a:latin typeface="Calibri"/>
                <a:ea typeface="Calibri"/>
                <a:cs typeface="Calibri"/>
              </a:defRPr>
            </a:lvl8pPr>
            <a:lvl9pPr algn="l">
              <a:buNone/>
              <a:defRPr sz="1400">
                <a:solidFill>
                  <a:srgbClr val="FFFFFF"/>
                </a:solidFill>
                <a:latin typeface="Calibri"/>
                <a:ea typeface="Calibri"/>
                <a:cs typeface="Calibri"/>
              </a:defRPr>
            </a:lvl9pPr>
          </a:lstStyle>
          <a:p xmlns:a="http://schemas.openxmlformats.org/drawingml/2006/main">
            <a:pPr marL="342900" indent="-342900" algn="l">
              <a:spcAft>
                <a:spcPts val="25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Python + FastAPI REST backend</a:t>
            </a:r>
          </a:p>
          <a:p xmlns:a="http://schemas.openxmlformats.org/drawingml/2006/main">
            <a:pPr marL="342900" indent="-342900" algn="l">
              <a:spcAft>
                <a:spcPts val="25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SQLite document, term, claim, and graph stores</a:t>
            </a:r>
          </a:p>
          <a:p xmlns:a="http://schemas.openxmlformats.org/drawingml/2006/main">
            <a:pPr marL="342900" indent="-342900" algn="l">
              <a:spcAft>
                <a:spcPts val="25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React + TypeScript + Vite frontend</a:t>
            </a:r>
          </a:p>
          <a:p xmlns:a="http://schemas.openxmlformats.org/drawingml/2006/main">
            <a:pPr marL="342900" indent="-342900" algn="l">
              <a:spcAft>
                <a:spcPts val="25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Six-way router: SQL, graph, semantic, hybrid, clarify, abstain</a:t>
            </a:r>
          </a:p>
          <a:p xmlns:a="http://schemas.openxmlformats.org/drawingml/2006/main">
            <a:pPr marL="342900" indent="-342900" algn="l">
              <a:spcAft>
                <a:spcPts val="25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NetworkX Louvain community analysis</a:t>
            </a:r>
          </a:p>
        </p:txBody>
      </p:sp>
      <p:sp>
        <p:nvSpPr>
          <p:cNvPr id="10" name="Unique card">
            <a:extLst xmlns:a="http://schemas.openxmlformats.org/drawingml/2006/main">
              <a:ext uri="{FF2B5EF4-FFF2-40B4-BE49-F238E27FC236}">
                <a16:creationId xmlns:a16="http://schemas.microsoft.com/office/drawing/2014/main" id="{119570D4-010A-4676-A07E-20B7C27D5CD3}"/>
              </a:ext>
            </a:extLst>
          </p:cNvPr>
          <p:cNvSpPr>
            <a:spLocks xmlns:a="http://schemas.openxmlformats.org/drawingml/2006/main" noGrp="1"/>
          </p:cNvSpPr>
          <p:nvPr/>
        </p:nvSpPr>
        <p:spPr>
          <a:xfrm xmlns:a="http://schemas.openxmlformats.org/drawingml/2006/main">
            <a:off x="6245352" y="4023360"/>
            <a:ext cx="5486400" cy="2103120"/>
          </a:xfrm>
          <a:prstGeom xmlns:a="http://schemas.openxmlformats.org/drawingml/2006/main" prst="roundRect">
            <a:avLst>
              <a:gd name="adj" fmla="val 5217"/>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11" name="Unique head">
            <a:extLst xmlns:a="http://schemas.openxmlformats.org/drawingml/2006/main">
              <a:ext uri="{FF2B5EF4-FFF2-40B4-BE49-F238E27FC236}">
                <a16:creationId xmlns:a16="http://schemas.microsoft.com/office/drawing/2014/main" id="{366309E2-2E33-47D8-889B-348306AECE79}"/>
              </a:ext>
            </a:extLst>
          </p:cNvPr>
          <p:cNvSpPr>
            <a:spLocks xmlns:a="http://schemas.openxmlformats.org/drawingml/2006/main" noGrp="1"/>
          </p:cNvSpPr>
          <p:nvPr/>
        </p:nvSpPr>
        <p:spPr>
          <a:xfrm xmlns:a="http://schemas.openxmlformats.org/drawingml/2006/main">
            <a:off x="6519672" y="4206240"/>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UNIQUE POINTS</a:t>
            </a:r>
            <a:endParaRPr sz="1500"/>
          </a:p>
        </p:txBody>
      </p:sp>
      <p:sp>
        <p:nvSpPr>
          <p:cNvPr id="12" name="Unique body">
            <a:extLst xmlns:a="http://schemas.openxmlformats.org/drawingml/2006/main">
              <a:ext uri="{FF2B5EF4-FFF2-40B4-BE49-F238E27FC236}">
                <a16:creationId xmlns:a16="http://schemas.microsoft.com/office/drawing/2014/main" id="{F708072A-57CF-4526-BB7A-9C3EBD8E26BD}"/>
              </a:ext>
            </a:extLst>
          </p:cNvPr>
          <p:cNvSpPr>
            <a:spLocks xmlns:a="http://schemas.openxmlformats.org/drawingml/2006/main" noGrp="1"/>
          </p:cNvSpPr>
          <p:nvPr/>
        </p:nvSpPr>
        <p:spPr>
          <a:xfrm xmlns:a="http://schemas.openxmlformats.org/drawingml/2006/main">
            <a:off x="6519672" y="4617720"/>
            <a:ext cx="493776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lgn="l">
              <a:defRPr sz="1400">
                <a:solidFill>
                  <a:srgbClr val="FFFFFF"/>
                </a:solidFill>
                <a:latin typeface="Calibri"/>
                <a:ea typeface="Calibri"/>
                <a:cs typeface="Calibri"/>
              </a:defRPr>
            </a:defPPr>
            <a:lvl1pPr algn="l">
              <a:buNone/>
              <a:defRPr sz="1400">
                <a:solidFill>
                  <a:srgbClr val="FFFFFF"/>
                </a:solidFill>
                <a:latin typeface="Calibri"/>
                <a:ea typeface="Calibri"/>
                <a:cs typeface="Calibri"/>
              </a:defRPr>
            </a:lvl1pPr>
            <a:lvl2pPr algn="l">
              <a:buNone/>
              <a:defRPr sz="1400">
                <a:solidFill>
                  <a:srgbClr val="FFFFFF"/>
                </a:solidFill>
                <a:latin typeface="Calibri"/>
                <a:ea typeface="Calibri"/>
                <a:cs typeface="Calibri"/>
              </a:defRPr>
            </a:lvl2pPr>
            <a:lvl3pPr algn="l">
              <a:buNone/>
              <a:defRPr sz="1400">
                <a:solidFill>
                  <a:srgbClr val="FFFFFF"/>
                </a:solidFill>
                <a:latin typeface="Calibri"/>
                <a:ea typeface="Calibri"/>
                <a:cs typeface="Calibri"/>
              </a:defRPr>
            </a:lvl3pPr>
            <a:lvl4pPr algn="l">
              <a:buNone/>
              <a:defRPr sz="1400">
                <a:solidFill>
                  <a:srgbClr val="FFFFFF"/>
                </a:solidFill>
                <a:latin typeface="Calibri"/>
                <a:ea typeface="Calibri"/>
                <a:cs typeface="Calibri"/>
              </a:defRPr>
            </a:lvl4pPr>
            <a:lvl5pPr algn="l">
              <a:buNone/>
              <a:defRPr sz="1400">
                <a:solidFill>
                  <a:srgbClr val="FFFFFF"/>
                </a:solidFill>
                <a:latin typeface="Calibri"/>
                <a:ea typeface="Calibri"/>
                <a:cs typeface="Calibri"/>
              </a:defRPr>
            </a:lvl5pPr>
            <a:lvl6pPr algn="l">
              <a:buNone/>
              <a:defRPr sz="1400">
                <a:solidFill>
                  <a:srgbClr val="FFFFFF"/>
                </a:solidFill>
                <a:latin typeface="Calibri"/>
                <a:ea typeface="Calibri"/>
                <a:cs typeface="Calibri"/>
              </a:defRPr>
            </a:lvl6pPr>
            <a:lvl7pPr algn="l">
              <a:buNone/>
              <a:defRPr sz="1400">
                <a:solidFill>
                  <a:srgbClr val="FFFFFF"/>
                </a:solidFill>
                <a:latin typeface="Calibri"/>
                <a:ea typeface="Calibri"/>
                <a:cs typeface="Calibri"/>
              </a:defRPr>
            </a:lvl7pPr>
            <a:lvl8pPr algn="l">
              <a:buNone/>
              <a:defRPr sz="1400">
                <a:solidFill>
                  <a:srgbClr val="FFFFFF"/>
                </a:solidFill>
                <a:latin typeface="Calibri"/>
                <a:ea typeface="Calibri"/>
                <a:cs typeface="Calibri"/>
              </a:defRPr>
            </a:lvl8pPr>
            <a:lvl9pPr algn="l">
              <a:buNone/>
              <a:defRPr sz="1400">
                <a:solidFill>
                  <a:srgbClr val="FFFFFF"/>
                </a:solidFill>
                <a:latin typeface="Calibri"/>
                <a:ea typeface="Calibri"/>
                <a:cs typeface="Calibri"/>
              </a:defRPr>
            </a:lvl9pPr>
          </a:lstStyle>
          <a:p xmlns:a="http://schemas.openxmlformats.org/drawingml/2006/main">
            <a:pPr marL="342900" indent="-342900" algn="l">
              <a:spcAft>
                <a:spcPts val="25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Read-only SQL uses SQLite read-only mode and an authorizer.</a:t>
            </a:r>
          </a:p>
          <a:p xmlns:a="http://schemas.openxmlformats.org/drawingml/2006/main">
            <a:pPr marL="342900" indent="-342900" algn="l">
              <a:spcAft>
                <a:spcPts val="25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Validation distinguishes support, conflict, clarification, and insufficient evidence.</a:t>
            </a:r>
          </a:p>
          <a:p xmlns:a="http://schemas.openxmlformats.org/drawingml/2006/main">
            <a:pPr marL="342900" indent="-342900" algn="l">
              <a:spcAft>
                <a:spcPts val="25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Entity alias merges can be reversed.</a:t>
            </a:r>
          </a:p>
          <a:p xmlns:a="http://schemas.openxmlformats.org/drawingml/2006/main">
            <a:pPr marL="342900" indent="-342900" algn="l">
              <a:spcAft>
                <a:spcPts val="25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Evidence replay shows where each answer came from.</a:t>
            </a:r>
          </a:p>
        </p:txBody>
      </p:sp>
      <p:sp>
        <p:nvSpPr>
          <p:cNvPr id="25" name="Slide Number Placeholder 0">
            <a:extLst xmlns:a="http://schemas.openxmlformats.org/drawingml/2006/main">
              <a:ext uri="{FF2B5EF4-FFF2-40B4-BE49-F238E27FC236}">
                <a16:creationId xmlns:a16="http://schemas.microsoft.com/office/drawing/2014/main" id="{7DC208FD-50B4-4737-A539-D41C018E9AB2}"/>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3</a:t>
            </a:fld>
            <a:endParaRPr/>
          </a:p>
        </p:txBody>
      </p:sp>
    </p:spTree>
    <p:extLst>
      <p:ext uri="{BB962C8B-B14F-4D97-AF65-F5344CB8AC3E}">
        <p14:creationId xmlns:p14="http://schemas.microsoft.com/office/powerpoint/2010/main" val="151517341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97A7651-D794-4689-A1CF-0A89E19DD4B9}"/>
              </a:ext>
            </a:extLst>
          </p:cNvPr>
          <p:cNvSpPr>
            <a:spLocks xmlns:a="http://schemas.openxmlformats.org/drawingml/2006/main" noGrp="1"/>
          </p:cNvSpPr>
          <p:nvPr/>
        </p:nvSpPr>
        <p:spPr>
          <a:xfrm xmlns:a="http://schemas.openxmlformats.org/drawingml/2006/main">
            <a:off x="457200" y="960120"/>
            <a:ext cx="1127455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600" b="1" spc="200">
                <a:solidFill>
                  <a:srgbClr val="FFFFFF"/>
                </a:solidFill>
                <a:latin typeface="Arial"/>
                <a:ea typeface="Arial"/>
                <a:cs typeface="Arial"/>
              </a:rPr>
              <a:t>USER EXPERIENCE &amp; DESIGN</a:t>
            </a:r>
            <a:endParaRPr sz="3600"/>
          </a:p>
        </p:txBody>
      </p:sp>
      <p:sp>
        <p:nvSpPr>
          <p:cNvPr id="3" name="Team tag">
            <a:extLst xmlns:a="http://schemas.openxmlformats.org/drawingml/2006/main">
              <a:ext uri="{FF2B5EF4-FFF2-40B4-BE49-F238E27FC236}">
                <a16:creationId xmlns:a16="http://schemas.microsoft.com/office/drawing/2014/main" id="{C14B8D7F-7864-4A41-8C40-80AF0B50E91F}"/>
              </a:ext>
            </a:extLst>
          </p:cNvPr>
          <p:cNvSpPr>
            <a:spLocks xmlns:a="http://schemas.openxmlformats.org/drawingml/2006/main" noGrp="1"/>
          </p:cNvSpPr>
          <p:nvPr/>
        </p:nvSpPr>
        <p:spPr>
          <a:xfrm xmlns:a="http://schemas.openxmlformats.org/drawingml/2006/main">
            <a:off x="8503920" y="1097280"/>
            <a:ext cx="322783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9CC4FF"/>
                </a:solidFill>
                <a:latin typeface="Calibri"/>
                <a:ea typeface="Calibri"/>
                <a:cs typeface="Calibri"/>
              </a:rPr>
              <a:t>DataTrust AI  |  Team ID pending</a:t>
            </a:r>
            <a:endParaRPr sz="1200"/>
          </a:p>
        </p:txBody>
      </p:sp>
      <p:sp>
        <p:nvSpPr>
          <p:cNvPr id="4" name="UI card">
            <a:extLst xmlns:a="http://schemas.openxmlformats.org/drawingml/2006/main">
              <a:ext uri="{FF2B5EF4-FFF2-40B4-BE49-F238E27FC236}">
                <a16:creationId xmlns:a16="http://schemas.microsoft.com/office/drawing/2014/main" id="{68B4CBFD-25E4-4BD9-B969-4079D12F10F0}"/>
              </a:ext>
            </a:extLst>
          </p:cNvPr>
          <p:cNvSpPr>
            <a:spLocks xmlns:a="http://schemas.openxmlformats.org/drawingml/2006/main" noGrp="1"/>
          </p:cNvSpPr>
          <p:nvPr/>
        </p:nvSpPr>
        <p:spPr>
          <a:xfrm xmlns:a="http://schemas.openxmlformats.org/drawingml/2006/main">
            <a:off x="457200"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5" name="UI head">
            <a:extLst xmlns:a="http://schemas.openxmlformats.org/drawingml/2006/main">
              <a:ext uri="{FF2B5EF4-FFF2-40B4-BE49-F238E27FC236}">
                <a16:creationId xmlns:a16="http://schemas.microsoft.com/office/drawing/2014/main" id="{51494179-AEC6-41B4-8AA7-741891029A6A}"/>
              </a:ext>
            </a:extLst>
          </p:cNvPr>
          <p:cNvSpPr>
            <a:spLocks xmlns:a="http://schemas.openxmlformats.org/drawingml/2006/main" noGrp="1"/>
          </p:cNvSpPr>
          <p:nvPr/>
        </p:nvSpPr>
        <p:spPr>
          <a:xfrm xmlns:a="http://schemas.openxmlformats.org/drawingml/2006/main">
            <a:off x="731520"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USER INTERFACE</a:t>
            </a:r>
            <a:endParaRPr sz="1500"/>
          </a:p>
        </p:txBody>
      </p:sp>
      <p:sp>
        <p:nvSpPr>
          <p:cNvPr id="6" name="UI body">
            <a:extLst xmlns:a="http://schemas.openxmlformats.org/drawingml/2006/main">
              <a:ext uri="{FF2B5EF4-FFF2-40B4-BE49-F238E27FC236}">
                <a16:creationId xmlns:a16="http://schemas.microsoft.com/office/drawing/2014/main" id="{E4E0A486-FE0C-4F48-9FB5-84781AAB55DB}"/>
              </a:ext>
            </a:extLst>
          </p:cNvPr>
          <p:cNvSpPr>
            <a:spLocks xmlns:a="http://schemas.openxmlformats.org/drawingml/2006/main" noGrp="1"/>
          </p:cNvSpPr>
          <p:nvPr/>
        </p:nvSpPr>
        <p:spPr>
          <a:xfrm xmlns:a="http://schemas.openxmlformats.org/drawingml/2006/main">
            <a:off x="731520" y="2286000"/>
            <a:ext cx="31089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lgn="l">
              <a:defRPr sz="1400">
                <a:solidFill>
                  <a:srgbClr val="FFFFFF"/>
                </a:solidFill>
                <a:latin typeface="Calibri"/>
                <a:ea typeface="Calibri"/>
                <a:cs typeface="Calibri"/>
              </a:defRPr>
            </a:defPPr>
            <a:lvl1pPr algn="l">
              <a:buNone/>
              <a:defRPr sz="1400">
                <a:solidFill>
                  <a:srgbClr val="FFFFFF"/>
                </a:solidFill>
                <a:latin typeface="Calibri"/>
                <a:ea typeface="Calibri"/>
                <a:cs typeface="Calibri"/>
              </a:defRPr>
            </a:lvl1pPr>
            <a:lvl2pPr algn="l">
              <a:buNone/>
              <a:defRPr sz="1400">
                <a:solidFill>
                  <a:srgbClr val="FFFFFF"/>
                </a:solidFill>
                <a:latin typeface="Calibri"/>
                <a:ea typeface="Calibri"/>
                <a:cs typeface="Calibri"/>
              </a:defRPr>
            </a:lvl2pPr>
            <a:lvl3pPr algn="l">
              <a:buNone/>
              <a:defRPr sz="1400">
                <a:solidFill>
                  <a:srgbClr val="FFFFFF"/>
                </a:solidFill>
                <a:latin typeface="Calibri"/>
                <a:ea typeface="Calibri"/>
                <a:cs typeface="Calibri"/>
              </a:defRPr>
            </a:lvl3pPr>
            <a:lvl4pPr algn="l">
              <a:buNone/>
              <a:defRPr sz="1400">
                <a:solidFill>
                  <a:srgbClr val="FFFFFF"/>
                </a:solidFill>
                <a:latin typeface="Calibri"/>
                <a:ea typeface="Calibri"/>
                <a:cs typeface="Calibri"/>
              </a:defRPr>
            </a:lvl4pPr>
            <a:lvl5pPr algn="l">
              <a:buNone/>
              <a:defRPr sz="1400">
                <a:solidFill>
                  <a:srgbClr val="FFFFFF"/>
                </a:solidFill>
                <a:latin typeface="Calibri"/>
                <a:ea typeface="Calibri"/>
                <a:cs typeface="Calibri"/>
              </a:defRPr>
            </a:lvl5pPr>
            <a:lvl6pPr algn="l">
              <a:buNone/>
              <a:defRPr sz="1400">
                <a:solidFill>
                  <a:srgbClr val="FFFFFF"/>
                </a:solidFill>
                <a:latin typeface="Calibri"/>
                <a:ea typeface="Calibri"/>
                <a:cs typeface="Calibri"/>
              </a:defRPr>
            </a:lvl6pPr>
            <a:lvl7pPr algn="l">
              <a:buNone/>
              <a:defRPr sz="1400">
                <a:solidFill>
                  <a:srgbClr val="FFFFFF"/>
                </a:solidFill>
                <a:latin typeface="Calibri"/>
                <a:ea typeface="Calibri"/>
                <a:cs typeface="Calibri"/>
              </a:defRPr>
            </a:lvl7pPr>
            <a:lvl8pPr algn="l">
              <a:buNone/>
              <a:defRPr sz="1400">
                <a:solidFill>
                  <a:srgbClr val="FFFFFF"/>
                </a:solidFill>
                <a:latin typeface="Calibri"/>
                <a:ea typeface="Calibri"/>
                <a:cs typeface="Calibri"/>
              </a:defRPr>
            </a:lvl8pPr>
            <a:lvl9pPr algn="l">
              <a:buNone/>
              <a:defRPr sz="1400">
                <a:solidFill>
                  <a:srgbClr val="FFFFFF"/>
                </a:solidFill>
                <a:latin typeface="Calibri"/>
                <a:ea typeface="Calibri"/>
                <a:cs typeface="Calibri"/>
              </a:defRPr>
            </a:lvl9pPr>
          </a:lstStyle>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Ask a question in Hindi or English.</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Add, edit, or remove documents in Data Studio.</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Run a batch and inspect time, graph counts, and failures.</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See how many embedded instructions were ignored.</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Open conflicts with source excerpts and graph paths.</a:t>
            </a:r>
          </a:p>
        </p:txBody>
      </p:sp>
      <p:sp>
        <p:nvSpPr>
          <p:cNvPr id="7" name="Flow card">
            <a:extLst xmlns:a="http://schemas.openxmlformats.org/drawingml/2006/main">
              <a:ext uri="{FF2B5EF4-FFF2-40B4-BE49-F238E27FC236}">
                <a16:creationId xmlns:a16="http://schemas.microsoft.com/office/drawing/2014/main" id="{2055541C-16A9-46A8-9806-FE62CA595318}"/>
              </a:ext>
            </a:extLst>
          </p:cNvPr>
          <p:cNvSpPr>
            <a:spLocks xmlns:a="http://schemas.openxmlformats.org/drawingml/2006/main" noGrp="1"/>
          </p:cNvSpPr>
          <p:nvPr/>
        </p:nvSpPr>
        <p:spPr>
          <a:xfrm xmlns:a="http://schemas.openxmlformats.org/drawingml/2006/main">
            <a:off x="4270248"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8" name="Flow head">
            <a:extLst xmlns:a="http://schemas.openxmlformats.org/drawingml/2006/main">
              <a:ext uri="{FF2B5EF4-FFF2-40B4-BE49-F238E27FC236}">
                <a16:creationId xmlns:a16="http://schemas.microsoft.com/office/drawing/2014/main" id="{F0CF6D4E-570F-441E-8552-9FDCF4DBECFE}"/>
              </a:ext>
            </a:extLst>
          </p:cNvPr>
          <p:cNvSpPr>
            <a:spLocks xmlns:a="http://schemas.openxmlformats.org/drawingml/2006/main" noGrp="1"/>
          </p:cNvSpPr>
          <p:nvPr/>
        </p:nvSpPr>
        <p:spPr>
          <a:xfrm xmlns:a="http://schemas.openxmlformats.org/drawingml/2006/main">
            <a:off x="4544568"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USER FLOW</a:t>
            </a:r>
            <a:endParaRPr sz="1500"/>
          </a:p>
        </p:txBody>
      </p:sp>
      <p:sp>
        <p:nvSpPr>
          <p:cNvPr id="9" name="Flow dot 1">
            <a:extLst xmlns:a="http://schemas.openxmlformats.org/drawingml/2006/main">
              <a:ext uri="{FF2B5EF4-FFF2-40B4-BE49-F238E27FC236}">
                <a16:creationId xmlns:a16="http://schemas.microsoft.com/office/drawing/2014/main" id="{DF091EA1-E644-4915-BFD4-9C82C1DC46CC}"/>
              </a:ext>
            </a:extLst>
          </p:cNvPr>
          <p:cNvSpPr>
            <a:spLocks xmlns:a="http://schemas.openxmlformats.org/drawingml/2006/main" noGrp="1"/>
          </p:cNvSpPr>
          <p:nvPr/>
        </p:nvSpPr>
        <p:spPr>
          <a:xfrm xmlns:a="http://schemas.openxmlformats.org/drawingml/2006/main">
            <a:off x="4544568" y="2331720"/>
            <a:ext cx="502920" cy="502920"/>
          </a:xfrm>
          <a:prstGeom xmlns:a="http://schemas.openxmlformats.org/drawingml/2006/main" prst="ellipse">
            <a:avLst/>
          </a:prstGeom>
          <a:solidFill xmlns:a="http://schemas.openxmlformats.org/drawingml/2006/main">
            <a:schemeClr val="accent1"/>
          </a:solidFill>
          <a:ln xmlns:a="http://schemas.openxmlformats.org/drawingml/2006/main" w="12700">
            <a:solidFill>
              <a:srgbClr val="FFFFFF"/>
            </a:solidFill>
            <a:prstDash val="solid"/>
          </a:ln>
        </p:spPr>
      </p:sp>
      <p:sp>
        <p:nvSpPr>
          <p:cNvPr id="10" name="Text 8">
            <a:extLst xmlns:a="http://schemas.openxmlformats.org/drawingml/2006/main">
              <a:ext uri="{FF2B5EF4-FFF2-40B4-BE49-F238E27FC236}">
                <a16:creationId xmlns:a16="http://schemas.microsoft.com/office/drawing/2014/main" id="{E6167F41-2C0A-499A-B1F2-B40A63646502}"/>
              </a:ext>
            </a:extLst>
          </p:cNvPr>
          <p:cNvSpPr>
            <a:spLocks xmlns:a="http://schemas.openxmlformats.org/drawingml/2006/main" noGrp="1"/>
          </p:cNvSpPr>
          <p:nvPr/>
        </p:nvSpPr>
        <p:spPr>
          <a:xfrm xmlns:a="http://schemas.openxmlformats.org/drawingml/2006/main">
            <a:off x="4544568" y="23317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Arial"/>
                <a:ea typeface="Arial"/>
                <a:cs typeface="Arial"/>
              </a:rPr>
              <a:t>1</a:t>
            </a:r>
            <a:endParaRPr sz="1600"/>
          </a:p>
        </p:txBody>
      </p:sp>
      <p:sp>
        <p:nvSpPr>
          <p:cNvPr id="11" name="Text 9">
            <a:extLst xmlns:a="http://schemas.openxmlformats.org/drawingml/2006/main">
              <a:ext uri="{FF2B5EF4-FFF2-40B4-BE49-F238E27FC236}">
                <a16:creationId xmlns:a16="http://schemas.microsoft.com/office/drawing/2014/main" id="{7BCDF33F-394C-4D20-8B54-5F78FE74A186}"/>
              </a:ext>
            </a:extLst>
          </p:cNvPr>
          <p:cNvSpPr>
            <a:spLocks xmlns:a="http://schemas.openxmlformats.org/drawingml/2006/main" noGrp="1"/>
          </p:cNvSpPr>
          <p:nvPr/>
        </p:nvSpPr>
        <p:spPr>
          <a:xfrm xmlns:a="http://schemas.openxmlformats.org/drawingml/2006/main">
            <a:off x="5212080" y="2286000"/>
            <a:ext cx="256032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FFFFFF"/>
                </a:solidFill>
                <a:latin typeface="Calibri"/>
                <a:ea typeface="Calibri"/>
                <a:cs typeface="Calibri"/>
              </a:rPr>
              <a:t>Ask a question</a:t>
            </a:r>
            <a:endParaRPr sz="1400"/>
          </a:p>
          <a:p xmlns:a="http://schemas.openxmlformats.org/drawingml/2006/main">
            <a:pPr marL="0" indent="0">
              <a:buNone/>
            </a:pPr>
            <a:r>
              <a:rPr sz="1400">
                <a:solidFill>
                  <a:srgbClr val="FFFFFF"/>
                </a:solidFill>
                <a:latin typeface="Calibri"/>
                <a:ea typeface="Calibri"/>
                <a:cs typeface="Calibri"/>
              </a:rPr>
              <a:t>or ingest documents</a:t>
            </a:r>
            <a:endParaRPr sz="1400"/>
          </a:p>
        </p:txBody>
      </p:sp>
      <p:sp>
        <p:nvSpPr>
          <p:cNvPr id="12" name="Flow dot 2">
            <a:extLst xmlns:a="http://schemas.openxmlformats.org/drawingml/2006/main">
              <a:ext uri="{FF2B5EF4-FFF2-40B4-BE49-F238E27FC236}">
                <a16:creationId xmlns:a16="http://schemas.microsoft.com/office/drawing/2014/main" id="{FAA436ED-A327-4FF1-8FA5-E2538271583A}"/>
              </a:ext>
            </a:extLst>
          </p:cNvPr>
          <p:cNvSpPr>
            <a:spLocks xmlns:a="http://schemas.openxmlformats.org/drawingml/2006/main" noGrp="1"/>
          </p:cNvSpPr>
          <p:nvPr/>
        </p:nvSpPr>
        <p:spPr>
          <a:xfrm xmlns:a="http://schemas.openxmlformats.org/drawingml/2006/main">
            <a:off x="4544568" y="3520440"/>
            <a:ext cx="502920" cy="502920"/>
          </a:xfrm>
          <a:prstGeom xmlns:a="http://schemas.openxmlformats.org/drawingml/2006/main" prst="ellipse">
            <a:avLst/>
          </a:prstGeom>
          <a:solidFill xmlns:a="http://schemas.openxmlformats.org/drawingml/2006/main">
            <a:schemeClr val="accent1"/>
          </a:solidFill>
          <a:ln xmlns:a="http://schemas.openxmlformats.org/drawingml/2006/main" w="12700">
            <a:solidFill>
              <a:srgbClr val="FFFFFF"/>
            </a:solidFill>
            <a:prstDash val="solid"/>
          </a:ln>
        </p:spPr>
      </p:sp>
      <p:sp>
        <p:nvSpPr>
          <p:cNvPr id="13" name="Text 11">
            <a:extLst xmlns:a="http://schemas.openxmlformats.org/drawingml/2006/main">
              <a:ext uri="{FF2B5EF4-FFF2-40B4-BE49-F238E27FC236}">
                <a16:creationId xmlns:a16="http://schemas.microsoft.com/office/drawing/2014/main" id="{6D921AA6-C6C9-4AD0-91B8-15E2E1609F43}"/>
              </a:ext>
            </a:extLst>
          </p:cNvPr>
          <p:cNvSpPr>
            <a:spLocks xmlns:a="http://schemas.openxmlformats.org/drawingml/2006/main" noGrp="1"/>
          </p:cNvSpPr>
          <p:nvPr/>
        </p:nvSpPr>
        <p:spPr>
          <a:xfrm xmlns:a="http://schemas.openxmlformats.org/drawingml/2006/main">
            <a:off x="4544568" y="35204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Arial"/>
                <a:ea typeface="Arial"/>
                <a:cs typeface="Arial"/>
              </a:rPr>
              <a:t>2</a:t>
            </a:r>
            <a:endParaRPr sz="1600"/>
          </a:p>
        </p:txBody>
      </p:sp>
      <p:sp>
        <p:nvSpPr>
          <p:cNvPr id="14" name="Text 12">
            <a:extLst xmlns:a="http://schemas.openxmlformats.org/drawingml/2006/main">
              <a:ext uri="{FF2B5EF4-FFF2-40B4-BE49-F238E27FC236}">
                <a16:creationId xmlns:a16="http://schemas.microsoft.com/office/drawing/2014/main" id="{0D605CE5-3F26-4737-8C50-7FC26AEDC448}"/>
              </a:ext>
            </a:extLst>
          </p:cNvPr>
          <p:cNvSpPr>
            <a:spLocks xmlns:a="http://schemas.openxmlformats.org/drawingml/2006/main" noGrp="1"/>
          </p:cNvSpPr>
          <p:nvPr/>
        </p:nvSpPr>
        <p:spPr>
          <a:xfrm xmlns:a="http://schemas.openxmlformats.org/drawingml/2006/main">
            <a:off x="5212080" y="3474720"/>
            <a:ext cx="256032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FFFFFF"/>
                </a:solidFill>
                <a:latin typeface="Calibri"/>
                <a:ea typeface="Calibri"/>
                <a:cs typeface="Calibri"/>
              </a:rPr>
              <a:t>Retrieve claims</a:t>
            </a:r>
            <a:endParaRPr sz="1400"/>
          </a:p>
          <a:p xmlns:a="http://schemas.openxmlformats.org/drawingml/2006/main">
            <a:pPr marL="0" indent="0">
              <a:buNone/>
            </a:pPr>
            <a:r>
              <a:rPr sz="1400">
                <a:solidFill>
                  <a:srgbClr val="FFFFFF"/>
                </a:solidFill>
                <a:latin typeface="Calibri"/>
                <a:ea typeface="Calibri"/>
                <a:cs typeface="Calibri"/>
              </a:rPr>
              <a:t>and graph links</a:t>
            </a:r>
            <a:endParaRPr sz="1400"/>
          </a:p>
        </p:txBody>
      </p:sp>
      <p:sp>
        <p:nvSpPr>
          <p:cNvPr id="15" name="Flow dot 3">
            <a:extLst xmlns:a="http://schemas.openxmlformats.org/drawingml/2006/main">
              <a:ext uri="{FF2B5EF4-FFF2-40B4-BE49-F238E27FC236}">
                <a16:creationId xmlns:a16="http://schemas.microsoft.com/office/drawing/2014/main" id="{B31A7553-83BC-4E50-BEFF-9B76D78C36A5}"/>
              </a:ext>
            </a:extLst>
          </p:cNvPr>
          <p:cNvSpPr>
            <a:spLocks xmlns:a="http://schemas.openxmlformats.org/drawingml/2006/main" noGrp="1"/>
          </p:cNvSpPr>
          <p:nvPr/>
        </p:nvSpPr>
        <p:spPr>
          <a:xfrm xmlns:a="http://schemas.openxmlformats.org/drawingml/2006/main">
            <a:off x="4544568" y="4709160"/>
            <a:ext cx="502920" cy="502920"/>
          </a:xfrm>
          <a:prstGeom xmlns:a="http://schemas.openxmlformats.org/drawingml/2006/main" prst="ellipse">
            <a:avLst/>
          </a:prstGeom>
          <a:solidFill xmlns:a="http://schemas.openxmlformats.org/drawingml/2006/main">
            <a:schemeClr val="accent1"/>
          </a:solidFill>
          <a:ln xmlns:a="http://schemas.openxmlformats.org/drawingml/2006/main" w="12700">
            <a:solidFill>
              <a:srgbClr val="FFFFFF"/>
            </a:solidFill>
            <a:prstDash val="solid"/>
          </a:ln>
        </p:spPr>
      </p:sp>
      <p:sp>
        <p:nvSpPr>
          <p:cNvPr id="16" name="Text 14">
            <a:extLst xmlns:a="http://schemas.openxmlformats.org/drawingml/2006/main">
              <a:ext uri="{FF2B5EF4-FFF2-40B4-BE49-F238E27FC236}">
                <a16:creationId xmlns:a16="http://schemas.microsoft.com/office/drawing/2014/main" id="{8577198F-53EF-40CE-9B9C-35398E5E6B3B}"/>
              </a:ext>
            </a:extLst>
          </p:cNvPr>
          <p:cNvSpPr>
            <a:spLocks xmlns:a="http://schemas.openxmlformats.org/drawingml/2006/main" noGrp="1"/>
          </p:cNvSpPr>
          <p:nvPr/>
        </p:nvSpPr>
        <p:spPr>
          <a:xfrm xmlns:a="http://schemas.openxmlformats.org/drawingml/2006/main">
            <a:off x="4544568" y="470916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Arial"/>
                <a:ea typeface="Arial"/>
                <a:cs typeface="Arial"/>
              </a:rPr>
              <a:t>3</a:t>
            </a:r>
            <a:endParaRPr sz="1600"/>
          </a:p>
        </p:txBody>
      </p:sp>
      <p:sp>
        <p:nvSpPr>
          <p:cNvPr id="17" name="Text 15">
            <a:extLst xmlns:a="http://schemas.openxmlformats.org/drawingml/2006/main">
              <a:ext uri="{FF2B5EF4-FFF2-40B4-BE49-F238E27FC236}">
                <a16:creationId xmlns:a16="http://schemas.microsoft.com/office/drawing/2014/main" id="{6260D5A3-BFE1-4DA4-9058-9D067922FF3B}"/>
              </a:ext>
            </a:extLst>
          </p:cNvPr>
          <p:cNvSpPr>
            <a:spLocks xmlns:a="http://schemas.openxmlformats.org/drawingml/2006/main" noGrp="1"/>
          </p:cNvSpPr>
          <p:nvPr/>
        </p:nvSpPr>
        <p:spPr>
          <a:xfrm xmlns:a="http://schemas.openxmlformats.org/drawingml/2006/main">
            <a:off x="5212080" y="4663440"/>
            <a:ext cx="256032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FFFFFF"/>
                </a:solidFill>
                <a:latin typeface="Calibri"/>
                <a:ea typeface="Calibri"/>
                <a:cs typeface="Calibri"/>
              </a:rPr>
              <a:t>Review sourced</a:t>
            </a:r>
            <a:endParaRPr sz="1400"/>
          </a:p>
          <a:p xmlns:a="http://schemas.openxmlformats.org/drawingml/2006/main">
            <a:pPr marL="0" indent="0">
              <a:buNone/>
            </a:pPr>
            <a:r>
              <a:rPr sz="1400">
                <a:solidFill>
                  <a:srgbClr val="FFFFFF"/>
                </a:solidFill>
                <a:latin typeface="Calibri"/>
                <a:ea typeface="Calibri"/>
                <a:cs typeface="Calibri"/>
              </a:rPr>
              <a:t>answer or conflict</a:t>
            </a:r>
            <a:endParaRPr sz="1400"/>
          </a:p>
        </p:txBody>
      </p:sp>
      <p:sp>
        <p:nvSpPr>
          <p:cNvPr id="18" name="Goal card">
            <a:extLst xmlns:a="http://schemas.openxmlformats.org/drawingml/2006/main">
              <a:ext uri="{FF2B5EF4-FFF2-40B4-BE49-F238E27FC236}">
                <a16:creationId xmlns:a16="http://schemas.microsoft.com/office/drawing/2014/main" id="{6DBCFF46-202D-4056-ABA6-225F0213A29C}"/>
              </a:ext>
            </a:extLst>
          </p:cNvPr>
          <p:cNvSpPr>
            <a:spLocks xmlns:a="http://schemas.openxmlformats.org/drawingml/2006/main" noGrp="1"/>
          </p:cNvSpPr>
          <p:nvPr/>
        </p:nvSpPr>
        <p:spPr>
          <a:xfrm xmlns:a="http://schemas.openxmlformats.org/drawingml/2006/main">
            <a:off x="8074152"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19" name="Goal head">
            <a:extLst xmlns:a="http://schemas.openxmlformats.org/drawingml/2006/main">
              <a:ext uri="{FF2B5EF4-FFF2-40B4-BE49-F238E27FC236}">
                <a16:creationId xmlns:a16="http://schemas.microsoft.com/office/drawing/2014/main" id="{F5ADC8EE-55AE-4045-9FA9-82A8B761ACA5}"/>
              </a:ext>
            </a:extLst>
          </p:cNvPr>
          <p:cNvSpPr>
            <a:spLocks xmlns:a="http://schemas.openxmlformats.org/drawingml/2006/main" noGrp="1"/>
          </p:cNvSpPr>
          <p:nvPr/>
        </p:nvSpPr>
        <p:spPr>
          <a:xfrm xmlns:a="http://schemas.openxmlformats.org/drawingml/2006/main">
            <a:off x="8348472"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DESIGN GOAL</a:t>
            </a:r>
            <a:endParaRPr sz="1500"/>
          </a:p>
        </p:txBody>
      </p:sp>
      <p:sp>
        <p:nvSpPr>
          <p:cNvPr id="20" name="Goal body">
            <a:extLst xmlns:a="http://schemas.openxmlformats.org/drawingml/2006/main">
              <a:ext uri="{FF2B5EF4-FFF2-40B4-BE49-F238E27FC236}">
                <a16:creationId xmlns:a16="http://schemas.microsoft.com/office/drawing/2014/main" id="{1F48EFD7-9B86-4C8F-BED4-E1D59B18847B}"/>
              </a:ext>
            </a:extLst>
          </p:cNvPr>
          <p:cNvSpPr>
            <a:spLocks xmlns:a="http://schemas.openxmlformats.org/drawingml/2006/main" noGrp="1"/>
          </p:cNvSpPr>
          <p:nvPr/>
        </p:nvSpPr>
        <p:spPr>
          <a:xfrm xmlns:a="http://schemas.openxmlformats.org/drawingml/2006/main">
            <a:off x="8348472" y="2286000"/>
            <a:ext cx="310896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lgn="l">
              <a:defRPr sz="1400">
                <a:solidFill>
                  <a:srgbClr val="FFFFFF"/>
                </a:solidFill>
                <a:latin typeface="Calibri"/>
                <a:ea typeface="Calibri"/>
                <a:cs typeface="Calibri"/>
              </a:defRPr>
            </a:defPPr>
            <a:lvl1pPr algn="l">
              <a:buNone/>
              <a:defRPr sz="1400">
                <a:solidFill>
                  <a:srgbClr val="FFFFFF"/>
                </a:solidFill>
                <a:latin typeface="Calibri"/>
                <a:ea typeface="Calibri"/>
                <a:cs typeface="Calibri"/>
              </a:defRPr>
            </a:lvl1pPr>
            <a:lvl2pPr algn="l">
              <a:buNone/>
              <a:defRPr sz="1400">
                <a:solidFill>
                  <a:srgbClr val="FFFFFF"/>
                </a:solidFill>
                <a:latin typeface="Calibri"/>
                <a:ea typeface="Calibri"/>
                <a:cs typeface="Calibri"/>
              </a:defRPr>
            </a:lvl2pPr>
            <a:lvl3pPr algn="l">
              <a:buNone/>
              <a:defRPr sz="1400">
                <a:solidFill>
                  <a:srgbClr val="FFFFFF"/>
                </a:solidFill>
                <a:latin typeface="Calibri"/>
                <a:ea typeface="Calibri"/>
                <a:cs typeface="Calibri"/>
              </a:defRPr>
            </a:lvl3pPr>
            <a:lvl4pPr algn="l">
              <a:buNone/>
              <a:defRPr sz="1400">
                <a:solidFill>
                  <a:srgbClr val="FFFFFF"/>
                </a:solidFill>
                <a:latin typeface="Calibri"/>
                <a:ea typeface="Calibri"/>
                <a:cs typeface="Calibri"/>
              </a:defRPr>
            </a:lvl4pPr>
            <a:lvl5pPr algn="l">
              <a:buNone/>
              <a:defRPr sz="1400">
                <a:solidFill>
                  <a:srgbClr val="FFFFFF"/>
                </a:solidFill>
                <a:latin typeface="Calibri"/>
                <a:ea typeface="Calibri"/>
                <a:cs typeface="Calibri"/>
              </a:defRPr>
            </a:lvl5pPr>
            <a:lvl6pPr algn="l">
              <a:buNone/>
              <a:defRPr sz="1400">
                <a:solidFill>
                  <a:srgbClr val="FFFFFF"/>
                </a:solidFill>
                <a:latin typeface="Calibri"/>
                <a:ea typeface="Calibri"/>
                <a:cs typeface="Calibri"/>
              </a:defRPr>
            </a:lvl6pPr>
            <a:lvl7pPr algn="l">
              <a:buNone/>
              <a:defRPr sz="1400">
                <a:solidFill>
                  <a:srgbClr val="FFFFFF"/>
                </a:solidFill>
                <a:latin typeface="Calibri"/>
                <a:ea typeface="Calibri"/>
                <a:cs typeface="Calibri"/>
              </a:defRPr>
            </a:lvl7pPr>
            <a:lvl8pPr algn="l">
              <a:buNone/>
              <a:defRPr sz="1400">
                <a:solidFill>
                  <a:srgbClr val="FFFFFF"/>
                </a:solidFill>
                <a:latin typeface="Calibri"/>
                <a:ea typeface="Calibri"/>
                <a:cs typeface="Calibri"/>
              </a:defRPr>
            </a:lvl8pPr>
            <a:lvl9pPr algn="l">
              <a:buNone/>
              <a:defRPr sz="1400">
                <a:solidFill>
                  <a:srgbClr val="FFFFFF"/>
                </a:solidFill>
                <a:latin typeface="Calibri"/>
                <a:ea typeface="Calibri"/>
                <a:cs typeface="Calibri"/>
              </a:defRPr>
            </a:lvl9pPr>
          </a:lstStyle>
          <a:p xmlns:a="http://schemas.openxmlformats.org/drawingml/2006/main">
            <a:pPr marL="342900" indent="-342900" algn="l">
              <a:spcAft>
                <a:spcPts val="25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Show the source behind every claim.</a:t>
            </a:r>
          </a:p>
          <a:p xmlns:a="http://schemas.openxmlformats.org/drawingml/2006/main">
            <a:pPr marL="342900" indent="-342900" algn="l">
              <a:spcAft>
                <a:spcPts val="25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Keep conflicting claims visible side by side.</a:t>
            </a:r>
          </a:p>
          <a:p xmlns:a="http://schemas.openxmlformats.org/drawingml/2006/main">
            <a:pPr marL="342900" indent="-342900" algn="l">
              <a:spcAft>
                <a:spcPts val="25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Let reviewers replay the graph path.</a:t>
            </a:r>
          </a:p>
          <a:p xmlns:a="http://schemas.openxmlformats.org/drawingml/2006/main">
            <a:pPr marL="342900" indent="-342900" algn="l">
              <a:spcAft>
                <a:spcPts val="25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Support Hindi queries over English records.</a:t>
            </a:r>
          </a:p>
        </p:txBody>
      </p:sp>
      <p:sp>
        <p:nvSpPr>
          <p:cNvPr id="21" name="Wireframe placeholder">
            <a:extLst xmlns:a="http://schemas.openxmlformats.org/drawingml/2006/main">
              <a:ext uri="{FF2B5EF4-FFF2-40B4-BE49-F238E27FC236}">
                <a16:creationId xmlns:a16="http://schemas.microsoft.com/office/drawing/2014/main" id="{F1427D5C-8E20-47D1-B890-3D0BFE2E447E}"/>
              </a:ext>
            </a:extLst>
          </p:cNvPr>
          <p:cNvSpPr>
            <a:spLocks xmlns:a="http://schemas.openxmlformats.org/drawingml/2006/main" noGrp="1"/>
          </p:cNvSpPr>
          <p:nvPr/>
        </p:nvSpPr>
        <p:spPr>
          <a:xfrm xmlns:a="http://schemas.openxmlformats.org/drawingml/2006/main">
            <a:off x="8348472" y="4206240"/>
            <a:ext cx="3108960" cy="1645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i="1">
                <a:solidFill>
                  <a:srgbClr val="9CC4FF"/>
                </a:solidFill>
                <a:latin typeface="Calibri"/>
                <a:ea typeface="Calibri"/>
                <a:cs typeface="Calibri"/>
              </a:rPr>
              <a:t>Question → claim → source document</a:t>
            </a:r>
            <a:endParaRPr sz="1300"/>
          </a:p>
        </p:txBody>
      </p:sp>
      <p:sp>
        <p:nvSpPr>
          <p:cNvPr id="25" name="Slide Number Placeholder 0">
            <a:extLst xmlns:a="http://schemas.openxmlformats.org/drawingml/2006/main">
              <a:ext uri="{FF2B5EF4-FFF2-40B4-BE49-F238E27FC236}">
                <a16:creationId xmlns:a16="http://schemas.microsoft.com/office/drawing/2014/main" id="{F133C4AF-F8E3-4F4E-B6DB-3868DCBD8213}"/>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4</a:t>
            </a:fld>
            <a:endParaRPr/>
          </a:p>
        </p:txBody>
      </p:sp>
    </p:spTree>
    <p:extLst>
      <p:ext uri="{BB962C8B-B14F-4D97-AF65-F5344CB8AC3E}">
        <p14:creationId xmlns:p14="http://schemas.microsoft.com/office/powerpoint/2010/main" val="126562562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C8B109D-F983-49F5-BF3B-94D3D2328EBE}"/>
              </a:ext>
            </a:extLst>
          </p:cNvPr>
          <p:cNvSpPr>
            <a:spLocks xmlns:a="http://schemas.openxmlformats.org/drawingml/2006/main" noGrp="1"/>
          </p:cNvSpPr>
          <p:nvPr/>
        </p:nvSpPr>
        <p:spPr>
          <a:xfrm xmlns:a="http://schemas.openxmlformats.org/drawingml/2006/main">
            <a:off x="457200" y="960120"/>
            <a:ext cx="1127455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600" b="1" spc="200">
                <a:solidFill>
                  <a:srgbClr val="FFFFFF"/>
                </a:solidFill>
                <a:latin typeface="Arial"/>
                <a:ea typeface="Arial"/>
                <a:cs typeface="Arial"/>
              </a:rPr>
              <a:t>FEASIBILITY AND VIABILITY</a:t>
            </a:r>
            <a:endParaRPr sz="3600"/>
          </a:p>
        </p:txBody>
      </p:sp>
      <p:sp>
        <p:nvSpPr>
          <p:cNvPr id="3" name="Team tag">
            <a:extLst xmlns:a="http://schemas.openxmlformats.org/drawingml/2006/main">
              <a:ext uri="{FF2B5EF4-FFF2-40B4-BE49-F238E27FC236}">
                <a16:creationId xmlns:a16="http://schemas.microsoft.com/office/drawing/2014/main" id="{A9D6734E-1CC5-41F0-8509-1CFEA4791C8C}"/>
              </a:ext>
            </a:extLst>
          </p:cNvPr>
          <p:cNvSpPr>
            <a:spLocks xmlns:a="http://schemas.openxmlformats.org/drawingml/2006/main" noGrp="1"/>
          </p:cNvSpPr>
          <p:nvPr/>
        </p:nvSpPr>
        <p:spPr>
          <a:xfrm xmlns:a="http://schemas.openxmlformats.org/drawingml/2006/main">
            <a:off x="8503920" y="1097280"/>
            <a:ext cx="322783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9CC4FF"/>
                </a:solidFill>
                <a:latin typeface="Calibri"/>
                <a:ea typeface="Calibri"/>
                <a:cs typeface="Calibri"/>
              </a:rPr>
              <a:t>DataTrust AI  |  Team ID pending</a:t>
            </a:r>
            <a:endParaRPr sz="1200"/>
          </a:p>
        </p:txBody>
      </p:sp>
      <p:sp>
        <p:nvSpPr>
          <p:cNvPr id="4" name="Technical Feasibility card">
            <a:extLst xmlns:a="http://schemas.openxmlformats.org/drawingml/2006/main">
              <a:ext uri="{FF2B5EF4-FFF2-40B4-BE49-F238E27FC236}">
                <a16:creationId xmlns:a16="http://schemas.microsoft.com/office/drawing/2014/main" id="{1BAC6998-7A03-4B89-AFCC-05C34C148E14}"/>
              </a:ext>
            </a:extLst>
          </p:cNvPr>
          <p:cNvSpPr>
            <a:spLocks xmlns:a="http://schemas.openxmlformats.org/drawingml/2006/main" noGrp="1"/>
          </p:cNvSpPr>
          <p:nvPr/>
        </p:nvSpPr>
        <p:spPr>
          <a:xfrm xmlns:a="http://schemas.openxmlformats.org/drawingml/2006/main">
            <a:off x="457200"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5" name="Technical Feasibility head">
            <a:extLst xmlns:a="http://schemas.openxmlformats.org/drawingml/2006/main">
              <a:ext uri="{FF2B5EF4-FFF2-40B4-BE49-F238E27FC236}">
                <a16:creationId xmlns:a16="http://schemas.microsoft.com/office/drawing/2014/main" id="{9067B5D4-D149-465D-8D5D-567BCCE1E24B}"/>
              </a:ext>
            </a:extLst>
          </p:cNvPr>
          <p:cNvSpPr>
            <a:spLocks xmlns:a="http://schemas.openxmlformats.org/drawingml/2006/main" noGrp="1"/>
          </p:cNvSpPr>
          <p:nvPr/>
        </p:nvSpPr>
        <p:spPr>
          <a:xfrm xmlns:a="http://schemas.openxmlformats.org/drawingml/2006/main">
            <a:off x="731520"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TECHNICAL FEASIBILITY</a:t>
            </a:r>
            <a:endParaRPr sz="1500"/>
          </a:p>
        </p:txBody>
      </p:sp>
      <p:sp>
        <p:nvSpPr>
          <p:cNvPr id="6" name="Technical Feasibility body">
            <a:extLst xmlns:a="http://schemas.openxmlformats.org/drawingml/2006/main">
              <a:ext uri="{FF2B5EF4-FFF2-40B4-BE49-F238E27FC236}">
                <a16:creationId xmlns:a16="http://schemas.microsoft.com/office/drawing/2014/main" id="{881F0955-00CA-4185-A707-555AC67065B9}"/>
              </a:ext>
            </a:extLst>
          </p:cNvPr>
          <p:cNvSpPr>
            <a:spLocks xmlns:a="http://schemas.openxmlformats.org/drawingml/2006/main" noGrp="1"/>
          </p:cNvSpPr>
          <p:nvPr/>
        </p:nvSpPr>
        <p:spPr>
          <a:xfrm xmlns:a="http://schemas.openxmlformats.org/drawingml/2006/main">
            <a:off x="731520" y="2377440"/>
            <a:ext cx="310896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lgn="l">
              <a:defRPr sz="1400">
                <a:solidFill>
                  <a:srgbClr val="FFFFFF"/>
                </a:solidFill>
                <a:latin typeface="Calibri"/>
                <a:ea typeface="Calibri"/>
                <a:cs typeface="Calibri"/>
              </a:defRPr>
            </a:defPPr>
            <a:lvl1pPr algn="l">
              <a:buNone/>
              <a:defRPr sz="1400">
                <a:solidFill>
                  <a:srgbClr val="FFFFFF"/>
                </a:solidFill>
                <a:latin typeface="Calibri"/>
                <a:ea typeface="Calibri"/>
                <a:cs typeface="Calibri"/>
              </a:defRPr>
            </a:lvl1pPr>
            <a:lvl2pPr algn="l">
              <a:buNone/>
              <a:defRPr sz="1400">
                <a:solidFill>
                  <a:srgbClr val="FFFFFF"/>
                </a:solidFill>
                <a:latin typeface="Calibri"/>
                <a:ea typeface="Calibri"/>
                <a:cs typeface="Calibri"/>
              </a:defRPr>
            </a:lvl2pPr>
            <a:lvl3pPr algn="l">
              <a:buNone/>
              <a:defRPr sz="1400">
                <a:solidFill>
                  <a:srgbClr val="FFFFFF"/>
                </a:solidFill>
                <a:latin typeface="Calibri"/>
                <a:ea typeface="Calibri"/>
                <a:cs typeface="Calibri"/>
              </a:defRPr>
            </a:lvl3pPr>
            <a:lvl4pPr algn="l">
              <a:buNone/>
              <a:defRPr sz="1400">
                <a:solidFill>
                  <a:srgbClr val="FFFFFF"/>
                </a:solidFill>
                <a:latin typeface="Calibri"/>
                <a:ea typeface="Calibri"/>
                <a:cs typeface="Calibri"/>
              </a:defRPr>
            </a:lvl4pPr>
            <a:lvl5pPr algn="l">
              <a:buNone/>
              <a:defRPr sz="1400">
                <a:solidFill>
                  <a:srgbClr val="FFFFFF"/>
                </a:solidFill>
                <a:latin typeface="Calibri"/>
                <a:ea typeface="Calibri"/>
                <a:cs typeface="Calibri"/>
              </a:defRPr>
            </a:lvl5pPr>
            <a:lvl6pPr algn="l">
              <a:buNone/>
              <a:defRPr sz="1400">
                <a:solidFill>
                  <a:srgbClr val="FFFFFF"/>
                </a:solidFill>
                <a:latin typeface="Calibri"/>
                <a:ea typeface="Calibri"/>
                <a:cs typeface="Calibri"/>
              </a:defRPr>
            </a:lvl6pPr>
            <a:lvl7pPr algn="l">
              <a:buNone/>
              <a:defRPr sz="1400">
                <a:solidFill>
                  <a:srgbClr val="FFFFFF"/>
                </a:solidFill>
                <a:latin typeface="Calibri"/>
                <a:ea typeface="Calibri"/>
                <a:cs typeface="Calibri"/>
              </a:defRPr>
            </a:lvl7pPr>
            <a:lvl8pPr algn="l">
              <a:buNone/>
              <a:defRPr sz="1400">
                <a:solidFill>
                  <a:srgbClr val="FFFFFF"/>
                </a:solidFill>
                <a:latin typeface="Calibri"/>
                <a:ea typeface="Calibri"/>
                <a:cs typeface="Calibri"/>
              </a:defRPr>
            </a:lvl8pPr>
            <a:lvl9pPr algn="l">
              <a:buNone/>
              <a:defRPr sz="1400">
                <a:solidFill>
                  <a:srgbClr val="FFFFFF"/>
                </a:solidFill>
                <a:latin typeface="Calibri"/>
                <a:ea typeface="Calibri"/>
                <a:cs typeface="Calibri"/>
              </a:defRPr>
            </a:lvl9pPr>
          </a:lstStyle>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Python, FastAPI, and SQLite run locally.</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A document mutation replaces only that document's index and graph records.</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Batch ingestion accepts up to 2,000 documents per request.</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Results report time, failures, ignored instructions, and graph size.</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Seeded SQLite datasets support repeatable local runs.</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The deterministic test flow needs no paid model API key.</a:t>
            </a:r>
          </a:p>
        </p:txBody>
      </p:sp>
      <p:sp>
        <p:nvSpPr>
          <p:cNvPr id="7" name="Economic Feasibility card">
            <a:extLst xmlns:a="http://schemas.openxmlformats.org/drawingml/2006/main">
              <a:ext uri="{FF2B5EF4-FFF2-40B4-BE49-F238E27FC236}">
                <a16:creationId xmlns:a16="http://schemas.microsoft.com/office/drawing/2014/main" id="{A7A75D63-DF7D-427D-8FD8-0933F1F0985F}"/>
              </a:ext>
            </a:extLst>
          </p:cNvPr>
          <p:cNvSpPr>
            <a:spLocks xmlns:a="http://schemas.openxmlformats.org/drawingml/2006/main" noGrp="1"/>
          </p:cNvSpPr>
          <p:nvPr/>
        </p:nvSpPr>
        <p:spPr>
          <a:xfrm xmlns:a="http://schemas.openxmlformats.org/drawingml/2006/main">
            <a:off x="4270248"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8" name="Economic Feasibility head">
            <a:extLst xmlns:a="http://schemas.openxmlformats.org/drawingml/2006/main">
              <a:ext uri="{FF2B5EF4-FFF2-40B4-BE49-F238E27FC236}">
                <a16:creationId xmlns:a16="http://schemas.microsoft.com/office/drawing/2014/main" id="{3333672E-7C7F-475C-B0F4-EA39C06A3490}"/>
              </a:ext>
            </a:extLst>
          </p:cNvPr>
          <p:cNvSpPr>
            <a:spLocks xmlns:a="http://schemas.openxmlformats.org/drawingml/2006/main" noGrp="1"/>
          </p:cNvSpPr>
          <p:nvPr/>
        </p:nvSpPr>
        <p:spPr>
          <a:xfrm xmlns:a="http://schemas.openxmlformats.org/drawingml/2006/main">
            <a:off x="4544568"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ECONOMIC FEASIBILITY</a:t>
            </a:r>
            <a:endParaRPr sz="1500"/>
          </a:p>
        </p:txBody>
      </p:sp>
      <p:sp>
        <p:nvSpPr>
          <p:cNvPr id="9" name="Economic Feasibility body">
            <a:extLst xmlns:a="http://schemas.openxmlformats.org/drawingml/2006/main">
              <a:ext uri="{FF2B5EF4-FFF2-40B4-BE49-F238E27FC236}">
                <a16:creationId xmlns:a16="http://schemas.microsoft.com/office/drawing/2014/main" id="{AE81AC13-FFED-427C-AD02-E1CEDCCCF22F}"/>
              </a:ext>
            </a:extLst>
          </p:cNvPr>
          <p:cNvSpPr>
            <a:spLocks xmlns:a="http://schemas.openxmlformats.org/drawingml/2006/main" noGrp="1"/>
          </p:cNvSpPr>
          <p:nvPr/>
        </p:nvSpPr>
        <p:spPr>
          <a:xfrm xmlns:a="http://schemas.openxmlformats.org/drawingml/2006/main">
            <a:off x="4544568" y="2377440"/>
            <a:ext cx="310896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lgn="l">
              <a:defRPr sz="1400">
                <a:solidFill>
                  <a:srgbClr val="FFFFFF"/>
                </a:solidFill>
                <a:latin typeface="Calibri"/>
                <a:ea typeface="Calibri"/>
                <a:cs typeface="Calibri"/>
              </a:defRPr>
            </a:defPPr>
            <a:lvl1pPr algn="l">
              <a:buNone/>
              <a:defRPr sz="1400">
                <a:solidFill>
                  <a:srgbClr val="FFFFFF"/>
                </a:solidFill>
                <a:latin typeface="Calibri"/>
                <a:ea typeface="Calibri"/>
                <a:cs typeface="Calibri"/>
              </a:defRPr>
            </a:lvl1pPr>
            <a:lvl2pPr algn="l">
              <a:buNone/>
              <a:defRPr sz="1400">
                <a:solidFill>
                  <a:srgbClr val="FFFFFF"/>
                </a:solidFill>
                <a:latin typeface="Calibri"/>
                <a:ea typeface="Calibri"/>
                <a:cs typeface="Calibri"/>
              </a:defRPr>
            </a:lvl2pPr>
            <a:lvl3pPr algn="l">
              <a:buNone/>
              <a:defRPr sz="1400">
                <a:solidFill>
                  <a:srgbClr val="FFFFFF"/>
                </a:solidFill>
                <a:latin typeface="Calibri"/>
                <a:ea typeface="Calibri"/>
                <a:cs typeface="Calibri"/>
              </a:defRPr>
            </a:lvl3pPr>
            <a:lvl4pPr algn="l">
              <a:buNone/>
              <a:defRPr sz="1400">
                <a:solidFill>
                  <a:srgbClr val="FFFFFF"/>
                </a:solidFill>
                <a:latin typeface="Calibri"/>
                <a:ea typeface="Calibri"/>
                <a:cs typeface="Calibri"/>
              </a:defRPr>
            </a:lvl4pPr>
            <a:lvl5pPr algn="l">
              <a:buNone/>
              <a:defRPr sz="1400">
                <a:solidFill>
                  <a:srgbClr val="FFFFFF"/>
                </a:solidFill>
                <a:latin typeface="Calibri"/>
                <a:ea typeface="Calibri"/>
                <a:cs typeface="Calibri"/>
              </a:defRPr>
            </a:lvl5pPr>
            <a:lvl6pPr algn="l">
              <a:buNone/>
              <a:defRPr sz="1400">
                <a:solidFill>
                  <a:srgbClr val="FFFFFF"/>
                </a:solidFill>
                <a:latin typeface="Calibri"/>
                <a:ea typeface="Calibri"/>
                <a:cs typeface="Calibri"/>
              </a:defRPr>
            </a:lvl6pPr>
            <a:lvl7pPr algn="l">
              <a:buNone/>
              <a:defRPr sz="1400">
                <a:solidFill>
                  <a:srgbClr val="FFFFFF"/>
                </a:solidFill>
                <a:latin typeface="Calibri"/>
                <a:ea typeface="Calibri"/>
                <a:cs typeface="Calibri"/>
              </a:defRPr>
            </a:lvl7pPr>
            <a:lvl8pPr algn="l">
              <a:buNone/>
              <a:defRPr sz="1400">
                <a:solidFill>
                  <a:srgbClr val="FFFFFF"/>
                </a:solidFill>
                <a:latin typeface="Calibri"/>
                <a:ea typeface="Calibri"/>
                <a:cs typeface="Calibri"/>
              </a:defRPr>
            </a:lvl8pPr>
            <a:lvl9pPr algn="l">
              <a:buNone/>
              <a:defRPr sz="1400">
                <a:solidFill>
                  <a:srgbClr val="FFFFFF"/>
                </a:solidFill>
                <a:latin typeface="Calibri"/>
                <a:ea typeface="Calibri"/>
                <a:cs typeface="Calibri"/>
              </a:defRPr>
            </a:lvl9pPr>
          </a:lstStyle>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Current stage: working local prototype.</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The deterministic test path uses no paid API key.</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Likely cost drivers: hosting, source connectors, and support.</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Hosting and integration costs have not been measured.</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Pilot pricing and return on investment remain unvalidated.</a:t>
            </a:r>
          </a:p>
        </p:txBody>
      </p:sp>
      <p:sp>
        <p:nvSpPr>
          <p:cNvPr id="10" name="Operational Viability card">
            <a:extLst xmlns:a="http://schemas.openxmlformats.org/drawingml/2006/main">
              <a:ext uri="{FF2B5EF4-FFF2-40B4-BE49-F238E27FC236}">
                <a16:creationId xmlns:a16="http://schemas.microsoft.com/office/drawing/2014/main" id="{B5759BA6-FE8F-4F7D-A38E-6C5E0AF235DD}"/>
              </a:ext>
            </a:extLst>
          </p:cNvPr>
          <p:cNvSpPr>
            <a:spLocks xmlns:a="http://schemas.openxmlformats.org/drawingml/2006/main" noGrp="1"/>
          </p:cNvSpPr>
          <p:nvPr/>
        </p:nvSpPr>
        <p:spPr>
          <a:xfrm xmlns:a="http://schemas.openxmlformats.org/drawingml/2006/main">
            <a:off x="8083296"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11" name="Operational Viability head">
            <a:extLst xmlns:a="http://schemas.openxmlformats.org/drawingml/2006/main">
              <a:ext uri="{FF2B5EF4-FFF2-40B4-BE49-F238E27FC236}">
                <a16:creationId xmlns:a16="http://schemas.microsoft.com/office/drawing/2014/main" id="{F278E489-FE61-4DF6-90BF-A2184B4CED01}"/>
              </a:ext>
            </a:extLst>
          </p:cNvPr>
          <p:cNvSpPr>
            <a:spLocks xmlns:a="http://schemas.openxmlformats.org/drawingml/2006/main" noGrp="1"/>
          </p:cNvSpPr>
          <p:nvPr/>
        </p:nvSpPr>
        <p:spPr>
          <a:xfrm xmlns:a="http://schemas.openxmlformats.org/drawingml/2006/main">
            <a:off x="8357616"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OPERATIONAL VIABILITY</a:t>
            </a:r>
            <a:endParaRPr sz="1500"/>
          </a:p>
        </p:txBody>
      </p:sp>
      <p:sp>
        <p:nvSpPr>
          <p:cNvPr id="12" name="Operational Viability body">
            <a:extLst xmlns:a="http://schemas.openxmlformats.org/drawingml/2006/main">
              <a:ext uri="{FF2B5EF4-FFF2-40B4-BE49-F238E27FC236}">
                <a16:creationId xmlns:a16="http://schemas.microsoft.com/office/drawing/2014/main" id="{73EAD07D-1697-43B4-89CC-5FCD50FB5832}"/>
              </a:ext>
            </a:extLst>
          </p:cNvPr>
          <p:cNvSpPr>
            <a:spLocks xmlns:a="http://schemas.openxmlformats.org/drawingml/2006/main" noGrp="1"/>
          </p:cNvSpPr>
          <p:nvPr/>
        </p:nvSpPr>
        <p:spPr>
          <a:xfrm xmlns:a="http://schemas.openxmlformats.org/drawingml/2006/main">
            <a:off x="8357616" y="2377440"/>
            <a:ext cx="310896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lgn="l">
              <a:defRPr sz="1400">
                <a:solidFill>
                  <a:srgbClr val="FFFFFF"/>
                </a:solidFill>
                <a:latin typeface="Calibri"/>
                <a:ea typeface="Calibri"/>
                <a:cs typeface="Calibri"/>
              </a:defRPr>
            </a:defPPr>
            <a:lvl1pPr algn="l">
              <a:buNone/>
              <a:defRPr sz="1400">
                <a:solidFill>
                  <a:srgbClr val="FFFFFF"/>
                </a:solidFill>
                <a:latin typeface="Calibri"/>
                <a:ea typeface="Calibri"/>
                <a:cs typeface="Calibri"/>
              </a:defRPr>
            </a:lvl1pPr>
            <a:lvl2pPr algn="l">
              <a:buNone/>
              <a:defRPr sz="1400">
                <a:solidFill>
                  <a:srgbClr val="FFFFFF"/>
                </a:solidFill>
                <a:latin typeface="Calibri"/>
                <a:ea typeface="Calibri"/>
                <a:cs typeface="Calibri"/>
              </a:defRPr>
            </a:lvl2pPr>
            <a:lvl3pPr algn="l">
              <a:buNone/>
              <a:defRPr sz="1400">
                <a:solidFill>
                  <a:srgbClr val="FFFFFF"/>
                </a:solidFill>
                <a:latin typeface="Calibri"/>
                <a:ea typeface="Calibri"/>
                <a:cs typeface="Calibri"/>
              </a:defRPr>
            </a:lvl3pPr>
            <a:lvl4pPr algn="l">
              <a:buNone/>
              <a:defRPr sz="1400">
                <a:solidFill>
                  <a:srgbClr val="FFFFFF"/>
                </a:solidFill>
                <a:latin typeface="Calibri"/>
                <a:ea typeface="Calibri"/>
                <a:cs typeface="Calibri"/>
              </a:defRPr>
            </a:lvl4pPr>
            <a:lvl5pPr algn="l">
              <a:buNone/>
              <a:defRPr sz="1400">
                <a:solidFill>
                  <a:srgbClr val="FFFFFF"/>
                </a:solidFill>
                <a:latin typeface="Calibri"/>
                <a:ea typeface="Calibri"/>
                <a:cs typeface="Calibri"/>
              </a:defRPr>
            </a:lvl5pPr>
            <a:lvl6pPr algn="l">
              <a:buNone/>
              <a:defRPr sz="1400">
                <a:solidFill>
                  <a:srgbClr val="FFFFFF"/>
                </a:solidFill>
                <a:latin typeface="Calibri"/>
                <a:ea typeface="Calibri"/>
                <a:cs typeface="Calibri"/>
              </a:defRPr>
            </a:lvl6pPr>
            <a:lvl7pPr algn="l">
              <a:buNone/>
              <a:defRPr sz="1400">
                <a:solidFill>
                  <a:srgbClr val="FFFFFF"/>
                </a:solidFill>
                <a:latin typeface="Calibri"/>
                <a:ea typeface="Calibri"/>
                <a:cs typeface="Calibri"/>
              </a:defRPr>
            </a:lvl7pPr>
            <a:lvl8pPr algn="l">
              <a:buNone/>
              <a:defRPr sz="1400">
                <a:solidFill>
                  <a:srgbClr val="FFFFFF"/>
                </a:solidFill>
                <a:latin typeface="Calibri"/>
                <a:ea typeface="Calibri"/>
                <a:cs typeface="Calibri"/>
              </a:defRPr>
            </a:lvl8pPr>
            <a:lvl9pPr algn="l">
              <a:buNone/>
              <a:defRPr sz="1400">
                <a:solidFill>
                  <a:srgbClr val="FFFFFF"/>
                </a:solidFill>
                <a:latin typeface="Calibri"/>
                <a:ea typeface="Calibri"/>
                <a:cs typeface="Calibri"/>
              </a:defRPr>
            </a:lvl9pPr>
          </a:lstStyle>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Frontend runs locally on port 5173; API on 8001.</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Batch API accepts up to 2,000 documents per request.</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Extraction rules need broader-corpus checks.</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Conflicts remain visible for human review.</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A pilot should measure accuracy and update time before scaling.</a:t>
            </a:r>
          </a:p>
        </p:txBody>
      </p:sp>
      <p:sp>
        <p:nvSpPr>
          <p:cNvPr id="25" name="Slide Number Placeholder 0">
            <a:extLst xmlns:a="http://schemas.openxmlformats.org/drawingml/2006/main">
              <a:ext uri="{FF2B5EF4-FFF2-40B4-BE49-F238E27FC236}">
                <a16:creationId xmlns:a16="http://schemas.microsoft.com/office/drawing/2014/main" id="{8107E5C4-5414-4027-86D6-8FE5EAD1A816}"/>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5</a:t>
            </a:fld>
            <a:endParaRPr/>
          </a:p>
        </p:txBody>
      </p:sp>
    </p:spTree>
    <p:extLst>
      <p:ext uri="{BB962C8B-B14F-4D97-AF65-F5344CB8AC3E}">
        <p14:creationId xmlns:p14="http://schemas.microsoft.com/office/powerpoint/2010/main" val="201638881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9976D94-CDF9-4B2E-9107-53723F2670B1}"/>
              </a:ext>
            </a:extLst>
          </p:cNvPr>
          <p:cNvSpPr>
            <a:spLocks xmlns:a="http://schemas.openxmlformats.org/drawingml/2006/main" noGrp="1"/>
          </p:cNvSpPr>
          <p:nvPr/>
        </p:nvSpPr>
        <p:spPr>
          <a:xfrm xmlns:a="http://schemas.openxmlformats.org/drawingml/2006/main">
            <a:off x="457200" y="960120"/>
            <a:ext cx="1127455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600" b="1" spc="200">
                <a:solidFill>
                  <a:srgbClr val="FFFFFF"/>
                </a:solidFill>
                <a:latin typeface="Arial"/>
                <a:ea typeface="Arial"/>
                <a:cs typeface="Arial"/>
              </a:rPr>
              <a:t>IMPACT AND BENEFITS</a:t>
            </a:r>
            <a:endParaRPr sz="3600"/>
          </a:p>
        </p:txBody>
      </p:sp>
      <p:sp>
        <p:nvSpPr>
          <p:cNvPr id="3" name="Team tag">
            <a:extLst xmlns:a="http://schemas.openxmlformats.org/drawingml/2006/main">
              <a:ext uri="{FF2B5EF4-FFF2-40B4-BE49-F238E27FC236}">
                <a16:creationId xmlns:a16="http://schemas.microsoft.com/office/drawing/2014/main" id="{D513DB1C-2F83-4220-A533-7474E89D6D8A}"/>
              </a:ext>
            </a:extLst>
          </p:cNvPr>
          <p:cNvSpPr>
            <a:spLocks xmlns:a="http://schemas.openxmlformats.org/drawingml/2006/main" noGrp="1"/>
          </p:cNvSpPr>
          <p:nvPr/>
        </p:nvSpPr>
        <p:spPr>
          <a:xfrm xmlns:a="http://schemas.openxmlformats.org/drawingml/2006/main">
            <a:off x="8503920" y="1097280"/>
            <a:ext cx="322783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9CC4FF"/>
                </a:solidFill>
                <a:latin typeface="Calibri"/>
                <a:ea typeface="Calibri"/>
                <a:cs typeface="Calibri"/>
              </a:rPr>
              <a:t>DataTrust AI  |  Team ID pending</a:t>
            </a:r>
            <a:endParaRPr sz="1200"/>
          </a:p>
        </p:txBody>
      </p:sp>
      <p:sp>
        <p:nvSpPr>
          <p:cNvPr id="4" name="Social Impact card">
            <a:extLst xmlns:a="http://schemas.openxmlformats.org/drawingml/2006/main">
              <a:ext uri="{FF2B5EF4-FFF2-40B4-BE49-F238E27FC236}">
                <a16:creationId xmlns:a16="http://schemas.microsoft.com/office/drawing/2014/main" id="{C192C4B7-72F7-4389-A573-175365065134}"/>
              </a:ext>
            </a:extLst>
          </p:cNvPr>
          <p:cNvSpPr>
            <a:spLocks xmlns:a="http://schemas.openxmlformats.org/drawingml/2006/main" noGrp="1"/>
          </p:cNvSpPr>
          <p:nvPr/>
        </p:nvSpPr>
        <p:spPr>
          <a:xfrm xmlns:a="http://schemas.openxmlformats.org/drawingml/2006/main">
            <a:off x="457200" y="1691640"/>
            <a:ext cx="5486400" cy="2103120"/>
          </a:xfrm>
          <a:prstGeom xmlns:a="http://schemas.openxmlformats.org/drawingml/2006/main" prst="roundRect">
            <a:avLst>
              <a:gd name="adj" fmla="val 5217"/>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5" name="Social Impact badge">
            <a:extLst xmlns:a="http://schemas.openxmlformats.org/drawingml/2006/main">
              <a:ext uri="{FF2B5EF4-FFF2-40B4-BE49-F238E27FC236}">
                <a16:creationId xmlns:a16="http://schemas.microsoft.com/office/drawing/2014/main" id="{C5566014-5924-45A0-8383-9FFF71125875}"/>
              </a:ext>
            </a:extLst>
          </p:cNvPr>
          <p:cNvSpPr>
            <a:spLocks xmlns:a="http://schemas.openxmlformats.org/drawingml/2006/main" noGrp="1"/>
          </p:cNvSpPr>
          <p:nvPr/>
        </p:nvSpPr>
        <p:spPr>
          <a:xfrm xmlns:a="http://schemas.openxmlformats.org/drawingml/2006/main">
            <a:off x="731520" y="1965960"/>
            <a:ext cx="548640" cy="548640"/>
          </a:xfrm>
          <a:prstGeom xmlns:a="http://schemas.openxmlformats.org/drawingml/2006/main" prst="ellipse">
            <a:avLst/>
          </a:prstGeom>
          <a:solidFill xmlns:a="http://schemas.openxmlformats.org/drawingml/2006/main">
            <a:schemeClr val="accent1"/>
          </a:solidFill>
          <a:ln xmlns:a="http://schemas.openxmlformats.org/drawingml/2006/main" w="12700">
            <a:solidFill>
              <a:srgbClr val="FFFFFF"/>
            </a:solidFill>
            <a:prstDash val="solid"/>
          </a:ln>
        </p:spPr>
      </p:sp>
      <p:sp>
        <p:nvSpPr>
          <p:cNvPr id="6" name="Text 4">
            <a:extLst xmlns:a="http://schemas.openxmlformats.org/drawingml/2006/main">
              <a:ext uri="{FF2B5EF4-FFF2-40B4-BE49-F238E27FC236}">
                <a16:creationId xmlns:a16="http://schemas.microsoft.com/office/drawing/2014/main" id="{7B284CBA-4B94-41EC-BB97-501CB7E9F40F}"/>
              </a:ext>
            </a:extLst>
          </p:cNvPr>
          <p:cNvSpPr>
            <a:spLocks xmlns:a="http://schemas.openxmlformats.org/drawingml/2006/main" noGrp="1"/>
          </p:cNvSpPr>
          <p:nvPr/>
        </p:nvSpPr>
        <p:spPr>
          <a:xfrm xmlns:a="http://schemas.openxmlformats.org/drawingml/2006/main">
            <a:off x="731520" y="196596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Arial"/>
                <a:ea typeface="Arial"/>
                <a:cs typeface="Arial"/>
              </a:rPr>
              <a:t>1</a:t>
            </a:r>
            <a:endParaRPr sz="1800"/>
          </a:p>
        </p:txBody>
      </p:sp>
      <p:sp>
        <p:nvSpPr>
          <p:cNvPr id="7" name="Social Impact head">
            <a:extLst xmlns:a="http://schemas.openxmlformats.org/drawingml/2006/main">
              <a:ext uri="{FF2B5EF4-FFF2-40B4-BE49-F238E27FC236}">
                <a16:creationId xmlns:a16="http://schemas.microsoft.com/office/drawing/2014/main" id="{13DBEE0A-6B27-44CC-B1FD-C08CD8EB5500}"/>
              </a:ext>
            </a:extLst>
          </p:cNvPr>
          <p:cNvSpPr>
            <a:spLocks xmlns:a="http://schemas.openxmlformats.org/drawingml/2006/main" noGrp="1"/>
          </p:cNvSpPr>
          <p:nvPr/>
        </p:nvSpPr>
        <p:spPr>
          <a:xfrm xmlns:a="http://schemas.openxmlformats.org/drawingml/2006/main">
            <a:off x="1554480" y="205740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SOCIAL IMPACT</a:t>
            </a:r>
            <a:endParaRPr sz="1500"/>
          </a:p>
        </p:txBody>
      </p:sp>
      <p:sp>
        <p:nvSpPr>
          <p:cNvPr id="8" name="Social Impact body">
            <a:extLst xmlns:a="http://schemas.openxmlformats.org/drawingml/2006/main">
              <a:ext uri="{FF2B5EF4-FFF2-40B4-BE49-F238E27FC236}">
                <a16:creationId xmlns:a16="http://schemas.microsoft.com/office/drawing/2014/main" id="{6F7AC066-E267-444A-B3BB-3D6B81979588}"/>
              </a:ext>
            </a:extLst>
          </p:cNvPr>
          <p:cNvSpPr>
            <a:spLocks xmlns:a="http://schemas.openxmlformats.org/drawingml/2006/main" noGrp="1"/>
          </p:cNvSpPr>
          <p:nvPr/>
        </p:nvSpPr>
        <p:spPr>
          <a:xfrm xmlns:a="http://schemas.openxmlformats.org/drawingml/2006/main">
            <a:off x="1554480" y="2514600"/>
            <a:ext cx="41148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lgn="l">
              <a:defRPr sz="1400">
                <a:solidFill>
                  <a:srgbClr val="FFFFFF"/>
                </a:solidFill>
                <a:latin typeface="Calibri"/>
                <a:ea typeface="Calibri"/>
                <a:cs typeface="Calibri"/>
              </a:defRPr>
            </a:defPPr>
            <a:lvl1pPr algn="l">
              <a:buNone/>
              <a:defRPr sz="1400">
                <a:solidFill>
                  <a:srgbClr val="FFFFFF"/>
                </a:solidFill>
                <a:latin typeface="Calibri"/>
                <a:ea typeface="Calibri"/>
                <a:cs typeface="Calibri"/>
              </a:defRPr>
            </a:lvl1pPr>
            <a:lvl2pPr algn="l">
              <a:buNone/>
              <a:defRPr sz="1400">
                <a:solidFill>
                  <a:srgbClr val="FFFFFF"/>
                </a:solidFill>
                <a:latin typeface="Calibri"/>
                <a:ea typeface="Calibri"/>
                <a:cs typeface="Calibri"/>
              </a:defRPr>
            </a:lvl2pPr>
            <a:lvl3pPr algn="l">
              <a:buNone/>
              <a:defRPr sz="1400">
                <a:solidFill>
                  <a:srgbClr val="FFFFFF"/>
                </a:solidFill>
                <a:latin typeface="Calibri"/>
                <a:ea typeface="Calibri"/>
                <a:cs typeface="Calibri"/>
              </a:defRPr>
            </a:lvl3pPr>
            <a:lvl4pPr algn="l">
              <a:buNone/>
              <a:defRPr sz="1400">
                <a:solidFill>
                  <a:srgbClr val="FFFFFF"/>
                </a:solidFill>
                <a:latin typeface="Calibri"/>
                <a:ea typeface="Calibri"/>
                <a:cs typeface="Calibri"/>
              </a:defRPr>
            </a:lvl4pPr>
            <a:lvl5pPr algn="l">
              <a:buNone/>
              <a:defRPr sz="1400">
                <a:solidFill>
                  <a:srgbClr val="FFFFFF"/>
                </a:solidFill>
                <a:latin typeface="Calibri"/>
                <a:ea typeface="Calibri"/>
                <a:cs typeface="Calibri"/>
              </a:defRPr>
            </a:lvl5pPr>
            <a:lvl6pPr algn="l">
              <a:buNone/>
              <a:defRPr sz="1400">
                <a:solidFill>
                  <a:srgbClr val="FFFFFF"/>
                </a:solidFill>
                <a:latin typeface="Calibri"/>
                <a:ea typeface="Calibri"/>
                <a:cs typeface="Calibri"/>
              </a:defRPr>
            </a:lvl6pPr>
            <a:lvl7pPr algn="l">
              <a:buNone/>
              <a:defRPr sz="1400">
                <a:solidFill>
                  <a:srgbClr val="FFFFFF"/>
                </a:solidFill>
                <a:latin typeface="Calibri"/>
                <a:ea typeface="Calibri"/>
                <a:cs typeface="Calibri"/>
              </a:defRPr>
            </a:lvl7pPr>
            <a:lvl8pPr algn="l">
              <a:buNone/>
              <a:defRPr sz="1400">
                <a:solidFill>
                  <a:srgbClr val="FFFFFF"/>
                </a:solidFill>
                <a:latin typeface="Calibri"/>
                <a:ea typeface="Calibri"/>
                <a:cs typeface="Calibri"/>
              </a:defRPr>
            </a:lvl8pPr>
            <a:lvl9pPr algn="l">
              <a:buNone/>
              <a:defRPr sz="1400">
                <a:solidFill>
                  <a:srgbClr val="FFFFFF"/>
                </a:solidFill>
                <a:latin typeface="Calibri"/>
                <a:ea typeface="Calibri"/>
                <a:cs typeface="Calibri"/>
              </a:defRPr>
            </a:lvl9pPr>
          </a:lstStyle>
          <a:p xmlns:a="http://schemas.openxmlformats.org/drawingml/2006/main">
            <a:pPr marL="342900" indent="-342900" algn="l">
              <a:spcAft>
                <a:spcPts val="18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Hindi users can query English documents.</a:t>
            </a:r>
          </a:p>
          <a:p xmlns:a="http://schemas.openxmlformats.org/drawingml/2006/main">
            <a:pPr marL="342900" indent="-342900" algn="l">
              <a:spcAft>
                <a:spcPts val="18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Conflicts show both claims with their sources.</a:t>
            </a:r>
          </a:p>
          <a:p xmlns:a="http://schemas.openxmlformats.org/drawingml/2006/main">
            <a:pPr marL="342900" indent="-342900" algn="l">
              <a:spcAft>
                <a:spcPts val="18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Evidence paths help reviewers audit an answer.</a:t>
            </a:r>
          </a:p>
        </p:txBody>
      </p:sp>
      <p:sp>
        <p:nvSpPr>
          <p:cNvPr id="9" name="Environmental Impact card">
            <a:extLst xmlns:a="http://schemas.openxmlformats.org/drawingml/2006/main">
              <a:ext uri="{FF2B5EF4-FFF2-40B4-BE49-F238E27FC236}">
                <a16:creationId xmlns:a16="http://schemas.microsoft.com/office/drawing/2014/main" id="{7207B70D-F021-4860-AE3A-217851525400}"/>
              </a:ext>
            </a:extLst>
          </p:cNvPr>
          <p:cNvSpPr>
            <a:spLocks xmlns:a="http://schemas.openxmlformats.org/drawingml/2006/main" noGrp="1"/>
          </p:cNvSpPr>
          <p:nvPr/>
        </p:nvSpPr>
        <p:spPr>
          <a:xfrm xmlns:a="http://schemas.openxmlformats.org/drawingml/2006/main">
            <a:off x="6099048" y="1691640"/>
            <a:ext cx="5486400" cy="2103120"/>
          </a:xfrm>
          <a:prstGeom xmlns:a="http://schemas.openxmlformats.org/drawingml/2006/main" prst="roundRect">
            <a:avLst>
              <a:gd name="adj" fmla="val 5217"/>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10" name="Environmental Impact badge">
            <a:extLst xmlns:a="http://schemas.openxmlformats.org/drawingml/2006/main">
              <a:ext uri="{FF2B5EF4-FFF2-40B4-BE49-F238E27FC236}">
                <a16:creationId xmlns:a16="http://schemas.microsoft.com/office/drawing/2014/main" id="{9FB68E70-8E96-41C6-BD28-959D8DD4B491}"/>
              </a:ext>
            </a:extLst>
          </p:cNvPr>
          <p:cNvSpPr>
            <a:spLocks xmlns:a="http://schemas.openxmlformats.org/drawingml/2006/main" noGrp="1"/>
          </p:cNvSpPr>
          <p:nvPr/>
        </p:nvSpPr>
        <p:spPr>
          <a:xfrm xmlns:a="http://schemas.openxmlformats.org/drawingml/2006/main">
            <a:off x="6373368" y="1965960"/>
            <a:ext cx="548640" cy="548640"/>
          </a:xfrm>
          <a:prstGeom xmlns:a="http://schemas.openxmlformats.org/drawingml/2006/main" prst="ellipse">
            <a:avLst/>
          </a:prstGeom>
          <a:solidFill xmlns:a="http://schemas.openxmlformats.org/drawingml/2006/main">
            <a:schemeClr val="accent1"/>
          </a:solidFill>
          <a:ln xmlns:a="http://schemas.openxmlformats.org/drawingml/2006/main" w="12700">
            <a:solidFill>
              <a:srgbClr val="FFFFFF"/>
            </a:solidFill>
            <a:prstDash val="solid"/>
          </a:ln>
        </p:spPr>
      </p:sp>
      <p:sp>
        <p:nvSpPr>
          <p:cNvPr id="11" name="Text 9">
            <a:extLst xmlns:a="http://schemas.openxmlformats.org/drawingml/2006/main">
              <a:ext uri="{FF2B5EF4-FFF2-40B4-BE49-F238E27FC236}">
                <a16:creationId xmlns:a16="http://schemas.microsoft.com/office/drawing/2014/main" id="{D96E2EEE-96DD-4183-9A05-778FC7788000}"/>
              </a:ext>
            </a:extLst>
          </p:cNvPr>
          <p:cNvSpPr>
            <a:spLocks xmlns:a="http://schemas.openxmlformats.org/drawingml/2006/main" noGrp="1"/>
          </p:cNvSpPr>
          <p:nvPr/>
        </p:nvSpPr>
        <p:spPr>
          <a:xfrm xmlns:a="http://schemas.openxmlformats.org/drawingml/2006/main">
            <a:off x="6373368" y="196596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Arial"/>
                <a:ea typeface="Arial"/>
                <a:cs typeface="Arial"/>
              </a:rPr>
              <a:t>2</a:t>
            </a:r>
            <a:endParaRPr sz="1800"/>
          </a:p>
        </p:txBody>
      </p:sp>
      <p:sp>
        <p:nvSpPr>
          <p:cNvPr id="12" name="Environmental Impact head">
            <a:extLst xmlns:a="http://schemas.openxmlformats.org/drawingml/2006/main">
              <a:ext uri="{FF2B5EF4-FFF2-40B4-BE49-F238E27FC236}">
                <a16:creationId xmlns:a16="http://schemas.microsoft.com/office/drawing/2014/main" id="{CD71DD86-6980-4F7A-A04A-11589859CEBE}"/>
              </a:ext>
            </a:extLst>
          </p:cNvPr>
          <p:cNvSpPr>
            <a:spLocks xmlns:a="http://schemas.openxmlformats.org/drawingml/2006/main" noGrp="1"/>
          </p:cNvSpPr>
          <p:nvPr/>
        </p:nvSpPr>
        <p:spPr>
          <a:xfrm xmlns:a="http://schemas.openxmlformats.org/drawingml/2006/main">
            <a:off x="7196328" y="205740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ENVIRONMENTAL IMPACT</a:t>
            </a:r>
            <a:endParaRPr sz="1500"/>
          </a:p>
        </p:txBody>
      </p:sp>
      <p:sp>
        <p:nvSpPr>
          <p:cNvPr id="13" name="Environmental Impact body">
            <a:extLst xmlns:a="http://schemas.openxmlformats.org/drawingml/2006/main">
              <a:ext uri="{FF2B5EF4-FFF2-40B4-BE49-F238E27FC236}">
                <a16:creationId xmlns:a16="http://schemas.microsoft.com/office/drawing/2014/main" id="{221396DA-109D-47CB-99DC-E15D90BE21D6}"/>
              </a:ext>
            </a:extLst>
          </p:cNvPr>
          <p:cNvSpPr>
            <a:spLocks xmlns:a="http://schemas.openxmlformats.org/drawingml/2006/main" noGrp="1"/>
          </p:cNvSpPr>
          <p:nvPr/>
        </p:nvSpPr>
        <p:spPr>
          <a:xfrm xmlns:a="http://schemas.openxmlformats.org/drawingml/2006/main">
            <a:off x="7196328" y="2514600"/>
            <a:ext cx="41148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lgn="l">
              <a:defRPr sz="1400">
                <a:solidFill>
                  <a:srgbClr val="FFFFFF"/>
                </a:solidFill>
                <a:latin typeface="Calibri"/>
                <a:ea typeface="Calibri"/>
                <a:cs typeface="Calibri"/>
              </a:defRPr>
            </a:defPPr>
            <a:lvl1pPr algn="l">
              <a:buNone/>
              <a:defRPr sz="1400">
                <a:solidFill>
                  <a:srgbClr val="FFFFFF"/>
                </a:solidFill>
                <a:latin typeface="Calibri"/>
                <a:ea typeface="Calibri"/>
                <a:cs typeface="Calibri"/>
              </a:defRPr>
            </a:lvl1pPr>
            <a:lvl2pPr algn="l">
              <a:buNone/>
              <a:defRPr sz="1400">
                <a:solidFill>
                  <a:srgbClr val="FFFFFF"/>
                </a:solidFill>
                <a:latin typeface="Calibri"/>
                <a:ea typeface="Calibri"/>
                <a:cs typeface="Calibri"/>
              </a:defRPr>
            </a:lvl2pPr>
            <a:lvl3pPr algn="l">
              <a:buNone/>
              <a:defRPr sz="1400">
                <a:solidFill>
                  <a:srgbClr val="FFFFFF"/>
                </a:solidFill>
                <a:latin typeface="Calibri"/>
                <a:ea typeface="Calibri"/>
                <a:cs typeface="Calibri"/>
              </a:defRPr>
            </a:lvl3pPr>
            <a:lvl4pPr algn="l">
              <a:buNone/>
              <a:defRPr sz="1400">
                <a:solidFill>
                  <a:srgbClr val="FFFFFF"/>
                </a:solidFill>
                <a:latin typeface="Calibri"/>
                <a:ea typeface="Calibri"/>
                <a:cs typeface="Calibri"/>
              </a:defRPr>
            </a:lvl4pPr>
            <a:lvl5pPr algn="l">
              <a:buNone/>
              <a:defRPr sz="1400">
                <a:solidFill>
                  <a:srgbClr val="FFFFFF"/>
                </a:solidFill>
                <a:latin typeface="Calibri"/>
                <a:ea typeface="Calibri"/>
                <a:cs typeface="Calibri"/>
              </a:defRPr>
            </a:lvl5pPr>
            <a:lvl6pPr algn="l">
              <a:buNone/>
              <a:defRPr sz="1400">
                <a:solidFill>
                  <a:srgbClr val="FFFFFF"/>
                </a:solidFill>
                <a:latin typeface="Calibri"/>
                <a:ea typeface="Calibri"/>
                <a:cs typeface="Calibri"/>
              </a:defRPr>
            </a:lvl6pPr>
            <a:lvl7pPr algn="l">
              <a:buNone/>
              <a:defRPr sz="1400">
                <a:solidFill>
                  <a:srgbClr val="FFFFFF"/>
                </a:solidFill>
                <a:latin typeface="Calibri"/>
                <a:ea typeface="Calibri"/>
                <a:cs typeface="Calibri"/>
              </a:defRPr>
            </a:lvl7pPr>
            <a:lvl8pPr algn="l">
              <a:buNone/>
              <a:defRPr sz="1400">
                <a:solidFill>
                  <a:srgbClr val="FFFFFF"/>
                </a:solidFill>
                <a:latin typeface="Calibri"/>
                <a:ea typeface="Calibri"/>
                <a:cs typeface="Calibri"/>
              </a:defRPr>
            </a:lvl8pPr>
            <a:lvl9pPr algn="l">
              <a:buNone/>
              <a:defRPr sz="1400">
                <a:solidFill>
                  <a:srgbClr val="FFFFFF"/>
                </a:solidFill>
                <a:latin typeface="Calibri"/>
                <a:ea typeface="Calibri"/>
                <a:cs typeface="Calibri"/>
              </a:defRPr>
            </a:lvl9pPr>
          </a:lstStyle>
          <a:p xmlns:a="http://schemas.openxmlformats.org/drawingml/2006/main">
            <a:pPr marL="342900" indent="-342900" algn="l">
              <a:spcAft>
                <a:spcPts val="18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Routine edits reindex one document, not the full corpus.</a:t>
            </a:r>
          </a:p>
          <a:p xmlns:a="http://schemas.openxmlformats.org/drawingml/2006/main">
            <a:pPr marL="342900" indent="-342900" algn="l">
              <a:spcAft>
                <a:spcPts val="18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Avoiding full rebuilds may reduce repeated processing.</a:t>
            </a:r>
          </a:p>
          <a:p xmlns:a="http://schemas.openxmlformats.org/drawingml/2006/main">
            <a:pPr marL="342900" indent="-342900" algn="l">
              <a:spcAft>
                <a:spcPts val="18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Energy and carbon savings are not measured.</a:t>
            </a:r>
          </a:p>
        </p:txBody>
      </p:sp>
      <p:sp>
        <p:nvSpPr>
          <p:cNvPr id="14" name="Technical Impact card">
            <a:extLst xmlns:a="http://schemas.openxmlformats.org/drawingml/2006/main">
              <a:ext uri="{FF2B5EF4-FFF2-40B4-BE49-F238E27FC236}">
                <a16:creationId xmlns:a16="http://schemas.microsoft.com/office/drawing/2014/main" id="{99561A0B-8E41-4570-9D99-23FF85B6FF58}"/>
              </a:ext>
            </a:extLst>
          </p:cNvPr>
          <p:cNvSpPr>
            <a:spLocks xmlns:a="http://schemas.openxmlformats.org/drawingml/2006/main" noGrp="1"/>
          </p:cNvSpPr>
          <p:nvPr/>
        </p:nvSpPr>
        <p:spPr>
          <a:xfrm xmlns:a="http://schemas.openxmlformats.org/drawingml/2006/main">
            <a:off x="457200" y="3977640"/>
            <a:ext cx="5486400" cy="2103120"/>
          </a:xfrm>
          <a:prstGeom xmlns:a="http://schemas.openxmlformats.org/drawingml/2006/main" prst="roundRect">
            <a:avLst>
              <a:gd name="adj" fmla="val 5217"/>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15" name="Technical Impact badge">
            <a:extLst xmlns:a="http://schemas.openxmlformats.org/drawingml/2006/main">
              <a:ext uri="{FF2B5EF4-FFF2-40B4-BE49-F238E27FC236}">
                <a16:creationId xmlns:a16="http://schemas.microsoft.com/office/drawing/2014/main" id="{9FC94E6F-89AA-4B0A-8D22-48A027C07291}"/>
              </a:ext>
            </a:extLst>
          </p:cNvPr>
          <p:cNvSpPr>
            <a:spLocks xmlns:a="http://schemas.openxmlformats.org/drawingml/2006/main" noGrp="1"/>
          </p:cNvSpPr>
          <p:nvPr/>
        </p:nvSpPr>
        <p:spPr>
          <a:xfrm xmlns:a="http://schemas.openxmlformats.org/drawingml/2006/main">
            <a:off x="731520" y="4251960"/>
            <a:ext cx="548640" cy="548640"/>
          </a:xfrm>
          <a:prstGeom xmlns:a="http://schemas.openxmlformats.org/drawingml/2006/main" prst="ellipse">
            <a:avLst/>
          </a:prstGeom>
          <a:solidFill xmlns:a="http://schemas.openxmlformats.org/drawingml/2006/main">
            <a:schemeClr val="accent1"/>
          </a:solidFill>
          <a:ln xmlns:a="http://schemas.openxmlformats.org/drawingml/2006/main" w="12700">
            <a:solidFill>
              <a:srgbClr val="FFFFFF"/>
            </a:solidFill>
            <a:prstDash val="solid"/>
          </a:ln>
        </p:spPr>
      </p:sp>
      <p:sp>
        <p:nvSpPr>
          <p:cNvPr id="16" name="Text 14">
            <a:extLst xmlns:a="http://schemas.openxmlformats.org/drawingml/2006/main">
              <a:ext uri="{FF2B5EF4-FFF2-40B4-BE49-F238E27FC236}">
                <a16:creationId xmlns:a16="http://schemas.microsoft.com/office/drawing/2014/main" id="{D9C21E8C-4905-46F3-BD48-181BD3EAC2A8}"/>
              </a:ext>
            </a:extLst>
          </p:cNvPr>
          <p:cNvSpPr>
            <a:spLocks xmlns:a="http://schemas.openxmlformats.org/drawingml/2006/main" noGrp="1"/>
          </p:cNvSpPr>
          <p:nvPr/>
        </p:nvSpPr>
        <p:spPr>
          <a:xfrm xmlns:a="http://schemas.openxmlformats.org/drawingml/2006/main">
            <a:off x="731520" y="425196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Arial"/>
                <a:ea typeface="Arial"/>
                <a:cs typeface="Arial"/>
              </a:rPr>
              <a:t>3</a:t>
            </a:r>
            <a:endParaRPr sz="1800"/>
          </a:p>
        </p:txBody>
      </p:sp>
      <p:sp>
        <p:nvSpPr>
          <p:cNvPr id="17" name="Technical Impact head">
            <a:extLst xmlns:a="http://schemas.openxmlformats.org/drawingml/2006/main">
              <a:ext uri="{FF2B5EF4-FFF2-40B4-BE49-F238E27FC236}">
                <a16:creationId xmlns:a16="http://schemas.microsoft.com/office/drawing/2014/main" id="{32AB9EBC-15CB-42DB-8559-C4FBD780A4D4}"/>
              </a:ext>
            </a:extLst>
          </p:cNvPr>
          <p:cNvSpPr>
            <a:spLocks xmlns:a="http://schemas.openxmlformats.org/drawingml/2006/main" noGrp="1"/>
          </p:cNvSpPr>
          <p:nvPr/>
        </p:nvSpPr>
        <p:spPr>
          <a:xfrm xmlns:a="http://schemas.openxmlformats.org/drawingml/2006/main">
            <a:off x="1554480" y="434340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TECHNICAL IMPACT</a:t>
            </a:r>
            <a:endParaRPr sz="1500"/>
          </a:p>
        </p:txBody>
      </p:sp>
      <p:sp>
        <p:nvSpPr>
          <p:cNvPr id="18" name="Technical Impact body">
            <a:extLst xmlns:a="http://schemas.openxmlformats.org/drawingml/2006/main">
              <a:ext uri="{FF2B5EF4-FFF2-40B4-BE49-F238E27FC236}">
                <a16:creationId xmlns:a16="http://schemas.microsoft.com/office/drawing/2014/main" id="{518069F1-3131-47FA-9426-8163D8505F2E}"/>
              </a:ext>
            </a:extLst>
          </p:cNvPr>
          <p:cNvSpPr>
            <a:spLocks xmlns:a="http://schemas.openxmlformats.org/drawingml/2006/main" noGrp="1"/>
          </p:cNvSpPr>
          <p:nvPr/>
        </p:nvSpPr>
        <p:spPr>
          <a:xfrm xmlns:a="http://schemas.openxmlformats.org/drawingml/2006/main">
            <a:off x="1554480" y="4800600"/>
            <a:ext cx="41148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lgn="l">
              <a:defRPr sz="1400">
                <a:solidFill>
                  <a:srgbClr val="FFFFFF"/>
                </a:solidFill>
                <a:latin typeface="Calibri"/>
                <a:ea typeface="Calibri"/>
                <a:cs typeface="Calibri"/>
              </a:defRPr>
            </a:defPPr>
            <a:lvl1pPr algn="l">
              <a:buNone/>
              <a:defRPr sz="1400">
                <a:solidFill>
                  <a:srgbClr val="FFFFFF"/>
                </a:solidFill>
                <a:latin typeface="Calibri"/>
                <a:ea typeface="Calibri"/>
                <a:cs typeface="Calibri"/>
              </a:defRPr>
            </a:lvl1pPr>
            <a:lvl2pPr algn="l">
              <a:buNone/>
              <a:defRPr sz="1400">
                <a:solidFill>
                  <a:srgbClr val="FFFFFF"/>
                </a:solidFill>
                <a:latin typeface="Calibri"/>
                <a:ea typeface="Calibri"/>
                <a:cs typeface="Calibri"/>
              </a:defRPr>
            </a:lvl2pPr>
            <a:lvl3pPr algn="l">
              <a:buNone/>
              <a:defRPr sz="1400">
                <a:solidFill>
                  <a:srgbClr val="FFFFFF"/>
                </a:solidFill>
                <a:latin typeface="Calibri"/>
                <a:ea typeface="Calibri"/>
                <a:cs typeface="Calibri"/>
              </a:defRPr>
            </a:lvl3pPr>
            <a:lvl4pPr algn="l">
              <a:buNone/>
              <a:defRPr sz="1400">
                <a:solidFill>
                  <a:srgbClr val="FFFFFF"/>
                </a:solidFill>
                <a:latin typeface="Calibri"/>
                <a:ea typeface="Calibri"/>
                <a:cs typeface="Calibri"/>
              </a:defRPr>
            </a:lvl4pPr>
            <a:lvl5pPr algn="l">
              <a:buNone/>
              <a:defRPr sz="1400">
                <a:solidFill>
                  <a:srgbClr val="FFFFFF"/>
                </a:solidFill>
                <a:latin typeface="Calibri"/>
                <a:ea typeface="Calibri"/>
                <a:cs typeface="Calibri"/>
              </a:defRPr>
            </a:lvl5pPr>
            <a:lvl6pPr algn="l">
              <a:buNone/>
              <a:defRPr sz="1400">
                <a:solidFill>
                  <a:srgbClr val="FFFFFF"/>
                </a:solidFill>
                <a:latin typeface="Calibri"/>
                <a:ea typeface="Calibri"/>
                <a:cs typeface="Calibri"/>
              </a:defRPr>
            </a:lvl6pPr>
            <a:lvl7pPr algn="l">
              <a:buNone/>
              <a:defRPr sz="1400">
                <a:solidFill>
                  <a:srgbClr val="FFFFFF"/>
                </a:solidFill>
                <a:latin typeface="Calibri"/>
                <a:ea typeface="Calibri"/>
                <a:cs typeface="Calibri"/>
              </a:defRPr>
            </a:lvl7pPr>
            <a:lvl8pPr algn="l">
              <a:buNone/>
              <a:defRPr sz="1400">
                <a:solidFill>
                  <a:srgbClr val="FFFFFF"/>
                </a:solidFill>
                <a:latin typeface="Calibri"/>
                <a:ea typeface="Calibri"/>
                <a:cs typeface="Calibri"/>
              </a:defRPr>
            </a:lvl8pPr>
            <a:lvl9pPr algn="l">
              <a:buNone/>
              <a:defRPr sz="1400">
                <a:solidFill>
                  <a:srgbClr val="FFFFFF"/>
                </a:solidFill>
                <a:latin typeface="Calibri"/>
                <a:ea typeface="Calibri"/>
                <a:cs typeface="Calibri"/>
              </a:defRPr>
            </a:lvl9pPr>
          </a:lstStyle>
          <a:p xmlns:a="http://schemas.openxmlformats.org/drawingml/2006/main">
            <a:pPr marL="342900" indent="-342900" algn="l">
              <a:spcAft>
                <a:spcPts val="18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500 generated documents ingested in 7.7 seconds locally.</a:t>
            </a:r>
          </a:p>
          <a:p xmlns:a="http://schemas.openxmlformats.org/drawingml/2006/main">
            <a:pPr marL="342900" indent="-342900" algn="l">
              <a:spcAft>
                <a:spcPts val="18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Graph: 504 docs, 539 entities, 40 relationships.</a:t>
            </a:r>
          </a:p>
          <a:p xmlns:a="http://schemas.openxmlformats.org/drawingml/2006/main">
            <a:pPr marL="342900" indent="-342900" algn="l">
              <a:spcAft>
                <a:spcPts val="18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21 planted instruction strings tested.</a:t>
            </a:r>
          </a:p>
        </p:txBody>
      </p:sp>
      <p:sp>
        <p:nvSpPr>
          <p:cNvPr id="19" name="Educational Impact card">
            <a:extLst xmlns:a="http://schemas.openxmlformats.org/drawingml/2006/main">
              <a:ext uri="{FF2B5EF4-FFF2-40B4-BE49-F238E27FC236}">
                <a16:creationId xmlns:a16="http://schemas.microsoft.com/office/drawing/2014/main" id="{73A6582C-7222-490A-95F1-556B820AEC5D}"/>
              </a:ext>
            </a:extLst>
          </p:cNvPr>
          <p:cNvSpPr>
            <a:spLocks xmlns:a="http://schemas.openxmlformats.org/drawingml/2006/main" noGrp="1"/>
          </p:cNvSpPr>
          <p:nvPr/>
        </p:nvSpPr>
        <p:spPr>
          <a:xfrm xmlns:a="http://schemas.openxmlformats.org/drawingml/2006/main">
            <a:off x="6099048" y="3977640"/>
            <a:ext cx="5486400" cy="2103120"/>
          </a:xfrm>
          <a:prstGeom xmlns:a="http://schemas.openxmlformats.org/drawingml/2006/main" prst="roundRect">
            <a:avLst>
              <a:gd name="adj" fmla="val 5217"/>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20" name="Educational Impact badge">
            <a:extLst xmlns:a="http://schemas.openxmlformats.org/drawingml/2006/main">
              <a:ext uri="{FF2B5EF4-FFF2-40B4-BE49-F238E27FC236}">
                <a16:creationId xmlns:a16="http://schemas.microsoft.com/office/drawing/2014/main" id="{BEA2EFD4-57D8-4131-ACFD-C4C143AA6DC1}"/>
              </a:ext>
            </a:extLst>
          </p:cNvPr>
          <p:cNvSpPr>
            <a:spLocks xmlns:a="http://schemas.openxmlformats.org/drawingml/2006/main" noGrp="1"/>
          </p:cNvSpPr>
          <p:nvPr/>
        </p:nvSpPr>
        <p:spPr>
          <a:xfrm xmlns:a="http://schemas.openxmlformats.org/drawingml/2006/main">
            <a:off x="6373368" y="4251960"/>
            <a:ext cx="548640" cy="548640"/>
          </a:xfrm>
          <a:prstGeom xmlns:a="http://schemas.openxmlformats.org/drawingml/2006/main" prst="ellipse">
            <a:avLst/>
          </a:prstGeom>
          <a:solidFill xmlns:a="http://schemas.openxmlformats.org/drawingml/2006/main">
            <a:schemeClr val="accent1"/>
          </a:solidFill>
          <a:ln xmlns:a="http://schemas.openxmlformats.org/drawingml/2006/main" w="12700">
            <a:solidFill>
              <a:srgbClr val="FFFFFF"/>
            </a:solidFill>
            <a:prstDash val="solid"/>
          </a:ln>
        </p:spPr>
      </p:sp>
      <p:sp>
        <p:nvSpPr>
          <p:cNvPr id="21" name="Text 19">
            <a:extLst xmlns:a="http://schemas.openxmlformats.org/drawingml/2006/main">
              <a:ext uri="{FF2B5EF4-FFF2-40B4-BE49-F238E27FC236}">
                <a16:creationId xmlns:a16="http://schemas.microsoft.com/office/drawing/2014/main" id="{D2942D8A-CA47-4240-B13B-8B82E990A80D}"/>
              </a:ext>
            </a:extLst>
          </p:cNvPr>
          <p:cNvSpPr>
            <a:spLocks xmlns:a="http://schemas.openxmlformats.org/drawingml/2006/main" noGrp="1"/>
          </p:cNvSpPr>
          <p:nvPr/>
        </p:nvSpPr>
        <p:spPr>
          <a:xfrm xmlns:a="http://schemas.openxmlformats.org/drawingml/2006/main">
            <a:off x="6373368" y="425196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Arial"/>
                <a:ea typeface="Arial"/>
                <a:cs typeface="Arial"/>
              </a:rPr>
              <a:t>4</a:t>
            </a:r>
            <a:endParaRPr sz="1800"/>
          </a:p>
        </p:txBody>
      </p:sp>
      <p:sp>
        <p:nvSpPr>
          <p:cNvPr id="22" name="Educational Impact head">
            <a:extLst xmlns:a="http://schemas.openxmlformats.org/drawingml/2006/main">
              <a:ext uri="{FF2B5EF4-FFF2-40B4-BE49-F238E27FC236}">
                <a16:creationId xmlns:a16="http://schemas.microsoft.com/office/drawing/2014/main" id="{94A4B706-1E10-4F84-9722-4463EFF67C85}"/>
              </a:ext>
            </a:extLst>
          </p:cNvPr>
          <p:cNvSpPr>
            <a:spLocks xmlns:a="http://schemas.openxmlformats.org/drawingml/2006/main" noGrp="1"/>
          </p:cNvSpPr>
          <p:nvPr/>
        </p:nvSpPr>
        <p:spPr>
          <a:xfrm xmlns:a="http://schemas.openxmlformats.org/drawingml/2006/main">
            <a:off x="7196328" y="434340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EDUCATIONAL IMPACT</a:t>
            </a:r>
            <a:endParaRPr sz="1500"/>
          </a:p>
        </p:txBody>
      </p:sp>
      <p:sp>
        <p:nvSpPr>
          <p:cNvPr id="23" name="Educational Impact body">
            <a:extLst xmlns:a="http://schemas.openxmlformats.org/drawingml/2006/main">
              <a:ext uri="{FF2B5EF4-FFF2-40B4-BE49-F238E27FC236}">
                <a16:creationId xmlns:a16="http://schemas.microsoft.com/office/drawing/2014/main" id="{C03BE820-1CD9-412F-BF77-B7955F919AFA}"/>
              </a:ext>
            </a:extLst>
          </p:cNvPr>
          <p:cNvSpPr>
            <a:spLocks xmlns:a="http://schemas.openxmlformats.org/drawingml/2006/main" noGrp="1"/>
          </p:cNvSpPr>
          <p:nvPr/>
        </p:nvSpPr>
        <p:spPr>
          <a:xfrm xmlns:a="http://schemas.openxmlformats.org/drawingml/2006/main">
            <a:off x="7196328" y="4800600"/>
            <a:ext cx="41148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lgn="l">
              <a:defRPr sz="1400">
                <a:solidFill>
                  <a:srgbClr val="FFFFFF"/>
                </a:solidFill>
                <a:latin typeface="Calibri"/>
                <a:ea typeface="Calibri"/>
                <a:cs typeface="Calibri"/>
              </a:defRPr>
            </a:defPPr>
            <a:lvl1pPr algn="l">
              <a:buNone/>
              <a:defRPr sz="1400">
                <a:solidFill>
                  <a:srgbClr val="FFFFFF"/>
                </a:solidFill>
                <a:latin typeface="Calibri"/>
                <a:ea typeface="Calibri"/>
                <a:cs typeface="Calibri"/>
              </a:defRPr>
            </a:lvl1pPr>
            <a:lvl2pPr algn="l">
              <a:buNone/>
              <a:defRPr sz="1400">
                <a:solidFill>
                  <a:srgbClr val="FFFFFF"/>
                </a:solidFill>
                <a:latin typeface="Calibri"/>
                <a:ea typeface="Calibri"/>
                <a:cs typeface="Calibri"/>
              </a:defRPr>
            </a:lvl2pPr>
            <a:lvl3pPr algn="l">
              <a:buNone/>
              <a:defRPr sz="1400">
                <a:solidFill>
                  <a:srgbClr val="FFFFFF"/>
                </a:solidFill>
                <a:latin typeface="Calibri"/>
                <a:ea typeface="Calibri"/>
                <a:cs typeface="Calibri"/>
              </a:defRPr>
            </a:lvl3pPr>
            <a:lvl4pPr algn="l">
              <a:buNone/>
              <a:defRPr sz="1400">
                <a:solidFill>
                  <a:srgbClr val="FFFFFF"/>
                </a:solidFill>
                <a:latin typeface="Calibri"/>
                <a:ea typeface="Calibri"/>
                <a:cs typeface="Calibri"/>
              </a:defRPr>
            </a:lvl4pPr>
            <a:lvl5pPr algn="l">
              <a:buNone/>
              <a:defRPr sz="1400">
                <a:solidFill>
                  <a:srgbClr val="FFFFFF"/>
                </a:solidFill>
                <a:latin typeface="Calibri"/>
                <a:ea typeface="Calibri"/>
                <a:cs typeface="Calibri"/>
              </a:defRPr>
            </a:lvl5pPr>
            <a:lvl6pPr algn="l">
              <a:buNone/>
              <a:defRPr sz="1400">
                <a:solidFill>
                  <a:srgbClr val="FFFFFF"/>
                </a:solidFill>
                <a:latin typeface="Calibri"/>
                <a:ea typeface="Calibri"/>
                <a:cs typeface="Calibri"/>
              </a:defRPr>
            </a:lvl6pPr>
            <a:lvl7pPr algn="l">
              <a:buNone/>
              <a:defRPr sz="1400">
                <a:solidFill>
                  <a:srgbClr val="FFFFFF"/>
                </a:solidFill>
                <a:latin typeface="Calibri"/>
                <a:ea typeface="Calibri"/>
                <a:cs typeface="Calibri"/>
              </a:defRPr>
            </a:lvl7pPr>
            <a:lvl8pPr algn="l">
              <a:buNone/>
              <a:defRPr sz="1400">
                <a:solidFill>
                  <a:srgbClr val="FFFFFF"/>
                </a:solidFill>
                <a:latin typeface="Calibri"/>
                <a:ea typeface="Calibri"/>
                <a:cs typeface="Calibri"/>
              </a:defRPr>
            </a:lvl8pPr>
            <a:lvl9pPr algn="l">
              <a:buNone/>
              <a:defRPr sz="1400">
                <a:solidFill>
                  <a:srgbClr val="FFFFFF"/>
                </a:solidFill>
                <a:latin typeface="Calibri"/>
                <a:ea typeface="Calibri"/>
                <a:cs typeface="Calibri"/>
              </a:defRPr>
            </a:lvl9pPr>
          </a:lstStyle>
          <a:p xmlns:a="http://schemas.openxmlformats.org/drawingml/2006/main">
            <a:pPr marL="342900" indent="-342900" algn="l">
              <a:spcAft>
                <a:spcPts val="18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Inspect claims, source excerpts, and graph paths.</a:t>
            </a:r>
          </a:p>
          <a:p xmlns:a="http://schemas.openxmlformats.org/drawingml/2006/main">
            <a:pPr marL="342900" indent="-342900" algn="l">
              <a:spcAft>
                <a:spcPts val="18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Replay evidence to explain an answer to reviewers.</a:t>
            </a:r>
          </a:p>
          <a:p xmlns:a="http://schemas.openxmlformats.org/drawingml/2006/main">
            <a:pPr marL="342900" indent="-342900" algn="l">
              <a:spcAft>
                <a:spcPts val="18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Compare conflicting claims before deciding.</a:t>
            </a:r>
          </a:p>
        </p:txBody>
      </p:sp>
      <p:sp>
        <p:nvSpPr>
          <p:cNvPr id="25" name="Slide Number Placeholder 0">
            <a:extLst xmlns:a="http://schemas.openxmlformats.org/drawingml/2006/main">
              <a:ext uri="{FF2B5EF4-FFF2-40B4-BE49-F238E27FC236}">
                <a16:creationId xmlns:a16="http://schemas.microsoft.com/office/drawing/2014/main" id="{21CC3903-C09E-4790-98F8-97F8D0460691}"/>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6</a:t>
            </a:fld>
            <a:endParaRPr/>
          </a:p>
        </p:txBody>
      </p:sp>
    </p:spTree>
    <p:extLst>
      <p:ext uri="{BB962C8B-B14F-4D97-AF65-F5344CB8AC3E}">
        <p14:creationId xmlns:p14="http://schemas.microsoft.com/office/powerpoint/2010/main" val="4298429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0EC107A-6954-496E-8E68-7AE9F11E26BE}"/>
              </a:ext>
            </a:extLst>
          </p:cNvPr>
          <p:cNvSpPr>
            <a:spLocks xmlns:a="http://schemas.openxmlformats.org/drawingml/2006/main" noGrp="1"/>
          </p:cNvSpPr>
          <p:nvPr/>
        </p:nvSpPr>
        <p:spPr>
          <a:xfrm xmlns:a="http://schemas.openxmlformats.org/drawingml/2006/main">
            <a:off x="457200" y="960120"/>
            <a:ext cx="1127455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600" b="1" spc="200">
                <a:solidFill>
                  <a:srgbClr val="FFFFFF"/>
                </a:solidFill>
                <a:latin typeface="Arial"/>
                <a:ea typeface="Arial"/>
                <a:cs typeface="Arial"/>
              </a:rPr>
              <a:t>BUSINESS MODEL &amp; SUSTAINABILITY</a:t>
            </a:r>
            <a:endParaRPr sz="3600"/>
          </a:p>
        </p:txBody>
      </p:sp>
      <p:sp>
        <p:nvSpPr>
          <p:cNvPr id="3" name="Team tag">
            <a:extLst xmlns:a="http://schemas.openxmlformats.org/drawingml/2006/main">
              <a:ext uri="{FF2B5EF4-FFF2-40B4-BE49-F238E27FC236}">
                <a16:creationId xmlns:a16="http://schemas.microsoft.com/office/drawing/2014/main" id="{A5F30C45-C4DF-4B89-AAB6-216E90032C58}"/>
              </a:ext>
            </a:extLst>
          </p:cNvPr>
          <p:cNvSpPr>
            <a:spLocks xmlns:a="http://schemas.openxmlformats.org/drawingml/2006/main" noGrp="1"/>
          </p:cNvSpPr>
          <p:nvPr/>
        </p:nvSpPr>
        <p:spPr>
          <a:xfrm xmlns:a="http://schemas.openxmlformats.org/drawingml/2006/main">
            <a:off x="8503920" y="1097280"/>
            <a:ext cx="322783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9CC4FF"/>
                </a:solidFill>
                <a:latin typeface="Calibri"/>
                <a:ea typeface="Calibri"/>
                <a:cs typeface="Calibri"/>
              </a:rPr>
              <a:t>DataTrust AI  |  Team ID pending</a:t>
            </a:r>
            <a:endParaRPr sz="1200"/>
          </a:p>
        </p:txBody>
      </p:sp>
      <p:sp>
        <p:nvSpPr>
          <p:cNvPr id="4" name="Users card">
            <a:extLst xmlns:a="http://schemas.openxmlformats.org/drawingml/2006/main">
              <a:ext uri="{FF2B5EF4-FFF2-40B4-BE49-F238E27FC236}">
                <a16:creationId xmlns:a16="http://schemas.microsoft.com/office/drawing/2014/main" id="{03D16733-900C-4036-83B7-71FE46C1417B}"/>
              </a:ext>
            </a:extLst>
          </p:cNvPr>
          <p:cNvSpPr>
            <a:spLocks xmlns:a="http://schemas.openxmlformats.org/drawingml/2006/main" noGrp="1"/>
          </p:cNvSpPr>
          <p:nvPr/>
        </p:nvSpPr>
        <p:spPr>
          <a:xfrm xmlns:a="http://schemas.openxmlformats.org/drawingml/2006/main">
            <a:off x="457200"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5" name="Users head">
            <a:extLst xmlns:a="http://schemas.openxmlformats.org/drawingml/2006/main">
              <a:ext uri="{FF2B5EF4-FFF2-40B4-BE49-F238E27FC236}">
                <a16:creationId xmlns:a16="http://schemas.microsoft.com/office/drawing/2014/main" id="{6E4439F8-FB7C-47A4-9746-44024299B533}"/>
              </a:ext>
            </a:extLst>
          </p:cNvPr>
          <p:cNvSpPr>
            <a:spLocks xmlns:a="http://schemas.openxmlformats.org/drawingml/2006/main" noGrp="1"/>
          </p:cNvSpPr>
          <p:nvPr/>
        </p:nvSpPr>
        <p:spPr>
          <a:xfrm xmlns:a="http://schemas.openxmlformats.org/drawingml/2006/main">
            <a:off x="731520"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TARGET USERS</a:t>
            </a:r>
            <a:endParaRPr sz="1500"/>
          </a:p>
        </p:txBody>
      </p:sp>
      <p:sp>
        <p:nvSpPr>
          <p:cNvPr id="6" name="Users body">
            <a:extLst xmlns:a="http://schemas.openxmlformats.org/drawingml/2006/main">
              <a:ext uri="{FF2B5EF4-FFF2-40B4-BE49-F238E27FC236}">
                <a16:creationId xmlns:a16="http://schemas.microsoft.com/office/drawing/2014/main" id="{B0748EE7-781B-4094-8787-2028CCA5260F}"/>
              </a:ext>
            </a:extLst>
          </p:cNvPr>
          <p:cNvSpPr>
            <a:spLocks xmlns:a="http://schemas.openxmlformats.org/drawingml/2006/main" noGrp="1"/>
          </p:cNvSpPr>
          <p:nvPr/>
        </p:nvSpPr>
        <p:spPr>
          <a:xfrm xmlns:a="http://schemas.openxmlformats.org/drawingml/2006/main">
            <a:off x="731520" y="2377440"/>
            <a:ext cx="310896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lgn="l">
              <a:defRPr sz="1400">
                <a:solidFill>
                  <a:srgbClr val="FFFFFF"/>
                </a:solidFill>
                <a:latin typeface="Calibri"/>
                <a:ea typeface="Calibri"/>
                <a:cs typeface="Calibri"/>
              </a:defRPr>
            </a:defPPr>
            <a:lvl1pPr algn="l">
              <a:buNone/>
              <a:defRPr sz="1400">
                <a:solidFill>
                  <a:srgbClr val="FFFFFF"/>
                </a:solidFill>
                <a:latin typeface="Calibri"/>
                <a:ea typeface="Calibri"/>
                <a:cs typeface="Calibri"/>
              </a:defRPr>
            </a:lvl1pPr>
            <a:lvl2pPr algn="l">
              <a:buNone/>
              <a:defRPr sz="1400">
                <a:solidFill>
                  <a:srgbClr val="FFFFFF"/>
                </a:solidFill>
                <a:latin typeface="Calibri"/>
                <a:ea typeface="Calibri"/>
                <a:cs typeface="Calibri"/>
              </a:defRPr>
            </a:lvl2pPr>
            <a:lvl3pPr algn="l">
              <a:buNone/>
              <a:defRPr sz="1400">
                <a:solidFill>
                  <a:srgbClr val="FFFFFF"/>
                </a:solidFill>
                <a:latin typeface="Calibri"/>
                <a:ea typeface="Calibri"/>
                <a:cs typeface="Calibri"/>
              </a:defRPr>
            </a:lvl3pPr>
            <a:lvl4pPr algn="l">
              <a:buNone/>
              <a:defRPr sz="1400">
                <a:solidFill>
                  <a:srgbClr val="FFFFFF"/>
                </a:solidFill>
                <a:latin typeface="Calibri"/>
                <a:ea typeface="Calibri"/>
                <a:cs typeface="Calibri"/>
              </a:defRPr>
            </a:lvl4pPr>
            <a:lvl5pPr algn="l">
              <a:buNone/>
              <a:defRPr sz="1400">
                <a:solidFill>
                  <a:srgbClr val="FFFFFF"/>
                </a:solidFill>
                <a:latin typeface="Calibri"/>
                <a:ea typeface="Calibri"/>
                <a:cs typeface="Calibri"/>
              </a:defRPr>
            </a:lvl5pPr>
            <a:lvl6pPr algn="l">
              <a:buNone/>
              <a:defRPr sz="1400">
                <a:solidFill>
                  <a:srgbClr val="FFFFFF"/>
                </a:solidFill>
                <a:latin typeface="Calibri"/>
                <a:ea typeface="Calibri"/>
                <a:cs typeface="Calibri"/>
              </a:defRPr>
            </a:lvl6pPr>
            <a:lvl7pPr algn="l">
              <a:buNone/>
              <a:defRPr sz="1400">
                <a:solidFill>
                  <a:srgbClr val="FFFFFF"/>
                </a:solidFill>
                <a:latin typeface="Calibri"/>
                <a:ea typeface="Calibri"/>
                <a:cs typeface="Calibri"/>
              </a:defRPr>
            </a:lvl7pPr>
            <a:lvl8pPr algn="l">
              <a:buNone/>
              <a:defRPr sz="1400">
                <a:solidFill>
                  <a:srgbClr val="FFFFFF"/>
                </a:solidFill>
                <a:latin typeface="Calibri"/>
                <a:ea typeface="Calibri"/>
                <a:cs typeface="Calibri"/>
              </a:defRPr>
            </a:lvl8pPr>
            <a:lvl9pPr algn="l">
              <a:buNone/>
              <a:defRPr sz="1400">
                <a:solidFill>
                  <a:srgbClr val="FFFFFF"/>
                </a:solidFill>
                <a:latin typeface="Calibri"/>
                <a:ea typeface="Calibri"/>
                <a:cs typeface="Calibri"/>
              </a:defRPr>
            </a:lvl9pPr>
          </a:lstStyle>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Compliance and operations analysts.</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Internal reviewers checking conflicting records.</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Data teams combining SQL and documents.</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Hindi-speaking staff searching English records.</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Teams that need traceable evidence before acting.</a:t>
            </a:r>
          </a:p>
        </p:txBody>
      </p:sp>
      <p:sp>
        <p:nvSpPr>
          <p:cNvPr id="7" name="Revenue card">
            <a:extLst xmlns:a="http://schemas.openxmlformats.org/drawingml/2006/main">
              <a:ext uri="{FF2B5EF4-FFF2-40B4-BE49-F238E27FC236}">
                <a16:creationId xmlns:a16="http://schemas.microsoft.com/office/drawing/2014/main" id="{1F39B524-A837-49EB-8FA2-9F144F64241E}"/>
              </a:ext>
            </a:extLst>
          </p:cNvPr>
          <p:cNvSpPr>
            <a:spLocks xmlns:a="http://schemas.openxmlformats.org/drawingml/2006/main" noGrp="1"/>
          </p:cNvSpPr>
          <p:nvPr/>
        </p:nvSpPr>
        <p:spPr>
          <a:xfrm xmlns:a="http://schemas.openxmlformats.org/drawingml/2006/main">
            <a:off x="4270248"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8" name="Rev head">
            <a:extLst xmlns:a="http://schemas.openxmlformats.org/drawingml/2006/main">
              <a:ext uri="{FF2B5EF4-FFF2-40B4-BE49-F238E27FC236}">
                <a16:creationId xmlns:a16="http://schemas.microsoft.com/office/drawing/2014/main" id="{7A819027-232F-410C-980C-5DF81BD0A013}"/>
              </a:ext>
            </a:extLst>
          </p:cNvPr>
          <p:cNvSpPr>
            <a:spLocks xmlns:a="http://schemas.openxmlformats.org/drawingml/2006/main" noGrp="1"/>
          </p:cNvSpPr>
          <p:nvPr/>
        </p:nvSpPr>
        <p:spPr>
          <a:xfrm xmlns:a="http://schemas.openxmlformats.org/drawingml/2006/main">
            <a:off x="4544568"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REVENUE &amp; COST MODEL</a:t>
            </a:r>
            <a:endParaRPr sz="1500"/>
          </a:p>
        </p:txBody>
      </p:sp>
      <p:sp>
        <p:nvSpPr>
          <p:cNvPr id="9" name="Rev body">
            <a:extLst xmlns:a="http://schemas.openxmlformats.org/drawingml/2006/main">
              <a:ext uri="{FF2B5EF4-FFF2-40B4-BE49-F238E27FC236}">
                <a16:creationId xmlns:a16="http://schemas.microsoft.com/office/drawing/2014/main" id="{C0CF8A77-C404-4E3C-A580-2DD7A0BF0319}"/>
              </a:ext>
            </a:extLst>
          </p:cNvPr>
          <p:cNvSpPr>
            <a:spLocks xmlns:a="http://schemas.openxmlformats.org/drawingml/2006/main" noGrp="1"/>
          </p:cNvSpPr>
          <p:nvPr/>
        </p:nvSpPr>
        <p:spPr>
          <a:xfrm xmlns:a="http://schemas.openxmlformats.org/drawingml/2006/main">
            <a:off x="4544568" y="2377440"/>
            <a:ext cx="310896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lgn="l">
              <a:defRPr sz="1400">
                <a:solidFill>
                  <a:srgbClr val="FFFFFF"/>
                </a:solidFill>
                <a:latin typeface="Calibri"/>
                <a:ea typeface="Calibri"/>
                <a:cs typeface="Calibri"/>
              </a:defRPr>
            </a:defPPr>
            <a:lvl1pPr algn="l">
              <a:buNone/>
              <a:defRPr sz="1400">
                <a:solidFill>
                  <a:srgbClr val="FFFFFF"/>
                </a:solidFill>
                <a:latin typeface="Calibri"/>
                <a:ea typeface="Calibri"/>
                <a:cs typeface="Calibri"/>
              </a:defRPr>
            </a:lvl1pPr>
            <a:lvl2pPr algn="l">
              <a:buNone/>
              <a:defRPr sz="1400">
                <a:solidFill>
                  <a:srgbClr val="FFFFFF"/>
                </a:solidFill>
                <a:latin typeface="Calibri"/>
                <a:ea typeface="Calibri"/>
                <a:cs typeface="Calibri"/>
              </a:defRPr>
            </a:lvl2pPr>
            <a:lvl3pPr algn="l">
              <a:buNone/>
              <a:defRPr sz="1400">
                <a:solidFill>
                  <a:srgbClr val="FFFFFF"/>
                </a:solidFill>
                <a:latin typeface="Calibri"/>
                <a:ea typeface="Calibri"/>
                <a:cs typeface="Calibri"/>
              </a:defRPr>
            </a:lvl3pPr>
            <a:lvl4pPr algn="l">
              <a:buNone/>
              <a:defRPr sz="1400">
                <a:solidFill>
                  <a:srgbClr val="FFFFFF"/>
                </a:solidFill>
                <a:latin typeface="Calibri"/>
                <a:ea typeface="Calibri"/>
                <a:cs typeface="Calibri"/>
              </a:defRPr>
            </a:lvl4pPr>
            <a:lvl5pPr algn="l">
              <a:buNone/>
              <a:defRPr sz="1400">
                <a:solidFill>
                  <a:srgbClr val="FFFFFF"/>
                </a:solidFill>
                <a:latin typeface="Calibri"/>
                <a:ea typeface="Calibri"/>
                <a:cs typeface="Calibri"/>
              </a:defRPr>
            </a:lvl5pPr>
            <a:lvl6pPr algn="l">
              <a:buNone/>
              <a:defRPr sz="1400">
                <a:solidFill>
                  <a:srgbClr val="FFFFFF"/>
                </a:solidFill>
                <a:latin typeface="Calibri"/>
                <a:ea typeface="Calibri"/>
                <a:cs typeface="Calibri"/>
              </a:defRPr>
            </a:lvl6pPr>
            <a:lvl7pPr algn="l">
              <a:buNone/>
              <a:defRPr sz="1400">
                <a:solidFill>
                  <a:srgbClr val="FFFFFF"/>
                </a:solidFill>
                <a:latin typeface="Calibri"/>
                <a:ea typeface="Calibri"/>
                <a:cs typeface="Calibri"/>
              </a:defRPr>
            </a:lvl7pPr>
            <a:lvl8pPr algn="l">
              <a:buNone/>
              <a:defRPr sz="1400">
                <a:solidFill>
                  <a:srgbClr val="FFFFFF"/>
                </a:solidFill>
                <a:latin typeface="Calibri"/>
                <a:ea typeface="Calibri"/>
                <a:cs typeface="Calibri"/>
              </a:defRPr>
            </a:lvl8pPr>
            <a:lvl9pPr algn="l">
              <a:buNone/>
              <a:defRPr sz="1400">
                <a:solidFill>
                  <a:srgbClr val="FFFFFF"/>
                </a:solidFill>
                <a:latin typeface="Calibri"/>
                <a:ea typeface="Calibri"/>
                <a:cs typeface="Calibri"/>
              </a:defRPr>
            </a:lvl9pPr>
          </a:lstStyle>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Current stage: working prototype, with no current revenue stated.</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Proposed path: private institutional deployment.</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Likely costs: hosting, source integrations, and support.</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The deterministic local test flow needs no paid API key.</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Validate pilot pricing and operating cost with users.</a:t>
            </a:r>
          </a:p>
        </p:txBody>
      </p:sp>
      <p:sp>
        <p:nvSpPr>
          <p:cNvPr id="10" name="Sustain card">
            <a:extLst xmlns:a="http://schemas.openxmlformats.org/drawingml/2006/main">
              <a:ext uri="{FF2B5EF4-FFF2-40B4-BE49-F238E27FC236}">
                <a16:creationId xmlns:a16="http://schemas.microsoft.com/office/drawing/2014/main" id="{41A4A359-B3A0-4223-B5E3-3D34278F8835}"/>
              </a:ext>
            </a:extLst>
          </p:cNvPr>
          <p:cNvSpPr>
            <a:spLocks xmlns:a="http://schemas.openxmlformats.org/drawingml/2006/main" noGrp="1"/>
          </p:cNvSpPr>
          <p:nvPr/>
        </p:nvSpPr>
        <p:spPr>
          <a:xfrm xmlns:a="http://schemas.openxmlformats.org/drawingml/2006/main">
            <a:off x="8074152"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11" name="Sus head">
            <a:extLst xmlns:a="http://schemas.openxmlformats.org/drawingml/2006/main">
              <a:ext uri="{FF2B5EF4-FFF2-40B4-BE49-F238E27FC236}">
                <a16:creationId xmlns:a16="http://schemas.microsoft.com/office/drawing/2014/main" id="{CF69F010-B67A-4180-8C61-CD73CCBAA9A6}"/>
              </a:ext>
            </a:extLst>
          </p:cNvPr>
          <p:cNvSpPr>
            <a:spLocks xmlns:a="http://schemas.openxmlformats.org/drawingml/2006/main" noGrp="1"/>
          </p:cNvSpPr>
          <p:nvPr/>
        </p:nvSpPr>
        <p:spPr>
          <a:xfrm xmlns:a="http://schemas.openxmlformats.org/drawingml/2006/main">
            <a:off x="8348472"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SUSTAINABILITY</a:t>
            </a:r>
            <a:endParaRPr sz="1500"/>
          </a:p>
        </p:txBody>
      </p:sp>
      <p:sp>
        <p:nvSpPr>
          <p:cNvPr id="12" name="Sus body">
            <a:extLst xmlns:a="http://schemas.openxmlformats.org/drawingml/2006/main">
              <a:ext uri="{FF2B5EF4-FFF2-40B4-BE49-F238E27FC236}">
                <a16:creationId xmlns:a16="http://schemas.microsoft.com/office/drawing/2014/main" id="{1D440CB4-778C-42D3-AA08-961991B65639}"/>
              </a:ext>
            </a:extLst>
          </p:cNvPr>
          <p:cNvSpPr>
            <a:spLocks xmlns:a="http://schemas.openxmlformats.org/drawingml/2006/main" noGrp="1"/>
          </p:cNvSpPr>
          <p:nvPr/>
        </p:nvSpPr>
        <p:spPr>
          <a:xfrm xmlns:a="http://schemas.openxmlformats.org/drawingml/2006/main">
            <a:off x="8348472" y="2377440"/>
            <a:ext cx="310896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lgn="l">
              <a:defRPr sz="1400">
                <a:solidFill>
                  <a:srgbClr val="FFFFFF"/>
                </a:solidFill>
                <a:latin typeface="Calibri"/>
                <a:ea typeface="Calibri"/>
                <a:cs typeface="Calibri"/>
              </a:defRPr>
            </a:defPPr>
            <a:lvl1pPr algn="l">
              <a:buNone/>
              <a:defRPr sz="1400">
                <a:solidFill>
                  <a:srgbClr val="FFFFFF"/>
                </a:solidFill>
                <a:latin typeface="Calibri"/>
                <a:ea typeface="Calibri"/>
                <a:cs typeface="Calibri"/>
              </a:defRPr>
            </a:lvl1pPr>
            <a:lvl2pPr algn="l">
              <a:buNone/>
              <a:defRPr sz="1400">
                <a:solidFill>
                  <a:srgbClr val="FFFFFF"/>
                </a:solidFill>
                <a:latin typeface="Calibri"/>
                <a:ea typeface="Calibri"/>
                <a:cs typeface="Calibri"/>
              </a:defRPr>
            </a:lvl2pPr>
            <a:lvl3pPr algn="l">
              <a:buNone/>
              <a:defRPr sz="1400">
                <a:solidFill>
                  <a:srgbClr val="FFFFFF"/>
                </a:solidFill>
                <a:latin typeface="Calibri"/>
                <a:ea typeface="Calibri"/>
                <a:cs typeface="Calibri"/>
              </a:defRPr>
            </a:lvl3pPr>
            <a:lvl4pPr algn="l">
              <a:buNone/>
              <a:defRPr sz="1400">
                <a:solidFill>
                  <a:srgbClr val="FFFFFF"/>
                </a:solidFill>
                <a:latin typeface="Calibri"/>
                <a:ea typeface="Calibri"/>
                <a:cs typeface="Calibri"/>
              </a:defRPr>
            </a:lvl4pPr>
            <a:lvl5pPr algn="l">
              <a:buNone/>
              <a:defRPr sz="1400">
                <a:solidFill>
                  <a:srgbClr val="FFFFFF"/>
                </a:solidFill>
                <a:latin typeface="Calibri"/>
                <a:ea typeface="Calibri"/>
                <a:cs typeface="Calibri"/>
              </a:defRPr>
            </a:lvl5pPr>
            <a:lvl6pPr algn="l">
              <a:buNone/>
              <a:defRPr sz="1400">
                <a:solidFill>
                  <a:srgbClr val="FFFFFF"/>
                </a:solidFill>
                <a:latin typeface="Calibri"/>
                <a:ea typeface="Calibri"/>
                <a:cs typeface="Calibri"/>
              </a:defRPr>
            </a:lvl6pPr>
            <a:lvl7pPr algn="l">
              <a:buNone/>
              <a:defRPr sz="1400">
                <a:solidFill>
                  <a:srgbClr val="FFFFFF"/>
                </a:solidFill>
                <a:latin typeface="Calibri"/>
                <a:ea typeface="Calibri"/>
                <a:cs typeface="Calibri"/>
              </a:defRPr>
            </a:lvl7pPr>
            <a:lvl8pPr algn="l">
              <a:buNone/>
              <a:defRPr sz="1400">
                <a:solidFill>
                  <a:srgbClr val="FFFFFF"/>
                </a:solidFill>
                <a:latin typeface="Calibri"/>
                <a:ea typeface="Calibri"/>
                <a:cs typeface="Calibri"/>
              </a:defRPr>
            </a:lvl8pPr>
            <a:lvl9pPr algn="l">
              <a:buNone/>
              <a:defRPr sz="1400">
                <a:solidFill>
                  <a:srgbClr val="FFFFFF"/>
                </a:solidFill>
                <a:latin typeface="Calibri"/>
                <a:ea typeface="Calibri"/>
                <a:cs typeface="Calibri"/>
              </a:defRPr>
            </a:lvl9pPr>
          </a:lstStyle>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Start with a one-team pilot.</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Add source connectors based on user needs.</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Measure update speed and answer quality.</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Track compute per update before estimating savings.</a:t>
            </a:r>
          </a:p>
          <a:p xmlns:a="http://schemas.openxmlformats.org/drawingml/2006/main">
            <a:pPr marL="342900" indent="-342900" algn="l">
              <a:spcAft>
                <a:spcPts val="3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Scale only after pilot results support it.</a:t>
            </a:r>
          </a:p>
        </p:txBody>
      </p:sp>
      <p:sp>
        <p:nvSpPr>
          <p:cNvPr id="25" name="Slide Number Placeholder 0">
            <a:extLst xmlns:a="http://schemas.openxmlformats.org/drawingml/2006/main">
              <a:ext uri="{FF2B5EF4-FFF2-40B4-BE49-F238E27FC236}">
                <a16:creationId xmlns:a16="http://schemas.microsoft.com/office/drawing/2014/main" id="{8972E406-BFF5-4FD0-9108-DA023FA88ADF}"/>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7</a:t>
            </a:fld>
            <a:endParaRPr/>
          </a:p>
        </p:txBody>
      </p:sp>
    </p:spTree>
    <p:extLst>
      <p:ext uri="{BB962C8B-B14F-4D97-AF65-F5344CB8AC3E}">
        <p14:creationId xmlns:p14="http://schemas.microsoft.com/office/powerpoint/2010/main" val="57078392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7B406E3-FBB9-40B8-B1B8-94683ACC8954}"/>
              </a:ext>
            </a:extLst>
          </p:cNvPr>
          <p:cNvSpPr>
            <a:spLocks xmlns:a="http://schemas.openxmlformats.org/drawingml/2006/main" noGrp="1"/>
          </p:cNvSpPr>
          <p:nvPr/>
        </p:nvSpPr>
        <p:spPr>
          <a:xfrm xmlns:a="http://schemas.openxmlformats.org/drawingml/2006/main">
            <a:off x="457200" y="960120"/>
            <a:ext cx="1127455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600" b="1" spc="200">
                <a:solidFill>
                  <a:srgbClr val="FFFFFF"/>
                </a:solidFill>
                <a:latin typeface="Arial"/>
                <a:ea typeface="Arial"/>
                <a:cs typeface="Arial"/>
              </a:rPr>
              <a:t>RESEARCH AND REFERENCES</a:t>
            </a:r>
            <a:endParaRPr sz="3600"/>
          </a:p>
        </p:txBody>
      </p:sp>
      <p:sp>
        <p:nvSpPr>
          <p:cNvPr id="3" name="Team tag">
            <a:extLst xmlns:a="http://schemas.openxmlformats.org/drawingml/2006/main">
              <a:ext uri="{FF2B5EF4-FFF2-40B4-BE49-F238E27FC236}">
                <a16:creationId xmlns:a16="http://schemas.microsoft.com/office/drawing/2014/main" id="{12E3B3E9-A06D-4113-890F-A7D2DC38C7A1}"/>
              </a:ext>
            </a:extLst>
          </p:cNvPr>
          <p:cNvSpPr>
            <a:spLocks xmlns:a="http://schemas.openxmlformats.org/drawingml/2006/main" noGrp="1"/>
          </p:cNvSpPr>
          <p:nvPr/>
        </p:nvSpPr>
        <p:spPr>
          <a:xfrm xmlns:a="http://schemas.openxmlformats.org/drawingml/2006/main">
            <a:off x="8503920" y="1097280"/>
            <a:ext cx="322783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9CC4FF"/>
                </a:solidFill>
                <a:latin typeface="Calibri"/>
                <a:ea typeface="Calibri"/>
                <a:cs typeface="Calibri"/>
              </a:rPr>
              <a:t>DataTrust AI  |  Team ID pending</a:t>
            </a:r>
            <a:endParaRPr sz="1200"/>
          </a:p>
        </p:txBody>
      </p:sp>
      <p:sp>
        <p:nvSpPr>
          <p:cNvPr id="4" name="References card">
            <a:extLst xmlns:a="http://schemas.openxmlformats.org/drawingml/2006/main">
              <a:ext uri="{FF2B5EF4-FFF2-40B4-BE49-F238E27FC236}">
                <a16:creationId xmlns:a16="http://schemas.microsoft.com/office/drawing/2014/main" id="{025D9C11-FCF2-4428-BE6B-4C4EDAD1C452}"/>
              </a:ext>
            </a:extLst>
          </p:cNvPr>
          <p:cNvSpPr>
            <a:spLocks xmlns:a="http://schemas.openxmlformats.org/drawingml/2006/main" noGrp="1"/>
          </p:cNvSpPr>
          <p:nvPr/>
        </p:nvSpPr>
        <p:spPr>
          <a:xfrm xmlns:a="http://schemas.openxmlformats.org/drawingml/2006/main">
            <a:off x="457200" y="1691640"/>
            <a:ext cx="11274552" cy="4434840"/>
          </a:xfrm>
          <a:prstGeom xmlns:a="http://schemas.openxmlformats.org/drawingml/2006/main" prst="roundRect">
            <a:avLst>
              <a:gd name="adj" fmla="val 2474"/>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5" name="Ref head">
            <a:extLst xmlns:a="http://schemas.openxmlformats.org/drawingml/2006/main">
              <a:ext uri="{FF2B5EF4-FFF2-40B4-BE49-F238E27FC236}">
                <a16:creationId xmlns:a16="http://schemas.microsoft.com/office/drawing/2014/main" id="{3C6BB596-438D-4804-8097-4F3E494175CF}"/>
              </a:ext>
            </a:extLst>
          </p:cNvPr>
          <p:cNvSpPr>
            <a:spLocks xmlns:a="http://schemas.openxmlformats.org/drawingml/2006/main" noGrp="1"/>
          </p:cNvSpPr>
          <p:nvPr/>
        </p:nvSpPr>
        <p:spPr>
          <a:xfrm xmlns:a="http://schemas.openxmlformats.org/drawingml/2006/main">
            <a:off x="731520" y="1874520"/>
            <a:ext cx="10515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KEY TECH &amp; RESEARCH SOURCES</a:t>
            </a:r>
            <a:endParaRPr sz="1500"/>
          </a:p>
        </p:txBody>
      </p:sp>
      <p:sp>
        <p:nvSpPr>
          <p:cNvPr id="6" name="Ref body">
            <a:extLst xmlns:a="http://schemas.openxmlformats.org/drawingml/2006/main">
              <a:ext uri="{FF2B5EF4-FFF2-40B4-BE49-F238E27FC236}">
                <a16:creationId xmlns:a16="http://schemas.microsoft.com/office/drawing/2014/main" id="{B323AC0B-2051-4D78-939A-C98883EE891C}"/>
              </a:ext>
            </a:extLst>
          </p:cNvPr>
          <p:cNvSpPr>
            <a:spLocks xmlns:a="http://schemas.openxmlformats.org/drawingml/2006/main" noGrp="1"/>
          </p:cNvSpPr>
          <p:nvPr/>
        </p:nvSpPr>
        <p:spPr>
          <a:xfrm xmlns:a="http://schemas.openxmlformats.org/drawingml/2006/main">
            <a:off x="731520" y="2377440"/>
            <a:ext cx="1069848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lgn="l">
              <a:defRPr sz="1500">
                <a:solidFill>
                  <a:srgbClr val="FFFFFF"/>
                </a:solidFill>
                <a:latin typeface="Calibri"/>
                <a:ea typeface="Calibri"/>
                <a:cs typeface="Calibri"/>
              </a:defRPr>
            </a:defPPr>
            <a:lvl1pPr algn="l">
              <a:buNone/>
              <a:defRPr sz="1600">
                <a:solidFill>
                  <a:srgbClr val="FFFFFF"/>
                </a:solidFill>
                <a:latin typeface="Calibri"/>
                <a:ea typeface="Calibri"/>
                <a:cs typeface="Calibri"/>
              </a:defRPr>
            </a:lvl1pPr>
            <a:lvl2pPr algn="l">
              <a:buNone/>
              <a:defRPr sz="1600">
                <a:solidFill>
                  <a:srgbClr val="FFFFFF"/>
                </a:solidFill>
                <a:latin typeface="Calibri"/>
                <a:ea typeface="Calibri"/>
                <a:cs typeface="Calibri"/>
              </a:defRPr>
            </a:lvl2pPr>
            <a:lvl3pPr algn="l">
              <a:buNone/>
              <a:defRPr sz="1600">
                <a:solidFill>
                  <a:srgbClr val="FFFFFF"/>
                </a:solidFill>
                <a:latin typeface="Calibri"/>
                <a:ea typeface="Calibri"/>
                <a:cs typeface="Calibri"/>
              </a:defRPr>
            </a:lvl3pPr>
            <a:lvl4pPr algn="l">
              <a:buNone/>
              <a:defRPr sz="1600">
                <a:solidFill>
                  <a:srgbClr val="FFFFFF"/>
                </a:solidFill>
                <a:latin typeface="Calibri"/>
                <a:ea typeface="Calibri"/>
                <a:cs typeface="Calibri"/>
              </a:defRPr>
            </a:lvl4pPr>
            <a:lvl5pPr algn="l">
              <a:buNone/>
              <a:defRPr sz="1600">
                <a:solidFill>
                  <a:srgbClr val="FFFFFF"/>
                </a:solidFill>
                <a:latin typeface="Calibri"/>
                <a:ea typeface="Calibri"/>
                <a:cs typeface="Calibri"/>
              </a:defRPr>
            </a:lvl5pPr>
            <a:lvl6pPr algn="l">
              <a:buNone/>
              <a:defRPr sz="1600">
                <a:solidFill>
                  <a:srgbClr val="FFFFFF"/>
                </a:solidFill>
                <a:latin typeface="Calibri"/>
                <a:ea typeface="Calibri"/>
                <a:cs typeface="Calibri"/>
              </a:defRPr>
            </a:lvl6pPr>
            <a:lvl7pPr algn="l">
              <a:buNone/>
              <a:defRPr sz="1600">
                <a:solidFill>
                  <a:srgbClr val="FFFFFF"/>
                </a:solidFill>
                <a:latin typeface="Calibri"/>
                <a:ea typeface="Calibri"/>
                <a:cs typeface="Calibri"/>
              </a:defRPr>
            </a:lvl7pPr>
            <a:lvl8pPr algn="l">
              <a:buNone/>
              <a:defRPr sz="1600">
                <a:solidFill>
                  <a:srgbClr val="FFFFFF"/>
                </a:solidFill>
                <a:latin typeface="Calibri"/>
                <a:ea typeface="Calibri"/>
                <a:cs typeface="Calibri"/>
              </a:defRPr>
            </a:lvl8pPr>
            <a:lvl9pPr algn="l">
              <a:buNone/>
              <a:defRPr sz="1600">
                <a:solidFill>
                  <a:srgbClr val="FFFFFF"/>
                </a:solidFill>
                <a:latin typeface="Calibri"/>
                <a:ea typeface="Calibri"/>
                <a:cs typeface="Calibri"/>
              </a:defRPr>
            </a:lvl9pPr>
          </a:lstStyle>
          <a:p xmlns:a="http://schemas.openxmlformats.org/drawingml/2006/main">
            <a:pPr marL="342900" indent="-342900" algn="l">
              <a:spcAft>
                <a:spcPts val="220"/>
              </a:spcAft>
              <a:buChar char="•"/>
              <a:defRPr sz="1500">
                <a:solidFill>
                  <a:srgbClr val="FFFFFF"/>
                </a:solidFill>
                <a:latin typeface="Calibri"/>
                <a:ea typeface="Calibri"/>
                <a:cs typeface="Calibri"/>
              </a:defRPr>
            </a:pPr>
            <a:r>
              <a:rPr sz="1500">
                <a:solidFill>
                  <a:srgbClr val="FFFFFF"/>
                </a:solidFill>
                <a:latin typeface="Calibri"/>
                <a:ea typeface="Calibri"/>
                <a:cs typeface="Calibri"/>
              </a:rPr>
              <a:t>README.md — architecture, setup, and Phase 2 API</a:t>
            </a:r>
          </a:p>
          <a:p xmlns:a="http://schemas.openxmlformats.org/drawingml/2006/main">
            <a:pPr marL="342900" indent="-342900" algn="l">
              <a:spcAft>
                <a:spcPts val="220"/>
              </a:spcAft>
              <a:buChar char="•"/>
              <a:defRPr sz="1500">
                <a:solidFill>
                  <a:srgbClr val="FFFFFF"/>
                </a:solidFill>
                <a:latin typeface="Calibri"/>
                <a:ea typeface="Calibri"/>
                <a:cs typeface="Calibri"/>
              </a:defRPr>
            </a:pPr>
            <a:r>
              <a:rPr sz="1500">
                <a:solidFill>
                  <a:srgbClr val="FFFFFF"/>
                </a:solidFill>
                <a:latin typeface="Calibri"/>
                <a:ea typeface="Calibri"/>
                <a:cs typeface="Calibri"/>
              </a:rPr>
              <a:t>document_store.py + graph_engine.py — incremental index and graph updates</a:t>
            </a:r>
          </a:p>
          <a:p xmlns:a="http://schemas.openxmlformats.org/drawingml/2006/main">
            <a:pPr marL="342900" indent="-342900" algn="l">
              <a:spcAft>
                <a:spcPts val="220"/>
              </a:spcAft>
              <a:buChar char="•"/>
              <a:defRPr sz="1500">
                <a:solidFill>
                  <a:srgbClr val="FFFFFF"/>
                </a:solidFill>
                <a:latin typeface="Calibri"/>
                <a:ea typeface="Calibri"/>
                <a:cs typeface="Calibri"/>
              </a:defRPr>
            </a:pPr>
            <a:r>
              <a:rPr sz="1500">
                <a:solidFill>
                  <a:srgbClr val="FFFFFF"/>
                </a:solidFill>
                <a:latin typeface="Calibri"/>
                <a:ea typeface="Calibri"/>
                <a:cs typeface="Calibri"/>
              </a:rPr>
              <a:t>validation_engine.py — evidence checks and conflict answers</a:t>
            </a:r>
          </a:p>
          <a:p xmlns:a="http://schemas.openxmlformats.org/drawingml/2006/main">
            <a:pPr marL="342900" indent="-342900" algn="l">
              <a:spcAft>
                <a:spcPts val="220"/>
              </a:spcAft>
              <a:buChar char="•"/>
              <a:defRPr sz="1500">
                <a:solidFill>
                  <a:srgbClr val="FFFFFF"/>
                </a:solidFill>
                <a:latin typeface="Calibri"/>
                <a:ea typeface="Calibri"/>
                <a:cs typeface="Calibri"/>
              </a:defRPr>
            </a:pPr>
            <a:r>
              <a:rPr sz="1500">
                <a:solidFill>
                  <a:srgbClr val="FFFFFF"/>
                </a:solidFill>
                <a:latin typeface="Calibri"/>
                <a:ea typeface="Calibri"/>
                <a:cs typeface="Calibri"/>
              </a:rPr>
              <a:t>document_safety.py + retrieval_engine.py — filtering and multilingual retrieval</a:t>
            </a:r>
          </a:p>
          <a:p xmlns:a="http://schemas.openxmlformats.org/drawingml/2006/main">
            <a:pPr marL="342900" indent="-342900" algn="l">
              <a:spcAft>
                <a:spcPts val="220"/>
              </a:spcAft>
              <a:buChar char="•"/>
              <a:defRPr sz="1500">
                <a:solidFill>
                  <a:srgbClr val="FFFFFF"/>
                </a:solidFill>
                <a:latin typeface="Calibri"/>
                <a:ea typeface="Calibri"/>
                <a:cs typeface="Calibri"/>
              </a:defRPr>
            </a:pPr>
            <a:r>
              <a:rPr sz="1500">
                <a:solidFill>
                  <a:srgbClr val="FFFFFF"/>
                </a:solidFill>
                <a:latin typeface="Calibri"/>
                <a:ea typeface="Calibri"/>
                <a:cs typeface="Calibri"/>
              </a:rPr>
              <a:t>router_engine.py + sql_engine.py + database.py — routing and read-only SQL</a:t>
            </a:r>
          </a:p>
          <a:p xmlns:a="http://schemas.openxmlformats.org/drawingml/2006/main">
            <a:pPr marL="342900" indent="-342900" algn="l">
              <a:spcAft>
                <a:spcPts val="220"/>
              </a:spcAft>
              <a:buChar char="•"/>
              <a:defRPr sz="1500">
                <a:solidFill>
                  <a:srgbClr val="FFFFFF"/>
                </a:solidFill>
                <a:latin typeface="Calibri"/>
                <a:ea typeface="Calibri"/>
                <a:cs typeface="Calibri"/>
              </a:defRPr>
            </a:pPr>
            <a:r>
              <a:rPr sz="1500">
                <a:solidFill>
                  <a:srgbClr val="FFFFFF"/>
                </a:solidFill>
                <a:latin typeface="Calibri"/>
                <a:ea typeface="Calibri"/>
                <a:cs typeface="Calibri"/>
              </a:rPr>
              <a:t>community_engine.py — Louvain graph communities</a:t>
            </a:r>
          </a:p>
          <a:p xmlns:a="http://schemas.openxmlformats.org/drawingml/2006/main">
            <a:pPr marL="342900" indent="-342900" algn="l">
              <a:spcAft>
                <a:spcPts val="220"/>
              </a:spcAft>
              <a:buChar char="•"/>
              <a:defRPr sz="1500">
                <a:solidFill>
                  <a:srgbClr val="FFFFFF"/>
                </a:solidFill>
                <a:latin typeface="Calibri"/>
                <a:ea typeface="Calibri"/>
                <a:cs typeface="Calibri"/>
              </a:defRPr>
            </a:pPr>
            <a:r>
              <a:rPr sz="1500">
                <a:solidFill>
                  <a:srgbClr val="FFFFFF"/>
                </a:solidFill>
                <a:latin typeface="Calibri"/>
                <a:ea typeface="Calibri"/>
                <a:cs typeface="Calibri"/>
              </a:rPr>
              <a:t>test_phase2_documents.py + benchmark_phase2.py — Phase 2 checks</a:t>
            </a:r>
          </a:p>
          <a:p xmlns:a="http://schemas.openxmlformats.org/drawingml/2006/main">
            <a:pPr marL="342900" indent="-342900" algn="l">
              <a:spcAft>
                <a:spcPts val="220"/>
              </a:spcAft>
              <a:buChar char="•"/>
              <a:defRPr sz="1500">
                <a:solidFill>
                  <a:srgbClr val="FFFFFF"/>
                </a:solidFill>
                <a:latin typeface="Calibri"/>
                <a:ea typeface="Calibri"/>
                <a:cs typeface="Calibri"/>
              </a:defRPr>
            </a:pPr>
            <a:r>
              <a:rPr sz="1500">
                <a:solidFill>
                  <a:srgbClr val="FFFFFF"/>
                </a:solidFill>
                <a:latin typeface="Calibri"/>
                <a:ea typeface="Calibri"/>
                <a:cs typeface="Calibri"/>
              </a:rPr>
              <a:t>DataStudioView.tsx + EvidencePathReplayPanel.tsx — document and evidence UI</a:t>
            </a:r>
          </a:p>
          <a:p xmlns:a="http://schemas.openxmlformats.org/drawingml/2006/main">
            <a:pPr marL="342900" indent="-342900" algn="l">
              <a:spcAft>
                <a:spcPts val="220"/>
              </a:spcAft>
              <a:buChar char="•"/>
              <a:defRPr sz="1500">
                <a:solidFill>
                  <a:srgbClr val="FFFFFF"/>
                </a:solidFill>
                <a:latin typeface="Calibri"/>
                <a:ea typeface="Calibri"/>
                <a:cs typeface="Calibri"/>
              </a:defRPr>
            </a:pPr>
            <a:r>
              <a:rPr sz="1500">
                <a:solidFill>
                  <a:srgbClr val="FFFFFF"/>
                </a:solidFill>
                <a:latin typeface="Calibri"/>
                <a:ea typeface="Calibri"/>
                <a:cs typeface="Calibri"/>
              </a:rPr>
              <a:t>Live app: </a:t>
            </a:r>
            <a:r>
              <a:rPr sz="1500" u="sng">
                <a:solidFill>
                  <a:srgbClr val="FFFFFF"/>
                </a:solidFill>
                <a:latin typeface="Calibri"/>
                <a:ea typeface="Calibri"/>
                <a:cs typeface="Calibri"/>
                <a:hlinkClick xmlns:r="http://schemas.openxmlformats.org/officeDocument/2006/relationships" r:id="Rd45bf6f0756d4769"/>
              </a:rPr>
              <a:t>https://data-trust-ai-26.vercel.app/</a:t>
            </a:r>
          </a:p>
          <a:p xmlns:a="http://schemas.openxmlformats.org/drawingml/2006/main">
            <a:pPr marL="342900" indent="-342900" algn="l">
              <a:spcAft>
                <a:spcPts val="220"/>
              </a:spcAft>
              <a:buChar char="•"/>
              <a:defRPr sz="1500">
                <a:solidFill>
                  <a:srgbClr val="FFFFFF"/>
                </a:solidFill>
                <a:latin typeface="Calibri"/>
                <a:ea typeface="Calibri"/>
                <a:cs typeface="Calibri"/>
              </a:defRPr>
            </a:pPr>
            <a:r>
              <a:rPr sz="1500">
                <a:solidFill>
                  <a:srgbClr val="FFFFFF"/>
                </a:solidFill>
                <a:latin typeface="Calibri"/>
                <a:ea typeface="Calibri"/>
                <a:cs typeface="Calibri"/>
              </a:rPr>
              <a:t>Vercel project: </a:t>
            </a:r>
            <a:r>
              <a:rPr sz="1500" u="sng">
                <a:solidFill>
                  <a:srgbClr val="FFFFFF"/>
                </a:solidFill>
                <a:latin typeface="Calibri"/>
                <a:ea typeface="Calibri"/>
                <a:cs typeface="Calibri"/>
                <a:hlinkClick xmlns:r="http://schemas.openxmlformats.org/officeDocument/2006/relationships" r:id="R2f913fa10af04901"/>
              </a:rPr>
              <a:t>https://vercel.com/kc100official-cmds-projects/data-trust-ai-26</a:t>
            </a:r>
          </a:p>
        </p:txBody>
      </p:sp>
      <p:sp>
        <p:nvSpPr>
          <p:cNvPr id="25" name="Slide Number Placeholder 0">
            <a:extLst xmlns:a="http://schemas.openxmlformats.org/drawingml/2006/main">
              <a:ext uri="{FF2B5EF4-FFF2-40B4-BE49-F238E27FC236}">
                <a16:creationId xmlns:a16="http://schemas.microsoft.com/office/drawing/2014/main" id="{C30F8C26-0289-42B7-9517-86DB47617212}"/>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8</a:t>
            </a:fld>
            <a:endParaRPr/>
          </a:p>
        </p:txBody>
      </p:sp>
    </p:spTree>
    <p:extLst>
      <p:ext uri="{BB962C8B-B14F-4D97-AF65-F5344CB8AC3E}">
        <p14:creationId xmlns:p14="http://schemas.microsoft.com/office/powerpoint/2010/main" val="66526951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65F2B400-7E46-4A36-A992-D4B7BBA2DA41}"/>
              </a:ext>
            </a:extLst>
          </p:cNvPr>
          <p:cNvPicPr>
            <a:picLocks xmlns:a="http://schemas.openxmlformats.org/drawingml/2006/main" noChangeAspect="1"/>
          </p:cNvPicPr>
          <p:nvPr/>
        </p:nvPicPr>
        <p:blipFill>
          <a:blip xmlns:r="http://schemas.openxmlformats.org/officeDocument/2006/relationships" xmlns:a="http://schemas.openxmlformats.org/drawingml/2006/main" r:embed="Rf53cf636ba964adc"/>
          <a:stretch xmlns:a="http://schemas.openxmlformats.org/drawingml/2006/main">
            <a:fillRect l="0" t="0" r="0" b="0"/>
          </a:stretch>
        </p:blipFill>
        <p:spPr>
          <a:xfrm xmlns:a="http://schemas.openxmlformats.org/drawingml/2006/main">
            <a:off x="548640" y="1828800"/>
            <a:ext cx="4754880" cy="216377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CDED595D-A33E-48DB-8CD9-81E8CDF1D4F2}"/>
              </a:ext>
            </a:extLst>
          </p:cNvPr>
          <p:cNvSpPr>
            <a:spLocks xmlns:a="http://schemas.openxmlformats.org/drawingml/2006/main" noGrp="1"/>
          </p:cNvSpPr>
          <p:nvPr/>
        </p:nvSpPr>
        <p:spPr>
          <a:xfrm xmlns:a="http://schemas.openxmlformats.org/drawingml/2006/main">
            <a:off x="548640" y="4297680"/>
            <a:ext cx="73152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spc="400">
                <a:solidFill>
                  <a:srgbClr val="FFFFFF"/>
                </a:solidFill>
                <a:latin typeface="Arial"/>
                <a:ea typeface="Arial"/>
                <a:cs typeface="Arial"/>
              </a:rPr>
              <a:t>THANK YOU</a:t>
            </a:r>
            <a:endParaRPr sz="4400"/>
          </a:p>
        </p:txBody>
      </p:sp>
      <p:sp>
        <p:nvSpPr>
          <p:cNvPr id="4" name="Text 1">
            <a:extLst xmlns:a="http://schemas.openxmlformats.org/drawingml/2006/main">
              <a:ext uri="{FF2B5EF4-FFF2-40B4-BE49-F238E27FC236}">
                <a16:creationId xmlns:a16="http://schemas.microsoft.com/office/drawing/2014/main" id="{6F27D164-6D56-42F1-806F-C6E437DAC0C1}"/>
              </a:ext>
            </a:extLst>
          </p:cNvPr>
          <p:cNvSpPr>
            <a:spLocks xmlns:a="http://schemas.openxmlformats.org/drawingml/2006/main" noGrp="1"/>
          </p:cNvSpPr>
          <p:nvPr/>
        </p:nvSpPr>
        <p:spPr>
          <a:xfrm xmlns:a="http://schemas.openxmlformats.org/drawingml/2006/main">
            <a:off x="548640" y="5120640"/>
            <a:ext cx="7315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9CC4FF"/>
                </a:solidFill>
                <a:latin typeface="Calibri"/>
                <a:ea typeface="Calibri"/>
                <a:cs typeface="Calibri"/>
              </a:rPr>
              <a:t>DataTrust AI  |  Team ID: not provided  |  Contact: not provided</a:t>
            </a:r>
            <a:endParaRPr sz="1600"/>
          </a:p>
        </p:txBody>
      </p:sp>
      <p:sp>
        <p:nvSpPr>
          <p:cNvPr id="5" name="Text 2">
            <a:extLst xmlns:a="http://schemas.openxmlformats.org/drawingml/2006/main">
              <a:ext uri="{FF2B5EF4-FFF2-40B4-BE49-F238E27FC236}">
                <a16:creationId xmlns:a16="http://schemas.microsoft.com/office/drawing/2014/main" id="{9DB75615-C4E7-4E16-B86E-87DAAAABCCCC}"/>
              </a:ext>
            </a:extLst>
          </p:cNvPr>
          <p:cNvSpPr>
            <a:spLocks xmlns:a="http://schemas.openxmlformats.org/drawingml/2006/main" noGrp="1"/>
          </p:cNvSpPr>
          <p:nvPr/>
        </p:nvSpPr>
        <p:spPr>
          <a:xfrm xmlns:a="http://schemas.openxmlformats.org/drawingml/2006/main">
            <a:off x="548640" y="6035040"/>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500">
                <a:solidFill>
                  <a:srgbClr val="4DA3FF"/>
                </a:solidFill>
                <a:latin typeface="Arial"/>
                <a:ea typeface="Arial"/>
                <a:cs typeface="Arial"/>
              </a:rPr>
              <a:t>CREATE / AN / IMPACT</a:t>
            </a:r>
            <a:endParaRPr sz="1300"/>
          </a:p>
        </p:txBody>
      </p:sp>
    </p:spTree>
    <p:extLst>
      <p:ext uri="{BB962C8B-B14F-4D97-AF65-F5344CB8AC3E}">
        <p14:creationId xmlns:p14="http://schemas.microsoft.com/office/powerpoint/2010/main" val="2110246639"/>
      </p:ext>
    </p:extLst>
  </p:cSld>
</p:sld>
</file>

<file path=ppt/theme/theme1.xml><?xml version="1.0" encoding="utf-8"?>
<a:theme xmlns:a="http://schemas.openxmlformats.org/drawingml/2006/main" name="Hypnexis">
  <a:themeElements>
    <a:clrScheme name="Hypnexis">
      <a:dk1>
        <a:srgbClr val="040A20"/>
      </a:dk1>
      <a:lt1>
        <a:srgbClr val="FFFFFF"/>
      </a:lt1>
      <a:dk2>
        <a:srgbClr val="0B1A4A"/>
      </a:dk2>
      <a:lt2>
        <a:srgbClr val="CFE0FF"/>
      </a:lt2>
      <a:accent1>
        <a:srgbClr val="1E5BFF"/>
      </a:accent1>
      <a:accent2>
        <a:srgbClr val="4DA3FF"/>
      </a:accent2>
      <a:accent3>
        <a:srgbClr val="0A2A8F"/>
      </a:accent3>
      <a:accent4>
        <a:srgbClr val="9CC4FF"/>
      </a:accent4>
      <a:accent5>
        <a:srgbClr val="6C8CFF"/>
      </a:accent5>
      <a:accent6>
        <a:srgbClr val="00C2FF"/>
      </a:accent6>
      <a:hlink>
        <a:srgbClr val="4DA3FF"/>
      </a:hlink>
      <a:folHlink>
        <a:srgbClr val="9CC4FF"/>
      </a:folHlink>
    </a:clrScheme>
    <a:fontScheme name="Hypnexi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Hypnexi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2026-10-24T16:48:58.0990000Z</dcterms:created>
  <dcterms:modified xsi:type="dcterms:W3CDTF">2026-10-24T16:48:58.0990000Z</dcterms:modified>
</coreProperties>
</file>